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76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BE68-55AF-8383-6188-B93BE5FBE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EB045-467E-0131-8100-AE86A6582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77D9A-3473-F6F4-52DB-B1A76A23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16DA6-5EB0-FE25-B1E9-5CA4FEB6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7B7B0-F58E-8D62-2312-A0437C6D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7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3060-C59E-048C-203E-AB9BE4DE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4AAD-EF13-9D53-604A-6D92A3DF2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044F-753A-0AA5-9BB3-953E472F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7B63D-AFFB-51C8-B471-D3A2A9D0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3B983-9E42-E31E-CF81-60EDA4E8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6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2D6D-9A66-8AF9-8C71-69BC8746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A17C-FC28-93CA-ABAE-FC12C6530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4BEB9-598F-77F4-95BA-B5C7FAF1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0510D-99E6-3C6E-7C4C-59C3773B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FE8EE-DED4-805D-9D27-C0096066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3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7CA3-9140-05F3-B873-ADA1A3DA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9FADE-3C7C-0B32-1EFD-30CCCB0CC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EC72A-BDA0-3FEA-396C-0A5503F20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57F8D-3864-5CD3-3D0A-C5A4C040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96028-D0AB-6E89-CDE5-B6E907D1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30085-95C0-2F52-DE0A-490BF171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2C6A-A3C0-79FD-B682-5EE3DEDA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417F5-E499-9CB7-54BC-CFBADA241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77850-0794-3ECD-5C1B-9820E1446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55E67-542D-E1B7-5E13-EC2C9634E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EC848D-A712-D558-29F6-EBC5BB565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C7AA7C-B157-1A19-57D7-5052BD87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0D2BDD-75C1-48DF-CE52-DC48F890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4153B-A5D5-AF9B-D964-FF46B95B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17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9137-BEB0-13D5-3F62-0D5088E6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3EBD1-02D2-F42A-F540-655077576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835C5-6DA2-184F-42F3-9D6FF52DC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667FC-23B7-3012-670D-0E2EE77D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65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AC830-B3E7-E6AB-F515-9B61C88F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B6DD8-1DC7-D7EF-37C5-779E722A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C94AD-98FC-2897-F5B1-29B1F516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756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EE1C-1A04-FF80-3ADC-CE269BE45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7E1D4-BBC3-71AF-48A7-EE5357F1B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A960C-65A8-0A39-71D8-164A3C09A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D5DD8-BA5E-BE99-EA04-E65D2076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15F8A-7B18-8C6C-EB49-48057CD3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919D1-9AD8-79D8-420C-9BFE80BF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12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490BF-4256-5262-49A6-D3AB63C7B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DD01C-E782-2B36-16B2-BB5CDA698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8E41A-655F-200A-07D1-F4D58AC27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4F107-D970-1AEC-0DA1-3E748C27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43199-9203-E5C1-DB1A-CC31C1B7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735AE-3324-E7C7-0BA0-5820888B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96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98C5-905C-B865-F06F-375DE018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1991E-7E74-03FE-1695-97C55EC29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8B9E2-229F-F1B3-417C-7E7292B7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2455F-64FD-17F7-BEE1-998FC52D3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B2C38-57F7-5CC3-8BC8-74668CAE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078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9193E-9D8A-1B55-3E75-2A498CD9E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D9C83-BC75-7495-563C-2C6AD67A0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3A4F4-D2BF-D09F-5764-02BE67CE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1FB2D-ACD1-AC98-7082-F5A0DD2F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185B3-98B0-9DEE-2FA0-3C7D253B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37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B78A9-32F7-1395-0ED7-34AAE821F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A1488-1ABB-E62B-4E00-94D970ED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D8552-6214-7CEC-4057-11E051734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7812A-8905-4A5B-8F34-6ED4B285F99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07EAC-4AF6-71C2-CBFC-534D06924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B1AB8-797A-5F5C-8B92-38750CB29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557F5-410B-4E2A-B6AE-C7E1634FB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2.sv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2.sv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101600" y="38100"/>
            <a:ext cx="571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/>
          <a:lstStyle/>
          <a:p>
            <a:pPr algn="l"/>
            <a:r>
              <a:rPr lang="en-US" sz="2000" b="1" dirty="0">
                <a:solidFill>
                  <a:srgbClr val="333333"/>
                </a:solidFill>
                <a:latin typeface="Calibri"/>
                <a:cs typeface="Calibri"/>
              </a:rPr>
              <a:t>VQMS — End-to-End Architecture</a:t>
            </a:r>
          </a:p>
        </p:txBody>
      </p:sp>
      <p:sp>
        <p:nvSpPr>
          <p:cNvPr id="102" name="S102"/>
          <p:cNvSpPr/>
          <p:nvPr/>
        </p:nvSpPr>
        <p:spPr>
          <a:xfrm>
            <a:off x="101600" y="304800"/>
            <a:ext cx="698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Vendor Query Management System · Multi-Agent AI Platform · Manager View</a:t>
            </a:r>
          </a:p>
        </p:txBody>
      </p:sp>
      <p:sp>
        <p:nvSpPr>
          <p:cNvPr id="103" name="S103"/>
          <p:cNvSpPr/>
          <p:nvPr/>
        </p:nvSpPr>
        <p:spPr>
          <a:xfrm>
            <a:off x="11176000" y="635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/>
          <a:lstStyle/>
          <a:p>
            <a:pPr algn="r"/>
            <a:r>
              <a:rPr lang="en-US" sz="750" dirty="0">
                <a:solidFill>
                  <a:srgbClr val="AAAAAA"/>
                </a:solidFill>
                <a:latin typeface="Calibri"/>
                <a:cs typeface="Calibri"/>
              </a:rPr>
              <a:t>CONFIDENTIAL</a:t>
            </a:r>
          </a:p>
        </p:txBody>
      </p:sp>
      <p:sp>
        <p:nvSpPr>
          <p:cNvPr id="104" name="S104"/>
          <p:cNvSpPr/>
          <p:nvPr/>
        </p:nvSpPr>
        <p:spPr>
          <a:xfrm>
            <a:off x="1219200" y="635000"/>
            <a:ext cx="8356600" cy="5029200"/>
          </a:xfrm>
          <a:prstGeom prst="roundRect">
            <a:avLst>
              <a:gd name="adj" fmla="val 8000"/>
            </a:avLst>
          </a:prstGeom>
          <a:solidFill>
            <a:srgbClr val="F9F9F9"/>
          </a:solidFill>
          <a:ln w="190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105"/>
          <p:cNvSpPr/>
          <p:nvPr/>
        </p:nvSpPr>
        <p:spPr>
          <a:xfrm>
            <a:off x="1295400" y="546100"/>
            <a:ext cx="2984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" tIns="9000" rIns="18000" bIns="9000" anchor="ctr"/>
          <a:lstStyle/>
          <a:p>
            <a:pPr algn="l"/>
            <a:r>
              <a:rPr lang="en-US" sz="650" b="1" dirty="0">
                <a:solidFill>
                  <a:srgbClr val="777777"/>
                </a:solidFill>
                <a:latin typeface="Calibri"/>
                <a:cs typeface="Calibri"/>
              </a:rPr>
              <a:t>VQMS PLATFORM BOUNDARY (PRIVATE SUBNET · AWS)</a:t>
            </a:r>
          </a:p>
        </p:txBody>
      </p:sp>
      <p:sp>
        <p:nvSpPr>
          <p:cNvPr id="106" name="S106"/>
          <p:cNvSpPr/>
          <p:nvPr/>
        </p:nvSpPr>
        <p:spPr>
          <a:xfrm>
            <a:off x="76200" y="508000"/>
            <a:ext cx="990600" cy="1397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b"/>
          <a:lstStyle/>
          <a:p>
            <a:pPr algn="ctr"/>
            <a:r>
              <a:rPr lang="en-US" sz="600" b="1" dirty="0">
                <a:solidFill>
                  <a:srgbClr val="999999"/>
                </a:solidFill>
                <a:latin typeface="Calibri"/>
                <a:cs typeface="Calibri"/>
              </a:rPr>
              <a:t>EXTERNAL ACTORS</a:t>
            </a:r>
          </a:p>
        </p:txBody>
      </p:sp>
      <p:sp>
        <p:nvSpPr>
          <p:cNvPr id="107" name="S107"/>
          <p:cNvSpPr/>
          <p:nvPr/>
        </p:nvSpPr>
        <p:spPr>
          <a:xfrm>
            <a:off x="76200" y="1263650"/>
            <a:ext cx="9906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Vendor email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SMTP / IMAP inbound</a:t>
            </a:r>
          </a:p>
        </p:txBody>
      </p:sp>
      <p:sp>
        <p:nvSpPr>
          <p:cNvPr id="108" name="S108"/>
          <p:cNvSpPr/>
          <p:nvPr/>
        </p:nvSpPr>
        <p:spPr>
          <a:xfrm>
            <a:off x="76200" y="1962150"/>
            <a:ext cx="9906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Agent workspace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Triage portal</a:t>
            </a:r>
          </a:p>
        </p:txBody>
      </p:sp>
      <p:sp>
        <p:nvSpPr>
          <p:cNvPr id="109" name="S109"/>
          <p:cNvSpPr/>
          <p:nvPr/>
        </p:nvSpPr>
        <p:spPr>
          <a:xfrm>
            <a:off x="76200" y="2660650"/>
            <a:ext cx="9906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Human resolver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AP · Legal · Procurement</a:t>
            </a:r>
          </a:p>
        </p:txBody>
      </p:sp>
      <p:sp>
        <p:nvSpPr>
          <p:cNvPr id="110" name="S110"/>
          <p:cNvSpPr/>
          <p:nvPr/>
        </p:nvSpPr>
        <p:spPr>
          <a:xfrm>
            <a:off x="76200" y="3359150"/>
            <a:ext cx="9906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Team lead / manager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Escalation approvals</a:t>
            </a:r>
          </a:p>
        </p:txBody>
      </p:sp>
      <p:cxnSp>
        <p:nvCxnSpPr>
          <p:cNvPr id="111" name="A111"/>
          <p:cNvCxnSpPr/>
          <p:nvPr/>
        </p:nvCxnSpPr>
        <p:spPr>
          <a:xfrm>
            <a:off x="1092200" y="2628900"/>
            <a:ext cx="1143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sp>
        <p:nvSpPr>
          <p:cNvPr id="112" name="S112"/>
          <p:cNvSpPr/>
          <p:nvPr/>
        </p:nvSpPr>
        <p:spPr>
          <a:xfrm>
            <a:off x="1295400" y="762000"/>
            <a:ext cx="889000" cy="3835400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 w="6350">
            <a:solidFill>
              <a:srgbClr val="F095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1320800" y="800100"/>
            <a:ext cx="8382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4000" rIns="18000" bIns="4000" anchor="ctr"/>
          <a:lstStyle/>
          <a:p>
            <a:pPr algn="ctr"/>
            <a:r>
              <a:rPr lang="en-US" sz="700" b="1" dirty="0">
                <a:solidFill>
                  <a:srgbClr val="791F1F"/>
                </a:solidFill>
                <a:latin typeface="Calibri"/>
                <a:cs typeface="Calibri"/>
              </a:rPr>
              <a:t>SECURITY</a:t>
            </a:r>
          </a:p>
        </p:txBody>
      </p:sp>
      <p:sp>
        <p:nvSpPr>
          <p:cNvPr id="114" name="S114"/>
          <p:cNvSpPr/>
          <p:nvPr/>
        </p:nvSpPr>
        <p:spPr>
          <a:xfrm>
            <a:off x="1346200" y="977900"/>
            <a:ext cx="787400" cy="6350"/>
          </a:xfrm>
          <a:prstGeom prst="rect">
            <a:avLst/>
          </a:prstGeom>
          <a:solidFill>
            <a:srgbClr val="F0959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115"/>
          <p:cNvSpPr/>
          <p:nvPr/>
        </p:nvSpPr>
        <p:spPr>
          <a:xfrm>
            <a:off x="1346200" y="1543050"/>
            <a:ext cx="787400" cy="584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0959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91F1F"/>
                </a:solidFill>
                <a:latin typeface="Calibri"/>
              </a:rPr>
              <a:t>DNS + WAF</a:t>
            </a:r>
          </a:p>
        </p:txBody>
      </p:sp>
      <p:sp>
        <p:nvSpPr>
          <p:cNvPr id="116" name="S116"/>
          <p:cNvSpPr/>
          <p:nvPr/>
        </p:nvSpPr>
        <p:spPr>
          <a:xfrm>
            <a:off x="1346200" y="2190750"/>
            <a:ext cx="787400" cy="584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0959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91F1F"/>
                </a:solidFill>
                <a:latin typeface="Calibri"/>
              </a:rPr>
              <a:t>Load balancer</a:t>
            </a:r>
          </a:p>
        </p:txBody>
      </p:sp>
      <p:sp>
        <p:nvSpPr>
          <p:cNvPr id="117" name="S117"/>
          <p:cNvSpPr/>
          <p:nvPr/>
        </p:nvSpPr>
        <p:spPr>
          <a:xfrm>
            <a:off x="1346200" y="2838450"/>
            <a:ext cx="787400" cy="584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0959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91F1F"/>
                </a:solidFill>
                <a:latin typeface="Calibri"/>
              </a:rPr>
              <a:t>API gateway</a:t>
            </a:r>
          </a:p>
        </p:txBody>
      </p:sp>
      <p:sp>
        <p:nvSpPr>
          <p:cNvPr id="118" name="S118"/>
          <p:cNvSpPr/>
          <p:nvPr/>
        </p:nvSpPr>
        <p:spPr>
          <a:xfrm>
            <a:off x="1346200" y="3486150"/>
            <a:ext cx="787400" cy="584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0959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91F1F"/>
                </a:solidFill>
                <a:latin typeface="Calibri"/>
              </a:rPr>
              <a:t>Identity + secrets</a:t>
            </a:r>
          </a:p>
        </p:txBody>
      </p:sp>
      <p:cxnSp>
        <p:nvCxnSpPr>
          <p:cNvPr id="119" name="A119"/>
          <p:cNvCxnSpPr/>
          <p:nvPr/>
        </p:nvCxnSpPr>
        <p:spPr>
          <a:xfrm>
            <a:off x="2209800" y="2628900"/>
            <a:ext cx="508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sp>
        <p:nvSpPr>
          <p:cNvPr id="120" name="S120"/>
          <p:cNvSpPr/>
          <p:nvPr/>
        </p:nvSpPr>
        <p:spPr>
          <a:xfrm>
            <a:off x="2286000" y="762000"/>
            <a:ext cx="1092200" cy="383540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6350">
            <a:solidFill>
              <a:srgbClr val="F0997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2311400" y="800100"/>
            <a:ext cx="10414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4000" rIns="18000" bIns="4000" anchor="ctr"/>
          <a:lstStyle/>
          <a:p>
            <a:pPr algn="ctr"/>
            <a:r>
              <a:rPr lang="en-US" sz="700" b="1" dirty="0">
                <a:solidFill>
                  <a:srgbClr val="712B13"/>
                </a:solidFill>
                <a:latin typeface="Calibri"/>
                <a:cs typeface="Calibri"/>
              </a:rPr>
              <a:t>INTEGRATION</a:t>
            </a:r>
          </a:p>
        </p:txBody>
      </p:sp>
      <p:sp>
        <p:nvSpPr>
          <p:cNvPr id="122" name="S122"/>
          <p:cNvSpPr/>
          <p:nvPr/>
        </p:nvSpPr>
        <p:spPr>
          <a:xfrm>
            <a:off x="2336800" y="977900"/>
            <a:ext cx="990600" cy="6350"/>
          </a:xfrm>
          <a:prstGeom prst="rect">
            <a:avLst/>
          </a:prstGeom>
          <a:solidFill>
            <a:srgbClr val="F099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2336800" y="1714500"/>
            <a:ext cx="9906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0997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12B13"/>
                </a:solidFill>
                <a:latin typeface="Calibri"/>
              </a:rPr>
              <a:t>Email ingestion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96644D"/>
                </a:solidFill>
                <a:latin typeface="Calibri"/>
              </a:rPr>
              <a:t>Parse · filter · emit</a:t>
            </a:r>
          </a:p>
        </p:txBody>
      </p:sp>
      <p:sp>
        <p:nvSpPr>
          <p:cNvPr id="124" name="S124"/>
          <p:cNvSpPr/>
          <p:nvPr/>
        </p:nvSpPr>
        <p:spPr>
          <a:xfrm>
            <a:off x="2336800" y="2463800"/>
            <a:ext cx="9906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0997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12B13"/>
                </a:solidFill>
                <a:latin typeface="Calibri"/>
              </a:rPr>
              <a:t>Webhook / API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96644D"/>
                </a:solidFill>
                <a:latin typeface="Calibri"/>
              </a:rPr>
              <a:t>ServiceNow · SF · portal</a:t>
            </a:r>
          </a:p>
        </p:txBody>
      </p:sp>
      <p:sp>
        <p:nvSpPr>
          <p:cNvPr id="125" name="S125"/>
          <p:cNvSpPr/>
          <p:nvPr/>
        </p:nvSpPr>
        <p:spPr>
          <a:xfrm>
            <a:off x="2336800" y="3213100"/>
            <a:ext cx="9906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0997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12B13"/>
                </a:solidFill>
                <a:latin typeface="Calibri"/>
              </a:rPr>
              <a:t>Message bus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96644D"/>
                </a:solidFill>
                <a:latin typeface="Calibri"/>
              </a:rPr>
              <a:t>6 queues + DLQ</a:t>
            </a:r>
          </a:p>
        </p:txBody>
      </p:sp>
      <p:cxnSp>
        <p:nvCxnSpPr>
          <p:cNvPr id="126" name="A126"/>
          <p:cNvCxnSpPr/>
          <p:nvPr/>
        </p:nvCxnSpPr>
        <p:spPr>
          <a:xfrm>
            <a:off x="3403600" y="2628900"/>
            <a:ext cx="508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sp>
        <p:nvSpPr>
          <p:cNvPr id="127" name="S127"/>
          <p:cNvSpPr/>
          <p:nvPr/>
        </p:nvSpPr>
        <p:spPr>
          <a:xfrm>
            <a:off x="3479800" y="762000"/>
            <a:ext cx="1143000" cy="383540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 w="6350">
            <a:solidFill>
              <a:srgbClr val="AFA9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3505200" y="800100"/>
            <a:ext cx="10922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4000" rIns="18000" bIns="4000" anchor="ctr"/>
          <a:lstStyle/>
          <a:p>
            <a:pPr algn="ctr"/>
            <a:r>
              <a:rPr lang="en-US" sz="700" b="1" dirty="0">
                <a:solidFill>
                  <a:srgbClr val="3C3489"/>
                </a:solidFill>
                <a:latin typeface="Calibri"/>
                <a:cs typeface="Calibri"/>
              </a:rPr>
              <a:t>ORCHESTRATION</a:t>
            </a:r>
          </a:p>
        </p:txBody>
      </p:sp>
      <p:sp>
        <p:nvSpPr>
          <p:cNvPr id="129" name="S129"/>
          <p:cNvSpPr/>
          <p:nvPr/>
        </p:nvSpPr>
        <p:spPr>
          <a:xfrm>
            <a:off x="3530600" y="977900"/>
            <a:ext cx="1041400" cy="6350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530600" y="1955800"/>
            <a:ext cx="1041400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FA9E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C3489"/>
                </a:solidFill>
                <a:latin typeface="Calibri"/>
              </a:rPr>
              <a:t>Workflow orchestrator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6B63B0"/>
                </a:solidFill>
                <a:latin typeface="Calibri"/>
              </a:rPr>
              <a:t>Plan · dispatch · join</a:t>
            </a:r>
          </a:p>
        </p:txBody>
      </p:sp>
      <p:sp>
        <p:nvSpPr>
          <p:cNvPr id="131" name="S131"/>
          <p:cNvSpPr/>
          <p:nvPr/>
        </p:nvSpPr>
        <p:spPr>
          <a:xfrm>
            <a:off x="3530600" y="2870200"/>
            <a:ext cx="1041400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FA9EC"/>
            </a:solidFill>
            <a:prstDash val="dash"/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C3489"/>
                </a:solidFill>
                <a:latin typeface="Calibri"/>
              </a:rPr>
              <a:t>Confidence check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6B63B0"/>
                </a:solidFill>
                <a:latin typeface="Calibri"/>
              </a:rPr>
              <a:t>≥ 0.75 auto · &lt; 0.75 human</a:t>
            </a:r>
          </a:p>
        </p:txBody>
      </p:sp>
      <p:cxnSp>
        <p:nvCxnSpPr>
          <p:cNvPr id="132" name="A132"/>
          <p:cNvCxnSpPr/>
          <p:nvPr/>
        </p:nvCxnSpPr>
        <p:spPr>
          <a:xfrm>
            <a:off x="4648200" y="2273300"/>
            <a:ext cx="1524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cxnSp>
        <p:nvCxnSpPr>
          <p:cNvPr id="133" name="A133"/>
          <p:cNvCxnSpPr/>
          <p:nvPr/>
        </p:nvCxnSpPr>
        <p:spPr>
          <a:xfrm>
            <a:off x="4648200" y="2628900"/>
            <a:ext cx="1524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cxnSp>
        <p:nvCxnSpPr>
          <p:cNvPr id="134" name="A134"/>
          <p:cNvCxnSpPr/>
          <p:nvPr/>
        </p:nvCxnSpPr>
        <p:spPr>
          <a:xfrm>
            <a:off x="4648200" y="2984500"/>
            <a:ext cx="1524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sp>
        <p:nvSpPr>
          <p:cNvPr id="135" name="S135"/>
          <p:cNvSpPr/>
          <p:nvPr/>
        </p:nvSpPr>
        <p:spPr>
          <a:xfrm>
            <a:off x="4826000" y="762000"/>
            <a:ext cx="2413000" cy="38354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6350">
            <a:solidFill>
              <a:srgbClr val="85B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4851400" y="800100"/>
            <a:ext cx="23622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4000" rIns="18000" bIns="4000" anchor="ctr"/>
          <a:lstStyle/>
          <a:p>
            <a:pPr algn="ctr"/>
            <a:r>
              <a:rPr lang="en-US" sz="700" b="1" dirty="0">
                <a:solidFill>
                  <a:srgbClr val="0C447C"/>
                </a:solidFill>
                <a:latin typeface="Calibri"/>
                <a:cs typeface="Calibri"/>
              </a:rPr>
              <a:t>AI AGENTS &amp; SERVICES</a:t>
            </a:r>
          </a:p>
        </p:txBody>
      </p:sp>
      <p:sp>
        <p:nvSpPr>
          <p:cNvPr id="137" name="S137"/>
          <p:cNvSpPr/>
          <p:nvPr/>
        </p:nvSpPr>
        <p:spPr>
          <a:xfrm>
            <a:off x="4876800" y="977900"/>
            <a:ext cx="2311400" cy="6350"/>
          </a:xfrm>
          <a:prstGeom prst="rect">
            <a:avLst/>
          </a:prstGeom>
          <a:solidFill>
            <a:srgbClr val="85B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4876800" y="1739900"/>
            <a:ext cx="1117600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5B7E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C447C"/>
                </a:solidFill>
                <a:latin typeface="Calibri"/>
              </a:rPr>
              <a:t>Email analysis agent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4A7BAD"/>
                </a:solidFill>
                <a:latin typeface="Calibri"/>
              </a:rPr>
              <a:t>Intent · entity · urgency</a:t>
            </a:r>
          </a:p>
        </p:txBody>
      </p:sp>
      <p:sp>
        <p:nvSpPr>
          <p:cNvPr id="139" name="S139"/>
          <p:cNvSpPr/>
          <p:nvPr/>
        </p:nvSpPr>
        <p:spPr>
          <a:xfrm>
            <a:off x="6045200" y="1739900"/>
            <a:ext cx="1117600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5B7E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C447C"/>
                </a:solidFill>
                <a:latin typeface="Calibri"/>
              </a:rPr>
              <a:t>Vendor resolution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4A7BAD"/>
                </a:solidFill>
                <a:latin typeface="Calibri"/>
              </a:rPr>
              <a:t>3-step SF cascade</a:t>
            </a:r>
          </a:p>
        </p:txBody>
      </p:sp>
      <p:sp>
        <p:nvSpPr>
          <p:cNvPr id="140" name="S140"/>
          <p:cNvSpPr/>
          <p:nvPr/>
        </p:nvSpPr>
        <p:spPr>
          <a:xfrm>
            <a:off x="4876800" y="2476500"/>
            <a:ext cx="1117600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5B7E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C447C"/>
                </a:solidFill>
                <a:latin typeface="Calibri"/>
              </a:rPr>
              <a:t>Ticket operations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4A7BAD"/>
                </a:solidFill>
                <a:latin typeface="Calibri"/>
              </a:rPr>
              <a:t>ServiceNow CRUD · SLA</a:t>
            </a:r>
          </a:p>
        </p:txBody>
      </p:sp>
      <p:sp>
        <p:nvSpPr>
          <p:cNvPr id="141" name="S141"/>
          <p:cNvSpPr/>
          <p:nvPr/>
        </p:nvSpPr>
        <p:spPr>
          <a:xfrm>
            <a:off x="6045200" y="2476500"/>
            <a:ext cx="1117600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5B7E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C447C"/>
                </a:solidFill>
                <a:latin typeface="Calibri"/>
              </a:rPr>
              <a:t>Comm drafting agent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4A7BAD"/>
                </a:solidFill>
                <a:latin typeface="Calibri"/>
              </a:rPr>
              <a:t>Template + LLM draft</a:t>
            </a:r>
          </a:p>
        </p:txBody>
      </p:sp>
      <p:sp>
        <p:nvSpPr>
          <p:cNvPr id="142" name="S142"/>
          <p:cNvSpPr/>
          <p:nvPr/>
        </p:nvSpPr>
        <p:spPr>
          <a:xfrm>
            <a:off x="4876800" y="3213100"/>
            <a:ext cx="1117600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5B7E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C447C"/>
                </a:solidFill>
                <a:latin typeface="Calibri"/>
              </a:rPr>
              <a:t>Resolver agent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4A7BAD"/>
                </a:solidFill>
                <a:latin typeface="Calibri"/>
              </a:rPr>
              <a:t>Phase 2 · context pkg</a:t>
            </a:r>
          </a:p>
        </p:txBody>
      </p:sp>
      <p:sp>
        <p:nvSpPr>
          <p:cNvPr id="143" name="S143"/>
          <p:cNvSpPr/>
          <p:nvPr/>
        </p:nvSpPr>
        <p:spPr>
          <a:xfrm>
            <a:off x="6045200" y="3213100"/>
            <a:ext cx="1117600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5B7EB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C447C"/>
                </a:solidFill>
                <a:latin typeface="Calibri"/>
              </a:rPr>
              <a:t>Memory + context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4A7BAD"/>
                </a:solidFill>
                <a:latin typeface="Calibri"/>
              </a:rPr>
              <a:t>4-tier · vector search</a:t>
            </a:r>
          </a:p>
        </p:txBody>
      </p:sp>
      <p:cxnSp>
        <p:nvCxnSpPr>
          <p:cNvPr id="144" name="A144"/>
          <p:cNvCxnSpPr/>
          <p:nvPr/>
        </p:nvCxnSpPr>
        <p:spPr>
          <a:xfrm>
            <a:off x="7264400" y="2628900"/>
            <a:ext cx="762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sp>
        <p:nvSpPr>
          <p:cNvPr id="145" name="S145"/>
          <p:cNvSpPr/>
          <p:nvPr/>
        </p:nvSpPr>
        <p:spPr>
          <a:xfrm>
            <a:off x="7366000" y="762000"/>
            <a:ext cx="1016000" cy="3835400"/>
          </a:xfrm>
          <a:prstGeom prst="roundRect">
            <a:avLst>
              <a:gd name="adj" fmla="val 6000"/>
            </a:avLst>
          </a:prstGeom>
          <a:solidFill>
            <a:srgbClr val="FBEAF0"/>
          </a:solidFill>
          <a:ln w="6350">
            <a:solidFill>
              <a:srgbClr val="ED93B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7391400" y="8001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4000" rIns="18000" bIns="4000" anchor="ctr"/>
          <a:lstStyle/>
          <a:p>
            <a:pPr algn="ctr"/>
            <a:r>
              <a:rPr lang="en-US" sz="700" b="1" dirty="0">
                <a:solidFill>
                  <a:srgbClr val="72243E"/>
                </a:solidFill>
                <a:latin typeface="Calibri"/>
                <a:cs typeface="Calibri"/>
              </a:rPr>
              <a:t>QUALITY GATE</a:t>
            </a:r>
          </a:p>
        </p:txBody>
      </p:sp>
      <p:sp>
        <p:nvSpPr>
          <p:cNvPr id="147" name="S147"/>
          <p:cNvSpPr/>
          <p:nvPr/>
        </p:nvSpPr>
        <p:spPr>
          <a:xfrm>
            <a:off x="7416800" y="977900"/>
            <a:ext cx="914400" cy="6350"/>
          </a:xfrm>
          <a:prstGeom prst="rect">
            <a:avLst/>
          </a:prstGeom>
          <a:solidFill>
            <a:srgbClr val="ED93B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7416800" y="1714500"/>
            <a:ext cx="9144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93B1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2243E"/>
                </a:solidFill>
                <a:latin typeface="Calibri"/>
              </a:rPr>
              <a:t>Governance gate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A55A75"/>
                </a:solidFill>
                <a:latin typeface="Calibri"/>
              </a:rPr>
              <a:t>5-point validation</a:t>
            </a:r>
          </a:p>
        </p:txBody>
      </p:sp>
      <p:sp>
        <p:nvSpPr>
          <p:cNvPr id="149" name="S149"/>
          <p:cNvSpPr/>
          <p:nvPr/>
        </p:nvSpPr>
        <p:spPr>
          <a:xfrm>
            <a:off x="7416800" y="2463800"/>
            <a:ext cx="9144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93B1"/>
            </a:solidFill>
            <a:prstDash val="dash"/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2243E"/>
                </a:solidFill>
                <a:latin typeface="Calibri"/>
              </a:rPr>
              <a:t>Gate result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A55A75"/>
                </a:solidFill>
                <a:latin typeface="Calibri"/>
              </a:rPr>
              <a:t>Pass · review · fail</a:t>
            </a:r>
          </a:p>
        </p:txBody>
      </p:sp>
      <p:sp>
        <p:nvSpPr>
          <p:cNvPr id="150" name="S150"/>
          <p:cNvSpPr/>
          <p:nvPr/>
        </p:nvSpPr>
        <p:spPr>
          <a:xfrm>
            <a:off x="7416800" y="3213100"/>
            <a:ext cx="9144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93B1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72243E"/>
                </a:solidFill>
                <a:latin typeface="Calibri"/>
              </a:rPr>
              <a:t>Human review queue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A55A75"/>
                </a:solidFill>
                <a:latin typeface="Calibri"/>
              </a:rPr>
              <a:t>High-risk drafts</a:t>
            </a:r>
          </a:p>
        </p:txBody>
      </p:sp>
      <p:cxnSp>
        <p:nvCxnSpPr>
          <p:cNvPr id="151" name="A151"/>
          <p:cNvCxnSpPr/>
          <p:nvPr/>
        </p:nvCxnSpPr>
        <p:spPr>
          <a:xfrm>
            <a:off x="8407400" y="2628900"/>
            <a:ext cx="762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sp>
        <p:nvSpPr>
          <p:cNvPr id="152" name="S152"/>
          <p:cNvSpPr/>
          <p:nvPr/>
        </p:nvSpPr>
        <p:spPr>
          <a:xfrm>
            <a:off x="8509000" y="762000"/>
            <a:ext cx="939800" cy="38354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 w="6350">
            <a:solidFill>
              <a:srgbClr val="5DCA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8534400" y="8001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4000" rIns="18000" bIns="4000" anchor="ctr"/>
          <a:lstStyle/>
          <a:p>
            <a:pPr algn="ctr"/>
            <a:r>
              <a:rPr lang="en-US" sz="700" b="1" dirty="0">
                <a:solidFill>
                  <a:srgbClr val="085041"/>
                </a:solidFill>
                <a:latin typeface="Calibri"/>
                <a:cs typeface="Calibri"/>
              </a:rPr>
              <a:t>OUTBOUND</a:t>
            </a:r>
          </a:p>
        </p:txBody>
      </p:sp>
      <p:sp>
        <p:nvSpPr>
          <p:cNvPr id="154" name="S154"/>
          <p:cNvSpPr/>
          <p:nvPr/>
        </p:nvSpPr>
        <p:spPr>
          <a:xfrm>
            <a:off x="8559800" y="977900"/>
            <a:ext cx="838200" cy="635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8559800" y="1714500"/>
            <a:ext cx="8382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5DCAA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85041"/>
                </a:solidFill>
                <a:latin typeface="Calibri"/>
              </a:rPr>
              <a:t>Email dispatch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3D8A74"/>
                </a:solidFill>
                <a:latin typeface="Calibri"/>
              </a:rPr>
              <a:t>SMTP relay · threading</a:t>
            </a:r>
          </a:p>
        </p:txBody>
      </p:sp>
      <p:sp>
        <p:nvSpPr>
          <p:cNvPr id="156" name="S156"/>
          <p:cNvSpPr/>
          <p:nvPr/>
        </p:nvSpPr>
        <p:spPr>
          <a:xfrm>
            <a:off x="8559800" y="2463800"/>
            <a:ext cx="8382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5DCAA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85041"/>
                </a:solidFill>
                <a:latin typeface="Calibri"/>
              </a:rPr>
              <a:t>Portal updates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3D8A74"/>
                </a:solidFill>
                <a:latin typeface="Calibri"/>
              </a:rPr>
              <a:t>WebSocket / SSE push</a:t>
            </a:r>
          </a:p>
        </p:txBody>
      </p:sp>
      <p:sp>
        <p:nvSpPr>
          <p:cNvPr id="157" name="S157"/>
          <p:cNvSpPr/>
          <p:nvPr/>
        </p:nvSpPr>
        <p:spPr>
          <a:xfrm>
            <a:off x="8559800" y="3213100"/>
            <a:ext cx="8382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5DCAA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085041"/>
                </a:solidFill>
                <a:latin typeface="Calibri"/>
              </a:rPr>
              <a:t>Delivery callback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3D8A74"/>
                </a:solidFill>
                <a:latin typeface="Calibri"/>
              </a:rPr>
              <a:t>Receipt → ticket update</a:t>
            </a:r>
          </a:p>
        </p:txBody>
      </p:sp>
      <p:cxnSp>
        <p:nvCxnSpPr>
          <p:cNvPr id="158" name="A158"/>
          <p:cNvCxnSpPr/>
          <p:nvPr/>
        </p:nvCxnSpPr>
        <p:spPr>
          <a:xfrm>
            <a:off x="9474200" y="2628900"/>
            <a:ext cx="254000" cy="1"/>
          </a:xfrm>
          <a:prstGeom prst="straightConnector1">
            <a:avLst/>
          </a:prstGeom>
          <a:noFill/>
          <a:ln w="9525">
            <a:solidFill>
              <a:srgbClr val="999999"/>
            </a:solidFill>
            <a:tailEnd type="triangle" w="sm" len="sm"/>
          </a:ln>
        </p:spPr>
      </p:cxnSp>
      <p:sp>
        <p:nvSpPr>
          <p:cNvPr id="159" name="S159"/>
          <p:cNvSpPr/>
          <p:nvPr/>
        </p:nvSpPr>
        <p:spPr>
          <a:xfrm>
            <a:off x="9779000" y="508000"/>
            <a:ext cx="2336800" cy="1397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b"/>
          <a:lstStyle/>
          <a:p>
            <a:pPr algn="ctr"/>
            <a:r>
              <a:rPr lang="en-US" sz="600" b="1" dirty="0">
                <a:solidFill>
                  <a:srgbClr val="999999"/>
                </a:solidFill>
                <a:latin typeface="Calibri"/>
                <a:cs typeface="Calibri"/>
              </a:rPr>
              <a:t>ENTERPRISE SYSTEMS</a:t>
            </a:r>
          </a:p>
        </p:txBody>
      </p:sp>
      <p:sp>
        <p:nvSpPr>
          <p:cNvPr id="160" name="S160"/>
          <p:cNvSpPr/>
          <p:nvPr/>
        </p:nvSpPr>
        <p:spPr>
          <a:xfrm>
            <a:off x="9779000" y="1600200"/>
            <a:ext cx="11303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Salesforce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CRM</a:t>
            </a:r>
          </a:p>
        </p:txBody>
      </p:sp>
      <p:sp>
        <p:nvSpPr>
          <p:cNvPr id="161" name="S161"/>
          <p:cNvSpPr/>
          <p:nvPr/>
        </p:nvSpPr>
        <p:spPr>
          <a:xfrm>
            <a:off x="10960100" y="1600200"/>
            <a:ext cx="11303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ServiceNow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ITSM</a:t>
            </a:r>
          </a:p>
        </p:txBody>
      </p:sp>
      <p:sp>
        <p:nvSpPr>
          <p:cNvPr id="162" name="S162"/>
          <p:cNvSpPr/>
          <p:nvPr/>
        </p:nvSpPr>
        <p:spPr>
          <a:xfrm>
            <a:off x="9779000" y="2311400"/>
            <a:ext cx="11303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LLM gateway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Bedrock + fallback</a:t>
            </a:r>
          </a:p>
        </p:txBody>
      </p:sp>
      <p:sp>
        <p:nvSpPr>
          <p:cNvPr id="163" name="S163"/>
          <p:cNvSpPr/>
          <p:nvPr/>
        </p:nvSpPr>
        <p:spPr>
          <a:xfrm>
            <a:off x="10960100" y="2311400"/>
            <a:ext cx="11303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Knowledge base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KB · templates</a:t>
            </a:r>
          </a:p>
        </p:txBody>
      </p:sp>
      <p:sp>
        <p:nvSpPr>
          <p:cNvPr id="164" name="S164"/>
          <p:cNvSpPr/>
          <p:nvPr/>
        </p:nvSpPr>
        <p:spPr>
          <a:xfrm>
            <a:off x="9779000" y="3022600"/>
            <a:ext cx="11303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PostgreSQL + pgvector</a:t>
            </a:r>
          </a:p>
        </p:txBody>
      </p:sp>
      <p:sp>
        <p:nvSpPr>
          <p:cNvPr id="165" name="S165"/>
          <p:cNvSpPr/>
          <p:nvPr/>
        </p:nvSpPr>
        <p:spPr>
          <a:xfrm>
            <a:off x="10960100" y="3022600"/>
            <a:ext cx="1130300" cy="63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alibri"/>
              </a:rPr>
              <a:t>Redis · S3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88888"/>
                </a:solidFill>
                <a:latin typeface="Calibri"/>
              </a:rPr>
              <a:t>Cache · store</a:t>
            </a:r>
          </a:p>
        </p:txBody>
      </p:sp>
      <p:sp>
        <p:nvSpPr>
          <p:cNvPr id="166" name="S166"/>
          <p:cNvSpPr/>
          <p:nvPr/>
        </p:nvSpPr>
        <p:spPr>
          <a:xfrm>
            <a:off x="1295400" y="4673600"/>
            <a:ext cx="5054600" cy="91440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6350">
            <a:solidFill>
              <a:srgbClr val="FAC7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333500" y="4699000"/>
            <a:ext cx="4978400" cy="152400"/>
          </a:xfrm>
          <a:prstGeom prst="rect">
            <a:avLst/>
          </a:prstGeom>
          <a:noFill/>
          <a:ln>
            <a:noFill/>
          </a:ln>
        </p:spPr>
        <p:txBody>
          <a:bodyPr wrap="square" lIns="8000" tIns="9000" rIns="18000" bIns="9000" anchor="ctr"/>
          <a:lstStyle/>
          <a:p>
            <a:pPr algn="l"/>
            <a:r>
              <a:rPr lang="en-US" sz="550" b="1" dirty="0">
                <a:solidFill>
                  <a:srgbClr val="633806"/>
                </a:solidFill>
                <a:latin typeface="Calibri"/>
                <a:cs typeface="Calibri"/>
              </a:rPr>
              <a:t>MONITORING &amp; OBSERVABILITY (CROSS-CUTTING)</a:t>
            </a:r>
          </a:p>
        </p:txBody>
      </p:sp>
      <p:sp>
        <p:nvSpPr>
          <p:cNvPr id="168" name="S168"/>
          <p:cNvSpPr/>
          <p:nvPr/>
        </p:nvSpPr>
        <p:spPr>
          <a:xfrm>
            <a:off x="1346200" y="4876800"/>
            <a:ext cx="1617133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AC77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633806"/>
                </a:solidFill>
                <a:latin typeface="Calibri"/>
              </a:rPr>
              <a:t>SLA alerting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A6B2F"/>
                </a:solidFill>
                <a:latin typeface="Calibri"/>
              </a:rPr>
              <a:t>70% · 85% · 95%</a:t>
            </a:r>
          </a:p>
        </p:txBody>
      </p:sp>
      <p:sp>
        <p:nvSpPr>
          <p:cNvPr id="169" name="S169"/>
          <p:cNvSpPr/>
          <p:nvPr/>
        </p:nvSpPr>
        <p:spPr>
          <a:xfrm>
            <a:off x="3001433" y="4876800"/>
            <a:ext cx="1617133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AC77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633806"/>
                </a:solidFill>
                <a:latin typeface="Calibri"/>
              </a:rPr>
              <a:t>Observability stack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A6B2F"/>
                </a:solidFill>
                <a:latin typeface="Calibri"/>
              </a:rPr>
              <a:t>Metrics · traces · logs</a:t>
            </a:r>
          </a:p>
        </p:txBody>
      </p:sp>
      <p:sp>
        <p:nvSpPr>
          <p:cNvPr id="170" name="S170"/>
          <p:cNvSpPr/>
          <p:nvPr/>
        </p:nvSpPr>
        <p:spPr>
          <a:xfrm>
            <a:off x="4656667" y="4876800"/>
            <a:ext cx="1617133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AC775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633806"/>
                </a:solidFill>
                <a:latin typeface="Calibri"/>
              </a:rPr>
              <a:t>Audit log</a:t>
            </a:r>
          </a:p>
          <a:p>
            <a:pPr algn="ctr">
              <a:lnSpc>
                <a:spcPts val="800"/>
              </a:lnSpc>
            </a:pPr>
            <a:r>
              <a:rPr lang="en-US" sz="700" dirty="0">
                <a:solidFill>
                  <a:srgbClr val="8A6B2F"/>
                </a:solidFill>
                <a:latin typeface="Calibri"/>
              </a:rPr>
              <a:t>Every decision logged</a:t>
            </a:r>
          </a:p>
        </p:txBody>
      </p:sp>
      <p:sp>
        <p:nvSpPr>
          <p:cNvPr id="171" name="S171"/>
          <p:cNvSpPr/>
          <p:nvPr/>
        </p:nvSpPr>
        <p:spPr>
          <a:xfrm>
            <a:off x="6400800" y="4673600"/>
            <a:ext cx="3048000" cy="914400"/>
          </a:xfrm>
          <a:prstGeom prst="roundRect">
            <a:avLst>
              <a:gd name="adj" fmla="val 5000"/>
            </a:avLst>
          </a:prstGeom>
          <a:solidFill>
            <a:srgbClr val="F1EFE8"/>
          </a:solidFill>
          <a:ln w="6350">
            <a:solidFill>
              <a:srgbClr val="D3D1C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6438900" y="4699000"/>
            <a:ext cx="2971800" cy="152400"/>
          </a:xfrm>
          <a:prstGeom prst="rect">
            <a:avLst/>
          </a:prstGeom>
          <a:noFill/>
          <a:ln>
            <a:noFill/>
          </a:ln>
        </p:spPr>
        <p:txBody>
          <a:bodyPr wrap="square" lIns="8000" tIns="9000" rIns="18000" bIns="9000" anchor="ctr"/>
          <a:lstStyle/>
          <a:p>
            <a:pPr algn="l"/>
            <a:r>
              <a:rPr lang="en-US" sz="550" b="1" dirty="0">
                <a:solidFill>
                  <a:srgbClr val="5F5E5A"/>
                </a:solidFill>
                <a:latin typeface="Calibri"/>
                <a:cs typeface="Calibri"/>
              </a:rPr>
              <a:t>RESILIENCE &amp; HITL (CROSS-CUTTING)</a:t>
            </a:r>
          </a:p>
        </p:txBody>
      </p:sp>
      <p:sp>
        <p:nvSpPr>
          <p:cNvPr id="173" name="S173"/>
          <p:cNvSpPr/>
          <p:nvPr/>
        </p:nvSpPr>
        <p:spPr>
          <a:xfrm>
            <a:off x="6451600" y="4876800"/>
            <a:ext cx="956733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444441"/>
                </a:solidFill>
                <a:latin typeface="Calibri"/>
              </a:rPr>
              <a:t>Retry + DLQ</a:t>
            </a:r>
          </a:p>
        </p:txBody>
      </p:sp>
      <p:sp>
        <p:nvSpPr>
          <p:cNvPr id="174" name="S174"/>
          <p:cNvSpPr/>
          <p:nvPr/>
        </p:nvSpPr>
        <p:spPr>
          <a:xfrm>
            <a:off x="7433733" y="4876800"/>
            <a:ext cx="956733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444441"/>
                </a:solidFill>
                <a:latin typeface="Calibri"/>
              </a:rPr>
              <a:t>LLM failover</a:t>
            </a:r>
          </a:p>
        </p:txBody>
      </p:sp>
      <p:sp>
        <p:nvSpPr>
          <p:cNvPr id="175" name="S175"/>
          <p:cNvSpPr/>
          <p:nvPr/>
        </p:nvSpPr>
        <p:spPr>
          <a:xfrm>
            <a:off x="8415867" y="4876800"/>
            <a:ext cx="956733" cy="66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txBody>
          <a:bodyPr wrap="square" lIns="14000" tIns="10000" rIns="14000" bIns="10000" anchor="ctr"/>
          <a:lstStyle/>
          <a:p>
            <a:pPr algn="ctr">
              <a:lnSpc>
                <a:spcPts val="900"/>
              </a:lnSpc>
              <a:spcAft>
                <a:spcPts val="50"/>
              </a:spcAft>
            </a:pPr>
            <a:r>
              <a:rPr lang="en-US" sz="800" b="1" dirty="0">
                <a:solidFill>
                  <a:srgbClr val="444441"/>
                </a:solidFill>
                <a:latin typeface="Calibri"/>
              </a:rPr>
              <a:t>6 human checkpoints</a:t>
            </a:r>
          </a:p>
        </p:txBody>
      </p:sp>
      <p:sp>
        <p:nvSpPr>
          <p:cNvPr id="176" name="S176"/>
          <p:cNvSpPr/>
          <p:nvPr/>
        </p:nvSpPr>
        <p:spPr>
          <a:xfrm>
            <a:off x="127000" y="5702300"/>
            <a:ext cx="88900" cy="8890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5080">
            <a:solidFill>
              <a:srgbClr val="F095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241300" y="5676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dirty="0">
                <a:solidFill>
                  <a:srgbClr val="666666"/>
                </a:solidFill>
                <a:latin typeface="Calibri"/>
                <a:cs typeface="Calibri"/>
              </a:rPr>
              <a:t>Security</a:t>
            </a:r>
          </a:p>
        </p:txBody>
      </p:sp>
      <p:sp>
        <p:nvSpPr>
          <p:cNvPr id="178" name="S178"/>
          <p:cNvSpPr/>
          <p:nvPr/>
        </p:nvSpPr>
        <p:spPr>
          <a:xfrm>
            <a:off x="1016000" y="5702300"/>
            <a:ext cx="88900" cy="88900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5080">
            <a:solidFill>
              <a:srgbClr val="F0997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130300" y="5676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dirty="0">
                <a:solidFill>
                  <a:srgbClr val="666666"/>
                </a:solidFill>
                <a:latin typeface="Calibri"/>
                <a:cs typeface="Calibri"/>
              </a:rPr>
              <a:t>Integration</a:t>
            </a:r>
          </a:p>
        </p:txBody>
      </p:sp>
      <p:sp>
        <p:nvSpPr>
          <p:cNvPr id="180" name="S180"/>
          <p:cNvSpPr/>
          <p:nvPr/>
        </p:nvSpPr>
        <p:spPr>
          <a:xfrm>
            <a:off x="1905000" y="5702300"/>
            <a:ext cx="88900" cy="88900"/>
          </a:xfrm>
          <a:prstGeom prst="roundRect">
            <a:avLst>
              <a:gd name="adj" fmla="val 12000"/>
            </a:avLst>
          </a:prstGeom>
          <a:solidFill>
            <a:srgbClr val="EEEDFE"/>
          </a:solidFill>
          <a:ln w="5080">
            <a:solidFill>
              <a:srgbClr val="AFA9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2019300" y="5676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dirty="0">
                <a:solidFill>
                  <a:srgbClr val="666666"/>
                </a:solidFill>
                <a:latin typeface="Calibri"/>
                <a:cs typeface="Calibri"/>
              </a:rPr>
              <a:t>Orchestration</a:t>
            </a:r>
          </a:p>
        </p:txBody>
      </p:sp>
      <p:sp>
        <p:nvSpPr>
          <p:cNvPr id="182" name="S182"/>
          <p:cNvSpPr/>
          <p:nvPr/>
        </p:nvSpPr>
        <p:spPr>
          <a:xfrm>
            <a:off x="2794000" y="5702300"/>
            <a:ext cx="88900" cy="889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5080">
            <a:solidFill>
              <a:srgbClr val="85B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3" name="S183"/>
          <p:cNvSpPr/>
          <p:nvPr/>
        </p:nvSpPr>
        <p:spPr>
          <a:xfrm>
            <a:off x="2908300" y="5676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dirty="0">
                <a:solidFill>
                  <a:srgbClr val="666666"/>
                </a:solidFill>
                <a:latin typeface="Calibri"/>
                <a:cs typeface="Calibri"/>
              </a:rPr>
              <a:t>AI Agents</a:t>
            </a:r>
          </a:p>
        </p:txBody>
      </p:sp>
      <p:sp>
        <p:nvSpPr>
          <p:cNvPr id="184" name="S184"/>
          <p:cNvSpPr/>
          <p:nvPr/>
        </p:nvSpPr>
        <p:spPr>
          <a:xfrm>
            <a:off x="3683000" y="5702300"/>
            <a:ext cx="88900" cy="88900"/>
          </a:xfrm>
          <a:prstGeom prst="roundRect">
            <a:avLst>
              <a:gd name="adj" fmla="val 12000"/>
            </a:avLst>
          </a:prstGeom>
          <a:solidFill>
            <a:srgbClr val="FBEAF0"/>
          </a:solidFill>
          <a:ln w="5080">
            <a:solidFill>
              <a:srgbClr val="ED93B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3797300" y="5676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dirty="0">
                <a:solidFill>
                  <a:srgbClr val="666666"/>
                </a:solidFill>
                <a:latin typeface="Calibri"/>
                <a:cs typeface="Calibri"/>
              </a:rPr>
              <a:t>Quality Gate</a:t>
            </a:r>
          </a:p>
        </p:txBody>
      </p:sp>
      <p:sp>
        <p:nvSpPr>
          <p:cNvPr id="186" name="S186"/>
          <p:cNvSpPr/>
          <p:nvPr/>
        </p:nvSpPr>
        <p:spPr>
          <a:xfrm>
            <a:off x="4572000" y="5702300"/>
            <a:ext cx="88900" cy="88900"/>
          </a:xfrm>
          <a:prstGeom prst="roundRect">
            <a:avLst>
              <a:gd name="adj" fmla="val 12000"/>
            </a:avLst>
          </a:prstGeom>
          <a:solidFill>
            <a:srgbClr val="E1F5EE"/>
          </a:solidFill>
          <a:ln w="5080">
            <a:solidFill>
              <a:srgbClr val="5DCA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/>
          <p:cNvSpPr/>
          <p:nvPr/>
        </p:nvSpPr>
        <p:spPr>
          <a:xfrm>
            <a:off x="4686300" y="5676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dirty="0">
                <a:solidFill>
                  <a:srgbClr val="666666"/>
                </a:solidFill>
                <a:latin typeface="Calibri"/>
                <a:cs typeface="Calibri"/>
              </a:rPr>
              <a:t>Outbound</a:t>
            </a:r>
          </a:p>
        </p:txBody>
      </p:sp>
      <p:sp>
        <p:nvSpPr>
          <p:cNvPr id="188" name="S188"/>
          <p:cNvSpPr/>
          <p:nvPr/>
        </p:nvSpPr>
        <p:spPr>
          <a:xfrm>
            <a:off x="5461000" y="5702300"/>
            <a:ext cx="88900" cy="889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5080">
            <a:solidFill>
              <a:srgbClr val="FAC7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575300" y="5676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dirty="0">
                <a:solidFill>
                  <a:srgbClr val="666666"/>
                </a:solidFill>
                <a:latin typeface="Calibri"/>
                <a:cs typeface="Calibri"/>
              </a:rPr>
              <a:t>Observability</a:t>
            </a:r>
          </a:p>
        </p:txBody>
      </p:sp>
      <p:sp>
        <p:nvSpPr>
          <p:cNvPr id="190" name="S190"/>
          <p:cNvSpPr/>
          <p:nvPr/>
        </p:nvSpPr>
        <p:spPr>
          <a:xfrm>
            <a:off x="6350000" y="5702300"/>
            <a:ext cx="88900" cy="889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5080">
            <a:solidFill>
              <a:srgbClr val="D3D1C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6464300" y="5676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dirty="0">
                <a:solidFill>
                  <a:srgbClr val="666666"/>
                </a:solidFill>
                <a:latin typeface="Calibri"/>
                <a:cs typeface="Calibri"/>
              </a:rPr>
              <a:t>Resilience</a:t>
            </a:r>
          </a:p>
        </p:txBody>
      </p:sp>
      <p:sp>
        <p:nvSpPr>
          <p:cNvPr id="192" name="S192"/>
          <p:cNvSpPr/>
          <p:nvPr/>
        </p:nvSpPr>
        <p:spPr>
          <a:xfrm>
            <a:off x="7315200" y="5676900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square" lIns="4000" tIns="9000" rIns="18000" bIns="9000" anchor="ctr"/>
          <a:lstStyle/>
          <a:p>
            <a:pPr algn="l"/>
            <a:r>
              <a:rPr lang="en-US" sz="600" i="1" dirty="0">
                <a:solidFill>
                  <a:srgbClr val="888888"/>
                </a:solidFill>
                <a:latin typeface="Calibri"/>
                <a:cs typeface="Calibri"/>
              </a:rPr>
              <a:t>— —  Dashed = decision node</a:t>
            </a:r>
          </a:p>
        </p:txBody>
      </p:sp>
      <p:sp>
        <p:nvSpPr>
          <p:cNvPr id="193" name="S193"/>
          <p:cNvSpPr/>
          <p:nvPr/>
        </p:nvSpPr>
        <p:spPr>
          <a:xfrm>
            <a:off x="11811000" y="6654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b"/>
          <a:lstStyle/>
          <a:p>
            <a:pPr algn="r"/>
            <a:r>
              <a:rPr lang="en-US" sz="750" dirty="0">
                <a:solidFill>
                  <a:srgbClr val="999999"/>
                </a:solidFill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52397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254000" y="137160"/>
            <a:ext cx="7493000" cy="3810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B2A4A"/>
                </a:solidFill>
                <a:latin typeface="Segoe UI"/>
              </a:rPr>
              <a:t>Agent Verse – High Level Technical Architecture Diagram</a:t>
            </a:r>
          </a:p>
        </p:txBody>
      </p:sp>
      <p:sp>
        <p:nvSpPr>
          <p:cNvPr id="102" name="MainContainer"/>
          <p:cNvSpPr/>
          <p:nvPr/>
        </p:nvSpPr>
        <p:spPr>
          <a:xfrm>
            <a:off x="9415780" y="3512629"/>
            <a:ext cx="1346200" cy="1844421"/>
          </a:xfrm>
          <a:prstGeom prst="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</p:sp>
      <p:sp>
        <p:nvSpPr>
          <p:cNvPr id="101" name="Hexaware"/>
          <p:cNvSpPr/>
          <p:nvPr/>
        </p:nvSpPr>
        <p:spPr>
          <a:xfrm>
            <a:off x="8128000" y="152400"/>
            <a:ext cx="1270000" cy="32004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>
            <a:no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CC2229"/>
                </a:solidFill>
                <a:latin typeface="Segoe UI"/>
              </a:rPr>
              <a:t>HEXAWARE</a:t>
            </a:r>
          </a:p>
        </p:txBody>
      </p:sp>
      <p:sp>
        <p:nvSpPr>
          <p:cNvPr id="103" name="SystemAgentsContainer"/>
          <p:cNvSpPr/>
          <p:nvPr/>
        </p:nvSpPr>
        <p:spPr>
          <a:xfrm>
            <a:off x="3327400" y="1460500"/>
            <a:ext cx="4216400" cy="1473200"/>
          </a:xfrm>
          <a:prstGeom prst="rect">
            <a:avLst/>
          </a:prstGeom>
          <a:solidFill>
            <a:srgbClr val="D6E8F4"/>
          </a:solidFill>
          <a:ln w="25400">
            <a:solidFill>
              <a:srgbClr val="5B9BD5"/>
            </a:solidFill>
          </a:ln>
        </p:spPr>
      </p:sp>
      <p:sp>
        <p:nvSpPr>
          <p:cNvPr id="104" name="SystemAgentsLabel"/>
          <p:cNvSpPr/>
          <p:nvPr/>
        </p:nvSpPr>
        <p:spPr>
          <a:xfrm>
            <a:off x="4389120" y="1481328"/>
            <a:ext cx="1371600" cy="201168"/>
          </a:xfrm>
          <a:prstGeom prst="rect">
            <a:avLst/>
          </a:prstGeom>
          <a:solidFill>
            <a:srgbClr val="D6E8F4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900" b="1" dirty="0">
                <a:solidFill>
                  <a:srgbClr val="1A3C5E"/>
                </a:solidFill>
                <a:latin typeface="Segoe UI"/>
              </a:rPr>
              <a:t>System Agents</a:t>
            </a:r>
          </a:p>
        </p:txBody>
      </p:sp>
      <p:sp>
        <p:nvSpPr>
          <p:cNvPr id="105" name="SpecializedContainer"/>
          <p:cNvSpPr/>
          <p:nvPr/>
        </p:nvSpPr>
        <p:spPr>
          <a:xfrm>
            <a:off x="3327400" y="2984500"/>
            <a:ext cx="4216400" cy="1651000"/>
          </a:xfrm>
          <a:prstGeom prst="rect">
            <a:avLst/>
          </a:prstGeom>
          <a:solidFill>
            <a:srgbClr val="F5F0DC"/>
          </a:solidFill>
          <a:ln w="25400">
            <a:solidFill>
              <a:srgbClr val="C4A54A"/>
            </a:solidFill>
          </a:ln>
        </p:spPr>
      </p:sp>
      <p:sp>
        <p:nvSpPr>
          <p:cNvPr id="106" name="SpecializedLabel"/>
          <p:cNvSpPr/>
          <p:nvPr/>
        </p:nvSpPr>
        <p:spPr>
          <a:xfrm>
            <a:off x="3931920" y="2944368"/>
            <a:ext cx="2194560" cy="201168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900" b="1" dirty="0">
                <a:solidFill>
                  <a:srgbClr val="1A3C5E"/>
                </a:solidFill>
                <a:latin typeface="Segoe UI"/>
              </a:rPr>
              <a:t>Specialized (Domain) Agents</a:t>
            </a:r>
          </a:p>
        </p:txBody>
      </p:sp>
      <p:sp>
        <p:nvSpPr>
          <p:cNvPr id="107" name="MonitoringPanel"/>
          <p:cNvSpPr/>
          <p:nvPr/>
        </p:nvSpPr>
        <p:spPr>
          <a:xfrm>
            <a:off x="7818120" y="1417320"/>
            <a:ext cx="1206500" cy="3246120"/>
          </a:xfrm>
          <a:prstGeom prst="roundRect">
            <a:avLst>
              <a:gd name="adj" fmla="val 16000"/>
            </a:avLst>
          </a:prstGeom>
          <a:solidFill>
            <a:srgbClr val="E8EEF4"/>
          </a:solidFill>
          <a:ln w="12700">
            <a:solidFill>
              <a:srgbClr val="7BAFD4"/>
            </a:solidFill>
          </a:ln>
        </p:spPr>
      </p:sp>
      <p:sp>
        <p:nvSpPr>
          <p:cNvPr id="108" name="MonitoringTitle"/>
          <p:cNvSpPr/>
          <p:nvPr/>
        </p:nvSpPr>
        <p:spPr>
          <a:xfrm>
            <a:off x="7863840" y="1463040"/>
            <a:ext cx="1117600" cy="201168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900" b="1" dirty="0">
                <a:solidFill>
                  <a:srgbClr val="1A3C5E"/>
                </a:solidFill>
                <a:latin typeface="Segoe UI"/>
              </a:rPr>
              <a:t>Monitoring</a:t>
            </a:r>
          </a:p>
        </p:txBody>
      </p:sp>
      <p:sp>
        <p:nvSpPr>
          <p:cNvPr id="109" name="AzureMonitorBox"/>
          <p:cNvSpPr/>
          <p:nvPr/>
        </p:nvSpPr>
        <p:spPr>
          <a:xfrm>
            <a:off x="7909560" y="1783080"/>
            <a:ext cx="1016000" cy="411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7BAFD4"/>
            </a:solidFill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Azure Monitor/</a:t>
            </a:r>
          </a:p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Agent Monitor</a:t>
            </a:r>
          </a:p>
        </p:txBody>
      </p:sp>
      <p:sp>
        <p:nvSpPr>
          <p:cNvPr id="110" name="AzureLogBox"/>
          <p:cNvSpPr/>
          <p:nvPr/>
        </p:nvSpPr>
        <p:spPr>
          <a:xfrm>
            <a:off x="7909560" y="2331720"/>
            <a:ext cx="1016000" cy="411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7BAFD4"/>
            </a:solidFill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Azure Log</a:t>
            </a:r>
          </a:p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Analytics</a:t>
            </a:r>
          </a:p>
        </p:txBody>
      </p:sp>
      <p:sp>
        <p:nvSpPr>
          <p:cNvPr id="111" name="FeedbackBox"/>
          <p:cNvSpPr/>
          <p:nvPr/>
        </p:nvSpPr>
        <p:spPr>
          <a:xfrm>
            <a:off x="7909560" y="2880360"/>
            <a:ext cx="1016000" cy="411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7BAFD4"/>
            </a:solidFill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Feedback,</a:t>
            </a:r>
          </a:p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Logs</a:t>
            </a:r>
          </a:p>
        </p:txBody>
      </p:sp>
      <p:sp>
        <p:nvSpPr>
          <p:cNvPr id="112" name="DashboardsBox"/>
          <p:cNvSpPr/>
          <p:nvPr/>
        </p:nvSpPr>
        <p:spPr>
          <a:xfrm>
            <a:off x="7909560" y="3429000"/>
            <a:ext cx="1016000" cy="411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7BAFD4"/>
            </a:solidFill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Azure</a:t>
            </a:r>
          </a:p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Dashboards</a:t>
            </a:r>
          </a:p>
        </p:txBody>
      </p:sp>
      <p:sp>
        <p:nvSpPr>
          <p:cNvPr id="113" name="UsersLabel"/>
          <p:cNvSpPr/>
          <p:nvPr/>
        </p:nvSpPr>
        <p:spPr>
          <a:xfrm>
            <a:off x="228600" y="86868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700" b="1" dirty="0">
                <a:solidFill>
                  <a:srgbClr val="1A3C5E"/>
                </a:solidFill>
                <a:latin typeface="Segoe UI"/>
              </a:rPr>
              <a:t>Users</a:t>
            </a:r>
          </a:p>
        </p:txBody>
      </p:sp>
      <p:sp>
        <p:nvSpPr>
          <p:cNvPr id="115" name="FileIconsBar"/>
          <p:cNvSpPr/>
          <p:nvPr/>
        </p:nvSpPr>
        <p:spPr>
          <a:xfrm>
            <a:off x="2593848" y="689610"/>
            <a:ext cx="1005840" cy="274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</p:sp>
      <p:sp>
        <p:nvSpPr>
          <p:cNvPr id="116" name="WordIcon"/>
          <p:cNvSpPr/>
          <p:nvPr/>
        </p:nvSpPr>
        <p:spPr>
          <a:xfrm>
            <a:off x="1444752" y="649224"/>
            <a:ext cx="201168" cy="21945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  <a:latin typeface="Segoe UI"/>
              </a:rPr>
              <a:t>W</a:t>
            </a:r>
          </a:p>
        </p:txBody>
      </p:sp>
      <p:sp>
        <p:nvSpPr>
          <p:cNvPr id="117" name="PageIcon"/>
          <p:cNvSpPr/>
          <p:nvPr/>
        </p:nvSpPr>
        <p:spPr>
          <a:xfrm>
            <a:off x="1664208" y="649224"/>
            <a:ext cx="201168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  <a:latin typeface="Segoe UI"/>
              </a:rPr>
              <a:t>≡</a:t>
            </a:r>
          </a:p>
        </p:txBody>
      </p:sp>
      <p:sp>
        <p:nvSpPr>
          <p:cNvPr id="118" name="PPTIcon"/>
          <p:cNvSpPr/>
          <p:nvPr/>
        </p:nvSpPr>
        <p:spPr>
          <a:xfrm>
            <a:off x="1883664" y="649224"/>
            <a:ext cx="201168" cy="219456"/>
          </a:xfrm>
          <a:prstGeom prst="rect">
            <a:avLst/>
          </a:prstGeom>
          <a:solidFill>
            <a:srgbClr val="D04423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119" name="ExcelIcon"/>
          <p:cNvSpPr/>
          <p:nvPr/>
        </p:nvSpPr>
        <p:spPr>
          <a:xfrm>
            <a:off x="2103120" y="649224"/>
            <a:ext cx="201168" cy="219456"/>
          </a:xfrm>
          <a:prstGeom prst="rect">
            <a:avLst/>
          </a:prstGeom>
          <a:solidFill>
            <a:srgbClr val="217346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  <a:latin typeface="Segoe UI"/>
              </a:rPr>
              <a:t>X</a:t>
            </a:r>
          </a:p>
        </p:txBody>
      </p:sp>
      <p:cxnSp>
        <p:nvCxnSpPr>
          <p:cNvPr id="120" name="ArrowUsersToFiles"/>
          <p:cNvCxnSpPr/>
          <p:nvPr/>
        </p:nvCxnSpPr>
        <p:spPr>
          <a:xfrm>
            <a:off x="640080" y="758952"/>
            <a:ext cx="777240" cy="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sp>
        <p:nvSpPr>
          <p:cNvPr id="121" name="GatewayBox"/>
          <p:cNvSpPr/>
          <p:nvPr/>
        </p:nvSpPr>
        <p:spPr>
          <a:xfrm>
            <a:off x="228600" y="1600200"/>
            <a:ext cx="9525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Gateway</a:t>
            </a:r>
          </a:p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subnet</a:t>
            </a:r>
          </a:p>
        </p:txBody>
      </p:sp>
      <p:sp>
        <p:nvSpPr>
          <p:cNvPr id="122" name="HttpsLabel"/>
          <p:cNvSpPr/>
          <p:nvPr/>
        </p:nvSpPr>
        <p:spPr>
          <a:xfrm>
            <a:off x="731520" y="13258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dirty="0">
                <a:solidFill>
                  <a:srgbClr val="333333"/>
                </a:solidFill>
                <a:latin typeface="Segoe UI"/>
              </a:rPr>
              <a:t>https</a:t>
            </a:r>
          </a:p>
        </p:txBody>
      </p:sp>
      <p:sp>
        <p:nvSpPr>
          <p:cNvPr id="123" name="ACRLabel"/>
          <p:cNvSpPr/>
          <p:nvPr/>
        </p:nvSpPr>
        <p:spPr>
          <a:xfrm>
            <a:off x="25400" y="2606040"/>
            <a:ext cx="1270000" cy="32004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Azure Container</a:t>
            </a:r>
          </a:p>
          <a:p>
            <a:pPr algn="ctr">
              <a:buNone/>
            </a:pPr>
            <a:r>
              <a:rPr lang="en-US" sz="650" dirty="0">
                <a:solidFill>
                  <a:srgbClr val="1A3C5E"/>
                </a:solidFill>
                <a:latin typeface="Segoe UI"/>
              </a:rPr>
              <a:t>Registry</a:t>
            </a:r>
          </a:p>
        </p:txBody>
      </p:sp>
      <p:sp>
        <p:nvSpPr>
          <p:cNvPr id="124" name="GuardrailsLabel"/>
          <p:cNvSpPr/>
          <p:nvPr/>
        </p:nvSpPr>
        <p:spPr>
          <a:xfrm>
            <a:off x="1965960" y="2286000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b="1" dirty="0">
                <a:solidFill>
                  <a:srgbClr val="1A3C5E"/>
                </a:solidFill>
                <a:latin typeface="Segoe UI"/>
              </a:rPr>
              <a:t>AGENT</a:t>
            </a:r>
          </a:p>
          <a:p>
            <a:pPr algn="ctr">
              <a:buNone/>
            </a:pPr>
            <a:r>
              <a:rPr lang="en-US" sz="550" b="1" dirty="0">
                <a:solidFill>
                  <a:srgbClr val="1A3C5E"/>
                </a:solidFill>
                <a:latin typeface="Segoe UI"/>
              </a:rPr>
              <a:t>GUARDRAILS</a:t>
            </a:r>
          </a:p>
        </p:txBody>
      </p:sp>
      <p:sp>
        <p:nvSpPr>
          <p:cNvPr id="125" name="LookupServiceBox"/>
          <p:cNvSpPr/>
          <p:nvPr/>
        </p:nvSpPr>
        <p:spPr>
          <a:xfrm>
            <a:off x="2606040" y="1691640"/>
            <a:ext cx="868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</p:sp>
      <p:sp>
        <p:nvSpPr>
          <p:cNvPr id="126" name="LookupTitle"/>
          <p:cNvSpPr/>
          <p:nvPr/>
        </p:nvSpPr>
        <p:spPr>
          <a:xfrm>
            <a:off x="2633472" y="1700784"/>
            <a:ext cx="813816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50" b="1" dirty="0">
                <a:solidFill>
                  <a:srgbClr val="1A3C5E"/>
                </a:solidFill>
                <a:latin typeface="Segoe UI"/>
              </a:rPr>
              <a:t>Lookup Service</a:t>
            </a:r>
          </a:p>
        </p:txBody>
      </p:sp>
      <p:sp>
        <p:nvSpPr>
          <p:cNvPr id="127" name="AgentLookup"/>
          <p:cNvSpPr/>
          <p:nvPr/>
        </p:nvSpPr>
        <p:spPr>
          <a:xfrm>
            <a:off x="2633472" y="1901952"/>
            <a:ext cx="813816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dirty="0">
                <a:solidFill>
                  <a:srgbClr val="333333"/>
                </a:solidFill>
                <a:latin typeface="Segoe UI"/>
              </a:rPr>
              <a:t>Agent Lookup</a:t>
            </a:r>
          </a:p>
        </p:txBody>
      </p:sp>
      <p:sp>
        <p:nvSpPr>
          <p:cNvPr id="128" name="ToolLookup"/>
          <p:cNvSpPr/>
          <p:nvPr/>
        </p:nvSpPr>
        <p:spPr>
          <a:xfrm>
            <a:off x="2633472" y="2103120"/>
            <a:ext cx="813816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dirty="0">
                <a:solidFill>
                  <a:srgbClr val="333333"/>
                </a:solidFill>
                <a:latin typeface="Segoe UI"/>
              </a:rPr>
              <a:t>Tool Lookup</a:t>
            </a:r>
          </a:p>
        </p:txBody>
      </p:sp>
      <p:sp>
        <p:nvSpPr>
          <p:cNvPr id="129" name="OrchestratorBox"/>
          <p:cNvSpPr/>
          <p:nvPr/>
        </p:nvSpPr>
        <p:spPr>
          <a:xfrm>
            <a:off x="2606040" y="269748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700" b="1" dirty="0">
                <a:solidFill>
                  <a:srgbClr val="1A3C5E"/>
                </a:solidFill>
                <a:latin typeface="Segoe UI"/>
              </a:rPr>
              <a:t>Agent</a:t>
            </a:r>
          </a:p>
          <a:p>
            <a:pPr algn="ctr">
              <a:buNone/>
            </a:pPr>
            <a:r>
              <a:rPr lang="en-US" sz="700" b="1" dirty="0">
                <a:solidFill>
                  <a:srgbClr val="1A3C5E"/>
                </a:solidFill>
                <a:latin typeface="Segoe UI"/>
              </a:rPr>
              <a:t>Orchestrator</a:t>
            </a:r>
          </a:p>
        </p:txBody>
      </p:sp>
      <p:sp>
        <p:nvSpPr>
          <p:cNvPr id="130" name="InfoExtractor"/>
          <p:cNvSpPr/>
          <p:nvPr/>
        </p:nvSpPr>
        <p:spPr>
          <a:xfrm>
            <a:off x="3520440" y="1691640"/>
            <a:ext cx="685800" cy="411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dash"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Information</a:t>
            </a:r>
          </a:p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Extractor Agent</a:t>
            </a:r>
          </a:p>
        </p:txBody>
      </p:sp>
      <p:sp>
        <p:nvSpPr>
          <p:cNvPr id="131" name="ToolBox1"/>
          <p:cNvSpPr/>
          <p:nvPr/>
        </p:nvSpPr>
        <p:spPr>
          <a:xfrm>
            <a:off x="4297680" y="1627632"/>
            <a:ext cx="10515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dash"/>
          </a:ln>
        </p:spPr>
        <p:txBody>
          <a:bodyPr lIns="45720" tIns="36576" rIns="45720" bIns="36576" anchor="ctr"/>
          <a:lstStyle/>
          <a:p>
            <a:pPr algn="l">
              <a:buNone/>
            </a:pPr>
            <a:r>
              <a:rPr lang="en-US" sz="420" dirty="0">
                <a:solidFill>
                  <a:srgbClr val="333333"/>
                </a:solidFill>
                <a:latin typeface="Segoe UI"/>
              </a:rPr>
              <a:t>Unstructured ID Tool</a:t>
            </a:r>
          </a:p>
          <a:p>
            <a:pPr algn="l">
              <a:buNone/>
            </a:pPr>
            <a:r>
              <a:rPr lang="en-US" sz="420" dirty="0">
                <a:solidFill>
                  <a:srgbClr val="333333"/>
                </a:solidFill>
                <a:latin typeface="Segoe UI"/>
              </a:rPr>
              <a:t>Document Intelligence</a:t>
            </a:r>
          </a:p>
          <a:p>
            <a:pPr algn="l">
              <a:buNone/>
            </a:pPr>
            <a:r>
              <a:rPr lang="en-US" sz="420" dirty="0">
                <a:solidFill>
                  <a:srgbClr val="333333"/>
                </a:solidFill>
                <a:latin typeface="Segoe UI"/>
              </a:rPr>
              <a:t>Tool</a:t>
            </a:r>
          </a:p>
          <a:p>
            <a:pPr algn="l">
              <a:buNone/>
            </a:pPr>
            <a:r>
              <a:rPr lang="en-US" sz="420" dirty="0">
                <a:solidFill>
                  <a:srgbClr val="333333"/>
                </a:solidFill>
                <a:latin typeface="Segoe UI"/>
              </a:rPr>
              <a:t>Adobe Tool</a:t>
            </a:r>
          </a:p>
        </p:txBody>
      </p:sp>
      <p:sp>
        <p:nvSpPr>
          <p:cNvPr id="132" name="SummarizerAgent"/>
          <p:cNvSpPr/>
          <p:nvPr/>
        </p:nvSpPr>
        <p:spPr>
          <a:xfrm>
            <a:off x="5440680" y="1691640"/>
            <a:ext cx="64008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dash"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Summarizer</a:t>
            </a:r>
          </a:p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Agent</a:t>
            </a:r>
          </a:p>
        </p:txBody>
      </p:sp>
      <p:sp>
        <p:nvSpPr>
          <p:cNvPr id="133" name="ToolBox2"/>
          <p:cNvSpPr/>
          <p:nvPr/>
        </p:nvSpPr>
        <p:spPr>
          <a:xfrm>
            <a:off x="6172200" y="1627632"/>
            <a:ext cx="822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dash"/>
          </a:ln>
        </p:spPr>
        <p:txBody>
          <a:bodyPr lIns="45720" tIns="36576" rIns="45720" bIns="36576" anchor="ctr"/>
          <a:lstStyle/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LLM Tool</a:t>
            </a:r>
          </a:p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Validator Tool</a:t>
            </a:r>
          </a:p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Formatter Tool</a:t>
            </a:r>
          </a:p>
        </p:txBody>
      </p:sp>
      <p:sp>
        <p:nvSpPr>
          <p:cNvPr id="134" name="PreProcessing"/>
          <p:cNvSpPr/>
          <p:nvPr/>
        </p:nvSpPr>
        <p:spPr>
          <a:xfrm>
            <a:off x="3520440" y="2240280"/>
            <a:ext cx="685800" cy="411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dash"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Pre-processing</a:t>
            </a:r>
          </a:p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Agent</a:t>
            </a:r>
          </a:p>
        </p:txBody>
      </p:sp>
      <p:sp>
        <p:nvSpPr>
          <p:cNvPr id="135" name="ToolBox3"/>
          <p:cNvSpPr/>
          <p:nvPr/>
        </p:nvSpPr>
        <p:spPr>
          <a:xfrm>
            <a:off x="4297680" y="2212848"/>
            <a:ext cx="1051560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dash"/>
          </a:ln>
        </p:spPr>
        <p:txBody>
          <a:bodyPr lIns="45720" tIns="36576" rIns="45720" bIns="36576" anchor="ctr"/>
          <a:lstStyle/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Cleaner Tool</a:t>
            </a:r>
          </a:p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PII Removal Tool</a:t>
            </a:r>
          </a:p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Formatting Tool</a:t>
            </a:r>
          </a:p>
        </p:txBody>
      </p:sp>
      <p:sp>
        <p:nvSpPr>
          <p:cNvPr id="136" name="FileReaderAgent"/>
          <p:cNvSpPr/>
          <p:nvPr/>
        </p:nvSpPr>
        <p:spPr>
          <a:xfrm>
            <a:off x="5440680" y="2267712"/>
            <a:ext cx="64008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dash"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File Reader</a:t>
            </a:r>
          </a:p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Agent</a:t>
            </a:r>
          </a:p>
        </p:txBody>
      </p:sp>
      <p:sp>
        <p:nvSpPr>
          <p:cNvPr id="137" name="ToolBox4"/>
          <p:cNvSpPr/>
          <p:nvPr/>
        </p:nvSpPr>
        <p:spPr>
          <a:xfrm>
            <a:off x="6172200" y="2212848"/>
            <a:ext cx="822960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dash"/>
          </a:ln>
        </p:spPr>
        <p:txBody>
          <a:bodyPr lIns="45720" tIns="36576" rIns="45720" bIns="36576" anchor="ctr"/>
          <a:lstStyle/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FileReader Tool</a:t>
            </a:r>
          </a:p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CSVReader Tool</a:t>
            </a:r>
          </a:p>
          <a:p>
            <a:pPr algn="l">
              <a:buNone/>
            </a:pPr>
            <a:r>
              <a:rPr lang="en-US" sz="450" dirty="0">
                <a:solidFill>
                  <a:srgbClr val="333333"/>
                </a:solidFill>
                <a:latin typeface="Segoe UI"/>
              </a:rPr>
              <a:t>PDFReader Tool</a:t>
            </a:r>
          </a:p>
        </p:txBody>
      </p:sp>
      <p:sp>
        <p:nvSpPr>
          <p:cNvPr id="138" name="PersonaLabel"/>
          <p:cNvSpPr/>
          <p:nvPr/>
        </p:nvSpPr>
        <p:spPr>
          <a:xfrm>
            <a:off x="3474720" y="3172968"/>
            <a:ext cx="914400" cy="16459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b="1" dirty="0">
                <a:solidFill>
                  <a:srgbClr val="FFFFFF"/>
                </a:solidFill>
                <a:latin typeface="Segoe UI"/>
              </a:rPr>
              <a:t>Persona-Based</a:t>
            </a:r>
          </a:p>
        </p:txBody>
      </p:sp>
      <p:sp>
        <p:nvSpPr>
          <p:cNvPr id="139" name="ReasoningLabel"/>
          <p:cNvSpPr/>
          <p:nvPr/>
        </p:nvSpPr>
        <p:spPr>
          <a:xfrm>
            <a:off x="4526280" y="3172968"/>
            <a:ext cx="1005840" cy="16459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b="1" dirty="0">
                <a:solidFill>
                  <a:srgbClr val="FFFFFF"/>
                </a:solidFill>
                <a:latin typeface="Segoe UI"/>
              </a:rPr>
              <a:t>Reasoning-Based</a:t>
            </a:r>
          </a:p>
        </p:txBody>
      </p:sp>
      <p:sp>
        <p:nvSpPr>
          <p:cNvPr id="140" name="MultiAgentLabel"/>
          <p:cNvSpPr/>
          <p:nvPr/>
        </p:nvSpPr>
        <p:spPr>
          <a:xfrm>
            <a:off x="5669280" y="3172968"/>
            <a:ext cx="868680" cy="16459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b="1" dirty="0">
                <a:solidFill>
                  <a:srgbClr val="FFFFFF"/>
                </a:solidFill>
                <a:latin typeface="Segoe UI"/>
              </a:rPr>
              <a:t>Multi-Agent</a:t>
            </a:r>
          </a:p>
        </p:txBody>
      </p:sp>
      <p:sp>
        <p:nvSpPr>
          <p:cNvPr id="141" name="RetrievalAgent"/>
          <p:cNvSpPr/>
          <p:nvPr/>
        </p:nvSpPr>
        <p:spPr>
          <a:xfrm>
            <a:off x="3474720" y="340156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Retrieval Agent</a:t>
            </a:r>
          </a:p>
        </p:txBody>
      </p:sp>
      <p:sp>
        <p:nvSpPr>
          <p:cNvPr id="142" name="VectorRetrieval"/>
          <p:cNvSpPr/>
          <p:nvPr/>
        </p:nvSpPr>
        <p:spPr>
          <a:xfrm>
            <a:off x="4114800" y="340156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Vector Retrieval</a:t>
            </a:r>
          </a:p>
        </p:txBody>
      </p:sp>
      <p:sp>
        <p:nvSpPr>
          <p:cNvPr id="143" name="KnowledgeGraph"/>
          <p:cNvSpPr/>
          <p:nvPr/>
        </p:nvSpPr>
        <p:spPr>
          <a:xfrm>
            <a:off x="3474720" y="361188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380" dirty="0">
                <a:solidFill>
                  <a:srgbClr val="333333"/>
                </a:solidFill>
                <a:latin typeface="Segoe UI"/>
              </a:rPr>
              <a:t>Knowledge Graph</a:t>
            </a:r>
          </a:p>
          <a:p>
            <a:pPr algn="ctr">
              <a:buNone/>
            </a:pPr>
            <a:r>
              <a:rPr lang="en-US" sz="380" dirty="0">
                <a:solidFill>
                  <a:srgbClr val="333333"/>
                </a:solidFill>
                <a:latin typeface="Segoe UI"/>
              </a:rPr>
              <a:t>Agent</a:t>
            </a:r>
          </a:p>
        </p:txBody>
      </p:sp>
      <p:sp>
        <p:nvSpPr>
          <p:cNvPr id="144" name="GraphCreator"/>
          <p:cNvSpPr/>
          <p:nvPr/>
        </p:nvSpPr>
        <p:spPr>
          <a:xfrm>
            <a:off x="4114800" y="361188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Graph Creator</a:t>
            </a:r>
          </a:p>
        </p:txBody>
      </p:sp>
      <p:sp>
        <p:nvSpPr>
          <p:cNvPr id="145" name="CreativeAgent"/>
          <p:cNvSpPr/>
          <p:nvPr/>
        </p:nvSpPr>
        <p:spPr>
          <a:xfrm>
            <a:off x="3474720" y="38862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Creative Agent</a:t>
            </a:r>
          </a:p>
        </p:txBody>
      </p:sp>
      <p:sp>
        <p:nvSpPr>
          <p:cNvPr id="146" name="QueryRewriter"/>
          <p:cNvSpPr/>
          <p:nvPr/>
        </p:nvSpPr>
        <p:spPr>
          <a:xfrm>
            <a:off x="4114800" y="38862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Query Rewriter</a:t>
            </a:r>
          </a:p>
        </p:txBody>
      </p:sp>
      <p:sp>
        <p:nvSpPr>
          <p:cNvPr id="147" name="ReasoningAgent"/>
          <p:cNvSpPr/>
          <p:nvPr/>
        </p:nvSpPr>
        <p:spPr>
          <a:xfrm>
            <a:off x="4572000" y="340156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Reasoning Agent</a:t>
            </a:r>
          </a:p>
        </p:txBody>
      </p:sp>
      <p:sp>
        <p:nvSpPr>
          <p:cNvPr id="148" name="GoogleSearch"/>
          <p:cNvSpPr/>
          <p:nvPr/>
        </p:nvSpPr>
        <p:spPr>
          <a:xfrm>
            <a:off x="5212080" y="34015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Google Search</a:t>
            </a:r>
          </a:p>
        </p:txBody>
      </p:sp>
      <p:sp>
        <p:nvSpPr>
          <p:cNvPr id="149" name="TokenWise"/>
          <p:cNvSpPr/>
          <p:nvPr/>
        </p:nvSpPr>
        <p:spPr>
          <a:xfrm>
            <a:off x="4572000" y="361188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TokenWise Agent</a:t>
            </a:r>
          </a:p>
        </p:txBody>
      </p:sp>
      <p:sp>
        <p:nvSpPr>
          <p:cNvPr id="150" name="Wikipedia"/>
          <p:cNvSpPr/>
          <p:nvPr/>
        </p:nvSpPr>
        <p:spPr>
          <a:xfrm>
            <a:off x="5212080" y="361188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Wikipedia</a:t>
            </a:r>
          </a:p>
        </p:txBody>
      </p:sp>
      <p:sp>
        <p:nvSpPr>
          <p:cNvPr id="151" name="CertMgr"/>
          <p:cNvSpPr/>
          <p:nvPr/>
        </p:nvSpPr>
        <p:spPr>
          <a:xfrm>
            <a:off x="4572000" y="38862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380" dirty="0">
                <a:solidFill>
                  <a:srgbClr val="333333"/>
                </a:solidFill>
                <a:latin typeface="Segoe UI"/>
              </a:rPr>
              <a:t>Certificate Agent</a:t>
            </a:r>
          </a:p>
        </p:txBody>
      </p:sp>
      <p:sp>
        <p:nvSpPr>
          <p:cNvPr id="152" name="AnalyticsTool"/>
          <p:cNvSpPr/>
          <p:nvPr/>
        </p:nvSpPr>
        <p:spPr>
          <a:xfrm>
            <a:off x="5212080" y="388620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Analytics Tool</a:t>
            </a:r>
          </a:p>
        </p:txBody>
      </p:sp>
      <p:sp>
        <p:nvSpPr>
          <p:cNvPr id="153" name="ProjectPlanner"/>
          <p:cNvSpPr/>
          <p:nvPr/>
        </p:nvSpPr>
        <p:spPr>
          <a:xfrm>
            <a:off x="5669280" y="3401568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370" dirty="0">
                <a:solidFill>
                  <a:srgbClr val="333333"/>
                </a:solidFill>
                <a:latin typeface="Segoe UI"/>
              </a:rPr>
              <a:t>ProjectPlanner Agent</a:t>
            </a:r>
          </a:p>
        </p:txBody>
      </p:sp>
      <p:sp>
        <p:nvSpPr>
          <p:cNvPr id="154" name="Planner"/>
          <p:cNvSpPr/>
          <p:nvPr/>
        </p:nvSpPr>
        <p:spPr>
          <a:xfrm>
            <a:off x="6400800" y="34015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400" dirty="0">
                <a:solidFill>
                  <a:srgbClr val="333333"/>
                </a:solidFill>
                <a:latin typeface="Segoe UI"/>
              </a:rPr>
              <a:t>Planner</a:t>
            </a:r>
          </a:p>
        </p:txBody>
      </p:sp>
      <p:sp>
        <p:nvSpPr>
          <p:cNvPr id="155" name="MedicalWriter"/>
          <p:cNvSpPr/>
          <p:nvPr/>
        </p:nvSpPr>
        <p:spPr>
          <a:xfrm>
            <a:off x="5669280" y="36118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370" dirty="0">
                <a:solidFill>
                  <a:srgbClr val="333333"/>
                </a:solidFill>
                <a:latin typeface="Segoe UI"/>
              </a:rPr>
              <a:t>MedicalWriter</a:t>
            </a:r>
          </a:p>
          <a:p>
            <a:pPr algn="ctr">
              <a:buNone/>
            </a:pPr>
            <a:r>
              <a:rPr lang="en-US" sz="370" dirty="0">
                <a:solidFill>
                  <a:srgbClr val="333333"/>
                </a:solidFill>
                <a:latin typeface="Segoe UI"/>
              </a:rPr>
              <a:t>Agent</a:t>
            </a:r>
          </a:p>
        </p:txBody>
      </p:sp>
      <p:sp>
        <p:nvSpPr>
          <p:cNvPr id="156" name="ReportFormatter"/>
          <p:cNvSpPr/>
          <p:nvPr/>
        </p:nvSpPr>
        <p:spPr>
          <a:xfrm>
            <a:off x="6400800" y="361188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370" dirty="0">
                <a:solidFill>
                  <a:srgbClr val="333333"/>
                </a:solidFill>
                <a:latin typeface="Segoe UI"/>
              </a:rPr>
              <a:t>ReportFormatter</a:t>
            </a:r>
          </a:p>
          <a:p>
            <a:pPr algn="ctr">
              <a:buNone/>
            </a:pPr>
            <a:r>
              <a:rPr lang="en-US" sz="370" dirty="0">
                <a:solidFill>
                  <a:srgbClr val="333333"/>
                </a:solidFill>
                <a:latin typeface="Segoe UI"/>
              </a:rPr>
              <a:t>Agent</a:t>
            </a:r>
          </a:p>
        </p:txBody>
      </p:sp>
      <p:sp>
        <p:nvSpPr>
          <p:cNvPr id="157" name="CodeAgent"/>
          <p:cNvSpPr/>
          <p:nvPr/>
        </p:nvSpPr>
        <p:spPr>
          <a:xfrm>
            <a:off x="5669280" y="388620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380" dirty="0">
                <a:solidFill>
                  <a:srgbClr val="333333"/>
                </a:solidFill>
                <a:latin typeface="Segoe UI"/>
              </a:rPr>
              <a:t>Code-based</a:t>
            </a:r>
          </a:p>
          <a:p>
            <a:pPr algn="ctr">
              <a:buNone/>
            </a:pPr>
            <a:r>
              <a:rPr lang="en-US" sz="380" dirty="0">
                <a:solidFill>
                  <a:srgbClr val="333333"/>
                </a:solidFill>
                <a:latin typeface="Segoe UI"/>
              </a:rPr>
              <a:t>Agent</a:t>
            </a:r>
          </a:p>
        </p:txBody>
      </p:sp>
      <p:sp>
        <p:nvSpPr>
          <p:cNvPr id="158" name="SyntaxParser"/>
          <p:cNvSpPr/>
          <p:nvPr/>
        </p:nvSpPr>
        <p:spPr>
          <a:xfrm>
            <a:off x="6309360" y="388620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380" dirty="0">
                <a:solidFill>
                  <a:srgbClr val="333333"/>
                </a:solidFill>
                <a:latin typeface="Segoe UI"/>
              </a:rPr>
              <a:t>Linter /</a:t>
            </a:r>
          </a:p>
          <a:p>
            <a:pPr algn="ctr">
              <a:buNone/>
            </a:pPr>
            <a:r>
              <a:rPr lang="en-US" sz="380" dirty="0">
                <a:solidFill>
                  <a:srgbClr val="333333"/>
                </a:solidFill>
                <a:latin typeface="Segoe UI"/>
              </a:rPr>
              <a:t>Syntax Parser</a:t>
            </a:r>
          </a:p>
        </p:txBody>
      </p:sp>
      <p:sp>
        <p:nvSpPr>
          <p:cNvPr id="159" name="KeyVaultLabel"/>
          <p:cNvSpPr/>
          <p:nvPr/>
        </p:nvSpPr>
        <p:spPr>
          <a:xfrm>
            <a:off x="609600" y="3746500"/>
            <a:ext cx="107950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>
                <a:solidFill>
                  <a:srgbClr val="1A3C5E"/>
                </a:solidFill>
                <a:latin typeface="Segoe UI"/>
              </a:rPr>
              <a:t>Azure Key Vault</a:t>
            </a:r>
          </a:p>
        </p:txBody>
      </p:sp>
      <p:sp>
        <p:nvSpPr>
          <p:cNvPr id="160" name="RBACLabel"/>
          <p:cNvSpPr/>
          <p:nvPr/>
        </p:nvSpPr>
        <p:spPr>
          <a:xfrm>
            <a:off x="2194560" y="342900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dirty="0">
                <a:solidFill>
                  <a:srgbClr val="333333"/>
                </a:solidFill>
                <a:latin typeface="Segoe UI"/>
              </a:rPr>
              <a:t>RBAC</a:t>
            </a:r>
          </a:p>
        </p:txBody>
      </p:sp>
      <p:sp>
        <p:nvSpPr>
          <p:cNvPr id="161" name="AzureADLabel"/>
          <p:cNvSpPr/>
          <p:nvPr/>
        </p:nvSpPr>
        <p:spPr>
          <a:xfrm>
            <a:off x="1524000" y="403860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>
                <a:solidFill>
                  <a:srgbClr val="1A3C5E"/>
                </a:solidFill>
                <a:latin typeface="Segoe UI"/>
              </a:rPr>
              <a:t>Azure AD</a:t>
            </a:r>
          </a:p>
          <a:p>
            <a:pPr algn="ctr">
              <a:buNone/>
            </a:pPr>
            <a:r>
              <a:rPr lang="en-US" sz="600" dirty="0">
                <a:solidFill>
                  <a:srgbClr val="1A3C5E"/>
                </a:solidFill>
                <a:latin typeface="Segoe UI"/>
              </a:rPr>
              <a:t>Authentication</a:t>
            </a:r>
          </a:p>
        </p:txBody>
      </p:sp>
      <p:sp>
        <p:nvSpPr>
          <p:cNvPr id="162" name="AppRegLabel"/>
          <p:cNvSpPr/>
          <p:nvPr/>
        </p:nvSpPr>
        <p:spPr>
          <a:xfrm>
            <a:off x="2743200" y="3937000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>
                <a:solidFill>
                  <a:srgbClr val="1A3C5E"/>
                </a:solidFill>
                <a:latin typeface="Segoe UI"/>
              </a:rPr>
              <a:t>App</a:t>
            </a:r>
          </a:p>
          <a:p>
            <a:pPr algn="ctr">
              <a:buNone/>
            </a:pPr>
            <a:r>
              <a:rPr lang="en-US" sz="600" dirty="0">
                <a:solidFill>
                  <a:srgbClr val="1A3C5E"/>
                </a:solidFill>
                <a:latin typeface="Segoe UI"/>
              </a:rPr>
              <a:t>Registrations</a:t>
            </a:r>
          </a:p>
        </p:txBody>
      </p:sp>
      <p:sp>
        <p:nvSpPr>
          <p:cNvPr id="163" name="CohereLLM"/>
          <p:cNvSpPr/>
          <p:nvPr/>
        </p:nvSpPr>
        <p:spPr>
          <a:xfrm>
            <a:off x="4023360" y="416052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dirty="0">
                <a:solidFill>
                  <a:srgbClr val="333333"/>
                </a:solidFill>
                <a:latin typeface="Segoe UI"/>
              </a:rPr>
              <a:t>Cohere LLM</a:t>
            </a:r>
          </a:p>
        </p:txBody>
      </p:sp>
      <p:sp>
        <p:nvSpPr>
          <p:cNvPr id="164" name="DALLE3"/>
          <p:cNvSpPr/>
          <p:nvPr/>
        </p:nvSpPr>
        <p:spPr>
          <a:xfrm>
            <a:off x="4754880" y="416052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dirty="0">
                <a:solidFill>
                  <a:srgbClr val="333333"/>
                </a:solidFill>
                <a:latin typeface="Segoe UI"/>
              </a:rPr>
              <a:t>DALL-E-3</a:t>
            </a:r>
          </a:p>
        </p:txBody>
      </p:sp>
      <p:sp>
        <p:nvSpPr>
          <p:cNvPr id="165" name="Llama32"/>
          <p:cNvSpPr/>
          <p:nvPr/>
        </p:nvSpPr>
        <p:spPr>
          <a:xfrm>
            <a:off x="5440680" y="4160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Llama 3.2</a:t>
            </a:r>
          </a:p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Vision Model</a:t>
            </a:r>
          </a:p>
        </p:txBody>
      </p:sp>
      <p:sp>
        <p:nvSpPr>
          <p:cNvPr id="166" name="WikipediaSource"/>
          <p:cNvSpPr/>
          <p:nvPr/>
        </p:nvSpPr>
        <p:spPr>
          <a:xfrm>
            <a:off x="2103120" y="4617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Wikipedia</a:t>
            </a:r>
          </a:p>
        </p:txBody>
      </p:sp>
      <p:sp>
        <p:nvSpPr>
          <p:cNvPr id="167" name="GoogleSearchSource"/>
          <p:cNvSpPr/>
          <p:nvPr/>
        </p:nvSpPr>
        <p:spPr>
          <a:xfrm>
            <a:off x="2697480" y="461772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00" dirty="0">
                <a:solidFill>
                  <a:srgbClr val="333333"/>
                </a:solidFill>
                <a:latin typeface="Segoe UI"/>
              </a:rPr>
              <a:t>Google Search</a:t>
            </a:r>
          </a:p>
        </p:txBody>
      </p:sp>
      <p:sp>
        <p:nvSpPr>
          <p:cNvPr id="168" name="DailyMed"/>
          <p:cNvSpPr/>
          <p:nvPr/>
        </p:nvSpPr>
        <p:spPr>
          <a:xfrm>
            <a:off x="3383280" y="45720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b="1" dirty="0">
                <a:solidFill>
                  <a:srgbClr val="CC2229"/>
                </a:solidFill>
                <a:latin typeface="Segoe UI"/>
              </a:rPr>
              <a:t>DAILYMED</a:t>
            </a:r>
          </a:p>
        </p:txBody>
      </p:sp>
      <p:sp>
        <p:nvSpPr>
          <p:cNvPr id="169" name="DrugBank"/>
          <p:cNvSpPr/>
          <p:nvPr/>
        </p:nvSpPr>
        <p:spPr>
          <a:xfrm>
            <a:off x="4160520" y="45720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b="1" dirty="0">
                <a:solidFill>
                  <a:srgbClr val="CC2229"/>
                </a:solidFill>
                <a:latin typeface="Segoe UI"/>
              </a:rPr>
              <a:t>DRUGBANK</a:t>
            </a:r>
          </a:p>
        </p:txBody>
      </p:sp>
      <p:sp>
        <p:nvSpPr>
          <p:cNvPr id="170" name="ClinicalTrials"/>
          <p:cNvSpPr/>
          <p:nvPr/>
        </p:nvSpPr>
        <p:spPr>
          <a:xfrm>
            <a:off x="4983480" y="457200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550" b="1" i="1" dirty="0">
                <a:solidFill>
                  <a:srgbClr val="1A3C5E"/>
                </a:solidFill>
                <a:latin typeface="Segoe UI"/>
              </a:rPr>
              <a:t>ClinicalTrials.gov</a:t>
            </a:r>
          </a:p>
        </p:txBody>
      </p:sp>
      <p:sp>
        <p:nvSpPr>
          <p:cNvPr id="171" name="PubMed"/>
          <p:cNvSpPr/>
          <p:nvPr/>
        </p:nvSpPr>
        <p:spPr>
          <a:xfrm>
            <a:off x="5989320" y="457200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b="1" dirty="0">
                <a:solidFill>
                  <a:srgbClr val="1A3C5E"/>
                </a:solidFill>
                <a:latin typeface="Segoe UI"/>
              </a:rPr>
              <a:t>PubMed</a:t>
            </a:r>
          </a:p>
        </p:txBody>
      </p:sp>
      <p:cxnSp>
        <p:nvCxnSpPr>
          <p:cNvPr id="172" name="ArrowUsersToGW"/>
          <p:cNvCxnSpPr/>
          <p:nvPr/>
        </p:nvCxnSpPr>
        <p:spPr>
          <a:xfrm>
            <a:off x="658368" y="1051560"/>
            <a:ext cx="1" cy="54864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cxnSp>
        <p:nvCxnSpPr>
          <p:cNvPr id="173" name="ArrowGWToMain"/>
          <p:cNvCxnSpPr/>
          <p:nvPr/>
        </p:nvCxnSpPr>
        <p:spPr>
          <a:xfrm>
            <a:off x="1097280" y="1801368"/>
            <a:ext cx="822960" cy="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cxnSp>
        <p:nvCxnSpPr>
          <p:cNvPr id="174" name="ArrowACRToMain"/>
          <p:cNvCxnSpPr/>
          <p:nvPr/>
        </p:nvCxnSpPr>
        <p:spPr>
          <a:xfrm>
            <a:off x="1097280" y="2743200"/>
            <a:ext cx="822960" cy="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cxnSp>
        <p:nvCxnSpPr>
          <p:cNvPr id="175" name="ArrowToSecurity"/>
          <p:cNvCxnSpPr/>
          <p:nvPr/>
        </p:nvCxnSpPr>
        <p:spPr>
          <a:xfrm>
            <a:off x="2286000" y="3246120"/>
            <a:ext cx="1" cy="3657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cxnSp>
        <p:nvCxnSpPr>
          <p:cNvPr id="176" name="ArrowOrchToLookup"/>
          <p:cNvCxnSpPr/>
          <p:nvPr/>
        </p:nvCxnSpPr>
        <p:spPr>
          <a:xfrm flipV="1">
            <a:off x="3035808" y="2331720"/>
            <a:ext cx="1" cy="3657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cxnSp>
        <p:nvCxnSpPr>
          <p:cNvPr id="177" name="ArrowLookupToSys"/>
          <p:cNvCxnSpPr/>
          <p:nvPr/>
        </p:nvCxnSpPr>
        <p:spPr>
          <a:xfrm>
            <a:off x="3474720" y="1965960"/>
            <a:ext cx="45720" cy="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cxnSp>
        <p:nvCxnSpPr>
          <p:cNvPr id="178" name="ArrowOrchToSpec"/>
          <p:cNvCxnSpPr/>
          <p:nvPr/>
        </p:nvCxnSpPr>
        <p:spPr>
          <a:xfrm>
            <a:off x="3474720" y="2944368"/>
            <a:ext cx="45720" cy="256032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cxnSp>
        <p:nvCxnSpPr>
          <p:cNvPr id="179" name="ArrowToMonitor1"/>
          <p:cNvCxnSpPr/>
          <p:nvPr/>
        </p:nvCxnSpPr>
        <p:spPr>
          <a:xfrm>
            <a:off x="7680960" y="1965960"/>
            <a:ext cx="137160" cy="1"/>
          </a:xfrm>
          <a:prstGeom prst="line">
            <a:avLst/>
          </a:prstGeom>
          <a:ln w="9525">
            <a:solidFill>
              <a:srgbClr val="0078D4"/>
            </a:solidFill>
            <a:tailEnd type="triangle" w="med" len="med"/>
          </a:ln>
        </p:spPr>
      </p:cxnSp>
      <p:cxnSp>
        <p:nvCxnSpPr>
          <p:cNvPr id="180" name="ArrowToMonitor2"/>
          <p:cNvCxnSpPr/>
          <p:nvPr/>
        </p:nvCxnSpPr>
        <p:spPr>
          <a:xfrm>
            <a:off x="7680960" y="2514600"/>
            <a:ext cx="137160" cy="1"/>
          </a:xfrm>
          <a:prstGeom prst="line">
            <a:avLst/>
          </a:prstGeom>
          <a:ln w="9525">
            <a:solidFill>
              <a:srgbClr val="0078D4"/>
            </a:solidFill>
            <a:tailEnd type="triangle" w="med" len="med"/>
          </a:ln>
        </p:spPr>
      </p:cxnSp>
      <p:cxnSp>
        <p:nvCxnSpPr>
          <p:cNvPr id="181" name="ArrowToMonitor3"/>
          <p:cNvCxnSpPr/>
          <p:nvPr/>
        </p:nvCxnSpPr>
        <p:spPr>
          <a:xfrm>
            <a:off x="7680960" y="3063240"/>
            <a:ext cx="137160" cy="1"/>
          </a:xfrm>
          <a:prstGeom prst="line">
            <a:avLst/>
          </a:prstGeom>
          <a:ln w="9525">
            <a:solidFill>
              <a:srgbClr val="0078D4"/>
            </a:solidFill>
            <a:tailEnd type="triangle" w="med" len="med"/>
          </a:ln>
        </p:spPr>
      </p:cxnSp>
      <p:cxnSp>
        <p:nvCxnSpPr>
          <p:cNvPr id="182" name="ArrowToMonitor4"/>
          <p:cNvCxnSpPr/>
          <p:nvPr/>
        </p:nvCxnSpPr>
        <p:spPr>
          <a:xfrm>
            <a:off x="7680960" y="3611880"/>
            <a:ext cx="137160" cy="1"/>
          </a:xfrm>
          <a:prstGeom prst="line">
            <a:avLst/>
          </a:prstGeom>
          <a:ln w="9525">
            <a:solidFill>
              <a:srgbClr val="0078D4"/>
            </a:solidFill>
            <a:tailEnd type="triangle" w="med" len="med"/>
          </a:ln>
        </p:spPr>
      </p:cxnSp>
      <p:cxnSp>
        <p:nvCxnSpPr>
          <p:cNvPr id="183" name="MonArrow1"/>
          <p:cNvCxnSpPr/>
          <p:nvPr/>
        </p:nvCxnSpPr>
        <p:spPr>
          <a:xfrm>
            <a:off x="8385048" y="2194560"/>
            <a:ext cx="1" cy="137160"/>
          </a:xfrm>
          <a:prstGeom prst="line">
            <a:avLst/>
          </a:prstGeom>
          <a:ln w="9525">
            <a:solidFill>
              <a:srgbClr val="0078D4"/>
            </a:solidFill>
            <a:tailEnd type="triangle" w="med" len="med"/>
          </a:ln>
        </p:spPr>
      </p:cxnSp>
      <p:cxnSp>
        <p:nvCxnSpPr>
          <p:cNvPr id="184" name="MonArrow2"/>
          <p:cNvCxnSpPr/>
          <p:nvPr/>
        </p:nvCxnSpPr>
        <p:spPr>
          <a:xfrm>
            <a:off x="8385048" y="2743200"/>
            <a:ext cx="1" cy="137160"/>
          </a:xfrm>
          <a:prstGeom prst="line">
            <a:avLst/>
          </a:prstGeom>
          <a:ln w="9525">
            <a:solidFill>
              <a:srgbClr val="0078D4"/>
            </a:solidFill>
            <a:tailEnd type="triangle" w="med" len="med"/>
          </a:ln>
        </p:spPr>
      </p:cxnSp>
      <p:cxnSp>
        <p:nvCxnSpPr>
          <p:cNvPr id="185" name="MonArrow3"/>
          <p:cNvCxnSpPr/>
          <p:nvPr/>
        </p:nvCxnSpPr>
        <p:spPr>
          <a:xfrm>
            <a:off x="8385048" y="3291840"/>
            <a:ext cx="1" cy="137160"/>
          </a:xfrm>
          <a:prstGeom prst="line">
            <a:avLst/>
          </a:prstGeom>
          <a:ln w="9525">
            <a:solidFill>
              <a:srgbClr val="0078D4"/>
            </a:solidFill>
            <a:tailEnd type="triangle" w="med" len="med"/>
          </a:ln>
        </p:spPr>
      </p:cxnSp>
      <p:cxnSp>
        <p:nvCxnSpPr>
          <p:cNvPr id="186" name="ArrowToLLMs"/>
          <p:cNvCxnSpPr/>
          <p:nvPr/>
        </p:nvCxnSpPr>
        <p:spPr>
          <a:xfrm>
            <a:off x="5029200" y="4114800"/>
            <a:ext cx="1" cy="45720"/>
          </a:xfrm>
          <a:prstGeom prst="line">
            <a:avLst/>
          </a:prstGeom>
          <a:ln w="9525">
            <a:solidFill>
              <a:srgbClr val="333333"/>
            </a:solidFill>
            <a:tailEnd type="triangle" w="med" len="med"/>
          </a:ln>
        </p:spPr>
      </p:cxnSp>
      <p:cxnSp>
        <p:nvCxnSpPr>
          <p:cNvPr id="187" name="SysConnector1"/>
          <p:cNvCxnSpPr/>
          <p:nvPr/>
        </p:nvCxnSpPr>
        <p:spPr>
          <a:xfrm>
            <a:off x="4206240" y="1874520"/>
            <a:ext cx="91440" cy="1"/>
          </a:xfrm>
          <a:prstGeom prst="line">
            <a:avLst/>
          </a:prstGeom>
          <a:ln w="6350">
            <a:solidFill>
              <a:srgbClr val="666666"/>
            </a:solidFill>
            <a:tailEnd type="triangle" w="med" len="med"/>
          </a:ln>
        </p:spPr>
      </p:cxnSp>
      <p:cxnSp>
        <p:nvCxnSpPr>
          <p:cNvPr id="188" name="SysConnector2"/>
          <p:cNvCxnSpPr/>
          <p:nvPr/>
        </p:nvCxnSpPr>
        <p:spPr>
          <a:xfrm>
            <a:off x="5349240" y="1874520"/>
            <a:ext cx="91440" cy="1"/>
          </a:xfrm>
          <a:prstGeom prst="line">
            <a:avLst/>
          </a:prstGeom>
          <a:ln w="6350">
            <a:solidFill>
              <a:srgbClr val="666666"/>
            </a:solidFill>
            <a:tailEnd type="triangle" w="med" len="med"/>
          </a:ln>
        </p:spPr>
      </p:cxnSp>
      <p:cxnSp>
        <p:nvCxnSpPr>
          <p:cNvPr id="189" name="SysConnector3"/>
          <p:cNvCxnSpPr/>
          <p:nvPr/>
        </p:nvCxnSpPr>
        <p:spPr>
          <a:xfrm>
            <a:off x="6080760" y="1874520"/>
            <a:ext cx="91440" cy="1"/>
          </a:xfrm>
          <a:prstGeom prst="line">
            <a:avLst/>
          </a:prstGeom>
          <a:ln w="6350">
            <a:solidFill>
              <a:srgbClr val="666666"/>
            </a:solidFill>
            <a:tailEnd type="triangle" w="med" len="med"/>
          </a:ln>
        </p:spPr>
      </p:cxnSp>
      <p:cxnSp>
        <p:nvCxnSpPr>
          <p:cNvPr id="190" name="SysConnector4"/>
          <p:cNvCxnSpPr/>
          <p:nvPr/>
        </p:nvCxnSpPr>
        <p:spPr>
          <a:xfrm>
            <a:off x="4206240" y="2450592"/>
            <a:ext cx="91440" cy="1"/>
          </a:xfrm>
          <a:prstGeom prst="line">
            <a:avLst/>
          </a:prstGeom>
          <a:ln w="6350">
            <a:solidFill>
              <a:srgbClr val="666666"/>
            </a:solidFill>
            <a:tailEnd type="triangle" w="med" len="med"/>
          </a:ln>
        </p:spPr>
      </p:cxnSp>
      <p:cxnSp>
        <p:nvCxnSpPr>
          <p:cNvPr id="191" name="SysConnector5"/>
          <p:cNvCxnSpPr/>
          <p:nvPr/>
        </p:nvCxnSpPr>
        <p:spPr>
          <a:xfrm>
            <a:off x="5349240" y="2450592"/>
            <a:ext cx="91440" cy="1"/>
          </a:xfrm>
          <a:prstGeom prst="line">
            <a:avLst/>
          </a:prstGeom>
          <a:ln w="6350">
            <a:solidFill>
              <a:srgbClr val="666666"/>
            </a:solidFill>
            <a:tailEnd type="triangle" w="med" len="med"/>
          </a:ln>
        </p:spPr>
      </p:cxnSp>
      <p:cxnSp>
        <p:nvCxnSpPr>
          <p:cNvPr id="192" name="SysConnector6"/>
          <p:cNvCxnSpPr/>
          <p:nvPr/>
        </p:nvCxnSpPr>
        <p:spPr>
          <a:xfrm>
            <a:off x="6080760" y="2450592"/>
            <a:ext cx="91440" cy="1"/>
          </a:xfrm>
          <a:prstGeom prst="line">
            <a:avLst/>
          </a:prstGeom>
          <a:ln w="6350">
            <a:solidFill>
              <a:srgbClr val="666666"/>
            </a:solidFill>
            <a:tailEnd type="triangle" w="med" len="med"/>
          </a:ln>
        </p:spPr>
      </p:cxnSp>
      <p:pic>
        <p:nvPicPr>
          <p:cNvPr id="193" name="Graphic 193" descr="Users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0" y="533400"/>
            <a:ext cx="406400" cy="406400"/>
          </a:xfrm>
          <a:prstGeom prst="rect">
            <a:avLst/>
          </a:prstGeom>
        </p:spPr>
      </p:pic>
      <p:pic>
        <p:nvPicPr>
          <p:cNvPr id="194" name="Graphic 194" descr="Agent gear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1752600"/>
            <a:ext cx="228600" cy="228600"/>
          </a:xfrm>
          <a:prstGeom prst="rect">
            <a:avLst/>
          </a:prstGeom>
        </p:spPr>
      </p:pic>
      <p:pic>
        <p:nvPicPr>
          <p:cNvPr id="195" name="Graphic 195" descr="Summarizer agent gea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6100" y="1752600"/>
            <a:ext cx="228600" cy="228600"/>
          </a:xfrm>
          <a:prstGeom prst="rect">
            <a:avLst/>
          </a:prstGeom>
        </p:spPr>
      </p:pic>
      <p:pic>
        <p:nvPicPr>
          <p:cNvPr id="196" name="Graphic 196" descr="Pre-processing agent gea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2286000"/>
            <a:ext cx="228600" cy="228600"/>
          </a:xfrm>
          <a:prstGeom prst="rect">
            <a:avLst/>
          </a:prstGeom>
        </p:spPr>
      </p:pic>
      <p:pic>
        <p:nvPicPr>
          <p:cNvPr id="197" name="Graphic 197" descr="File Reader agent gea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6100" y="2286000"/>
            <a:ext cx="228600" cy="228600"/>
          </a:xfrm>
          <a:prstGeom prst="rect">
            <a:avLst/>
          </a:prstGeom>
        </p:spPr>
      </p:pic>
      <p:pic>
        <p:nvPicPr>
          <p:cNvPr id="198" name="Graphic 198" descr="Google Search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7800" y="4597400"/>
            <a:ext cx="177800" cy="177800"/>
          </a:xfrm>
          <a:prstGeom prst="rect">
            <a:avLst/>
          </a:prstGeom>
        </p:spPr>
      </p:pic>
      <p:pic>
        <p:nvPicPr>
          <p:cNvPr id="199" name="Graphic 199" descr="Analytics dashboard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51800" y="3619500"/>
            <a:ext cx="254000" cy="254000"/>
          </a:xfrm>
          <a:prstGeom prst="rect">
            <a:avLst/>
          </a:prstGeom>
        </p:spPr>
      </p:pic>
      <p:pic>
        <p:nvPicPr>
          <p:cNvPr id="200" name="Graphic 200" descr="Vision model eye ic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3900" y="4127500"/>
            <a:ext cx="228600" cy="2286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2FC4EC7-9C64-48C6-B122-94F5688DF9C4}"/>
              </a:ext>
            </a:extLst>
          </p:cNvPr>
          <p:cNvSpPr/>
          <p:nvPr/>
        </p:nvSpPr>
        <p:spPr>
          <a:xfrm>
            <a:off x="889000" y="1600200"/>
            <a:ext cx="203200" cy="2032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500" b="1">
                <a:solidFill>
                  <a:srgbClr val="FFFFFF"/>
                </a:solidFill>
              </a:rPr>
              <a:t>&lt;&gt;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213BA8-9900-4F0B-AC62-D85767577299}"/>
              </a:ext>
            </a:extLst>
          </p:cNvPr>
          <p:cNvSpPr/>
          <p:nvPr/>
        </p:nvSpPr>
        <p:spPr>
          <a:xfrm>
            <a:off x="533400" y="2438400"/>
            <a:ext cx="228600" cy="2286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898851-0B49-42B5-8C9A-49FC06900960}"/>
              </a:ext>
            </a:extLst>
          </p:cNvPr>
          <p:cNvSpPr/>
          <p:nvPr/>
        </p:nvSpPr>
        <p:spPr>
          <a:xfrm>
            <a:off x="787400" y="2438400"/>
            <a:ext cx="228600" cy="228600"/>
          </a:xfrm>
          <a:prstGeom prst="ellipse">
            <a:avLst/>
          </a:prstGeom>
          <a:solidFill>
            <a:srgbClr val="1A6B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E470F0C-2324-4143-BDDB-536FFC10D886}"/>
              </a:ext>
            </a:extLst>
          </p:cNvPr>
          <p:cNvSpPr/>
          <p:nvPr/>
        </p:nvSpPr>
        <p:spPr>
          <a:xfrm>
            <a:off x="825500" y="3619500"/>
            <a:ext cx="203200" cy="203200"/>
          </a:xfrm>
          <a:prstGeom prst="ellipse">
            <a:avLst/>
          </a:prstGeom>
          <a:solidFill>
            <a:srgbClr val="FFB9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3682F9-CAA4-4256-A404-D0E2D5F10E4C}"/>
              </a:ext>
            </a:extLst>
          </p:cNvPr>
          <p:cNvSpPr/>
          <p:nvPr/>
        </p:nvSpPr>
        <p:spPr>
          <a:xfrm>
            <a:off x="1752600" y="3937000"/>
            <a:ext cx="228600" cy="228600"/>
          </a:xfrm>
          <a:prstGeom prst="round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F47C29-E36E-4FAE-A847-06A46E5BF95A}"/>
              </a:ext>
            </a:extLst>
          </p:cNvPr>
          <p:cNvSpPr/>
          <p:nvPr/>
        </p:nvSpPr>
        <p:spPr>
          <a:xfrm>
            <a:off x="2844800" y="3873500"/>
            <a:ext cx="228600" cy="228600"/>
          </a:xfrm>
          <a:prstGeom prst="roundRect">
            <a:avLst/>
          </a:prstGeom>
          <a:solidFill>
            <a:srgbClr val="3333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F545FA-12CF-498F-9446-6D04E3608087}"/>
              </a:ext>
            </a:extLst>
          </p:cNvPr>
          <p:cNvSpPr/>
          <p:nvPr/>
        </p:nvSpPr>
        <p:spPr>
          <a:xfrm>
            <a:off x="7556500" y="1270000"/>
            <a:ext cx="203200" cy="152400"/>
          </a:xfrm>
          <a:prstGeom prst="round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500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DE3145-92DD-4E0A-8A06-FA82D38B9B8C}"/>
              </a:ext>
            </a:extLst>
          </p:cNvPr>
          <p:cNvSpPr/>
          <p:nvPr/>
        </p:nvSpPr>
        <p:spPr>
          <a:xfrm>
            <a:off x="8229600" y="1143000"/>
            <a:ext cx="177800" cy="177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500" b="1">
                <a:solidFill>
                  <a:srgbClr val="FFFFFF"/>
                </a:solidFill>
              </a:rPr>
              <a:t>&lt;&gt;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2EE411-74ED-475E-A2AE-F3AEF7C004D2}"/>
              </a:ext>
            </a:extLst>
          </p:cNvPr>
          <p:cNvSpPr/>
          <p:nvPr/>
        </p:nvSpPr>
        <p:spPr>
          <a:xfrm>
            <a:off x="8483600" y="1117600"/>
            <a:ext cx="254000" cy="254000"/>
          </a:xfrm>
          <a:prstGeom prst="roundRect">
            <a:avLst/>
          </a:prstGeom>
          <a:solidFill>
            <a:srgbClr val="6821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9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3023C4-8F06-425A-A5F9-8354FC0ECBDF}"/>
              </a:ext>
            </a:extLst>
          </p:cNvPr>
          <p:cNvSpPr/>
          <p:nvPr/>
        </p:nvSpPr>
        <p:spPr>
          <a:xfrm>
            <a:off x="4089400" y="4191000"/>
            <a:ext cx="203200" cy="203200"/>
          </a:xfrm>
          <a:prstGeom prst="ellipse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747BE1-D01E-41DF-A333-70433042A602}"/>
              </a:ext>
            </a:extLst>
          </p:cNvPr>
          <p:cNvSpPr/>
          <p:nvPr/>
        </p:nvSpPr>
        <p:spPr>
          <a:xfrm>
            <a:off x="4826000" y="4191000"/>
            <a:ext cx="203200" cy="203200"/>
          </a:xfrm>
          <a:prstGeom prst="ellipse">
            <a:avLst/>
          </a:prstGeom>
          <a:solidFill>
            <a:srgbClr val="10A37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E32910-3E88-45C0-AC6F-639F25B923B1}"/>
              </a:ext>
            </a:extLst>
          </p:cNvPr>
          <p:cNvSpPr/>
          <p:nvPr/>
        </p:nvSpPr>
        <p:spPr>
          <a:xfrm>
            <a:off x="5461000" y="4191000"/>
            <a:ext cx="203200" cy="203200"/>
          </a:xfrm>
          <a:prstGeom prst="ellipse">
            <a:avLst/>
          </a:prstGeom>
          <a:solidFill>
            <a:srgbClr val="6C6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63BD9D-8B00-40FC-9476-BC1EA8DA50F9}"/>
              </a:ext>
            </a:extLst>
          </p:cNvPr>
          <p:cNvSpPr/>
          <p:nvPr/>
        </p:nvSpPr>
        <p:spPr>
          <a:xfrm>
            <a:off x="8712200" y="1816100"/>
            <a:ext cx="177800" cy="177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9064A1-C04E-4F6A-B017-8DD855D9D470}"/>
              </a:ext>
            </a:extLst>
          </p:cNvPr>
          <p:cNvSpPr/>
          <p:nvPr/>
        </p:nvSpPr>
        <p:spPr>
          <a:xfrm>
            <a:off x="8712200" y="2374900"/>
            <a:ext cx="177800" cy="177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D458B5-1DD5-4C46-AF0E-8503137100E9}"/>
              </a:ext>
            </a:extLst>
          </p:cNvPr>
          <p:cNvSpPr/>
          <p:nvPr/>
        </p:nvSpPr>
        <p:spPr>
          <a:xfrm>
            <a:off x="8712200" y="2921000"/>
            <a:ext cx="177800" cy="177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C2C319-0A81-499E-87CA-6ABAE382B254}"/>
              </a:ext>
            </a:extLst>
          </p:cNvPr>
          <p:cNvSpPr/>
          <p:nvPr/>
        </p:nvSpPr>
        <p:spPr>
          <a:xfrm>
            <a:off x="8712200" y="3467100"/>
            <a:ext cx="177800" cy="177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565570-3128-4AC2-BD39-B0A8B8E58ED9}"/>
              </a:ext>
            </a:extLst>
          </p:cNvPr>
          <p:cNvSpPr/>
          <p:nvPr/>
        </p:nvSpPr>
        <p:spPr>
          <a:xfrm>
            <a:off x="4330700" y="16891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E2A4BD-9214-4A2F-97DA-44133EC056C8}"/>
              </a:ext>
            </a:extLst>
          </p:cNvPr>
          <p:cNvSpPr/>
          <p:nvPr/>
        </p:nvSpPr>
        <p:spPr>
          <a:xfrm>
            <a:off x="4330700" y="17907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DC2E7E-6B34-402C-955C-9002D3D5D6FE}"/>
              </a:ext>
            </a:extLst>
          </p:cNvPr>
          <p:cNvSpPr/>
          <p:nvPr/>
        </p:nvSpPr>
        <p:spPr>
          <a:xfrm>
            <a:off x="4330700" y="18923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B3E3F2-9FDD-4C3C-BB64-54641969278A}"/>
              </a:ext>
            </a:extLst>
          </p:cNvPr>
          <p:cNvSpPr/>
          <p:nvPr/>
        </p:nvSpPr>
        <p:spPr>
          <a:xfrm>
            <a:off x="6235700" y="16891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767C618-350B-47AB-887D-CA84CCA8994C}"/>
              </a:ext>
            </a:extLst>
          </p:cNvPr>
          <p:cNvSpPr/>
          <p:nvPr/>
        </p:nvSpPr>
        <p:spPr>
          <a:xfrm>
            <a:off x="6235700" y="17907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BC1A068-D25B-4D5E-9B95-44BC979A6E08}"/>
              </a:ext>
            </a:extLst>
          </p:cNvPr>
          <p:cNvSpPr/>
          <p:nvPr/>
        </p:nvSpPr>
        <p:spPr>
          <a:xfrm>
            <a:off x="6235700" y="18923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712355C-7C78-4102-AF2D-F6FA51423694}"/>
              </a:ext>
            </a:extLst>
          </p:cNvPr>
          <p:cNvSpPr/>
          <p:nvPr/>
        </p:nvSpPr>
        <p:spPr>
          <a:xfrm>
            <a:off x="4330700" y="2260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26101D1-897B-4232-9622-2836B7FCA459}"/>
              </a:ext>
            </a:extLst>
          </p:cNvPr>
          <p:cNvSpPr/>
          <p:nvPr/>
        </p:nvSpPr>
        <p:spPr>
          <a:xfrm>
            <a:off x="4330700" y="23622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F0A694D-30E9-4C99-9DF4-588A26CF06F4}"/>
              </a:ext>
            </a:extLst>
          </p:cNvPr>
          <p:cNvSpPr/>
          <p:nvPr/>
        </p:nvSpPr>
        <p:spPr>
          <a:xfrm>
            <a:off x="4330700" y="24638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6076AD4-F2FB-4CEC-AC30-EB2DB13E3E32}"/>
              </a:ext>
            </a:extLst>
          </p:cNvPr>
          <p:cNvSpPr/>
          <p:nvPr/>
        </p:nvSpPr>
        <p:spPr>
          <a:xfrm>
            <a:off x="6235700" y="2260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A338261-5D11-46CE-A11D-C2A4CFEF2377}"/>
              </a:ext>
            </a:extLst>
          </p:cNvPr>
          <p:cNvSpPr/>
          <p:nvPr/>
        </p:nvSpPr>
        <p:spPr>
          <a:xfrm>
            <a:off x="6235700" y="23622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37CD767-0608-49C1-ACAF-B13E32E38265}"/>
              </a:ext>
            </a:extLst>
          </p:cNvPr>
          <p:cNvSpPr/>
          <p:nvPr/>
        </p:nvSpPr>
        <p:spPr>
          <a:xfrm>
            <a:off x="6235700" y="24638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5685DB-4E75-4F83-9299-1166DEB5B3D8}"/>
              </a:ext>
            </a:extLst>
          </p:cNvPr>
          <p:cNvSpPr/>
          <p:nvPr/>
        </p:nvSpPr>
        <p:spPr>
          <a:xfrm>
            <a:off x="3530600" y="34290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1D2A75D-167B-4049-9874-4F2806117C2A}"/>
              </a:ext>
            </a:extLst>
          </p:cNvPr>
          <p:cNvSpPr/>
          <p:nvPr/>
        </p:nvSpPr>
        <p:spPr>
          <a:xfrm>
            <a:off x="4191000" y="34290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4BA3E91-6E84-4CF6-A412-8F951E429462}"/>
              </a:ext>
            </a:extLst>
          </p:cNvPr>
          <p:cNvSpPr/>
          <p:nvPr/>
        </p:nvSpPr>
        <p:spPr>
          <a:xfrm>
            <a:off x="3530600" y="3657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754F9F3-8C67-40C0-B220-0D8896D6E938}"/>
              </a:ext>
            </a:extLst>
          </p:cNvPr>
          <p:cNvSpPr/>
          <p:nvPr/>
        </p:nvSpPr>
        <p:spPr>
          <a:xfrm>
            <a:off x="4191000" y="3657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BACBBA3-69B2-4516-90C5-902EDA87D450}"/>
              </a:ext>
            </a:extLst>
          </p:cNvPr>
          <p:cNvSpPr/>
          <p:nvPr/>
        </p:nvSpPr>
        <p:spPr>
          <a:xfrm>
            <a:off x="3530600" y="3911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0EC1A06-E5B2-4FC5-AE41-F63FB62F5C61}"/>
              </a:ext>
            </a:extLst>
          </p:cNvPr>
          <p:cNvSpPr/>
          <p:nvPr/>
        </p:nvSpPr>
        <p:spPr>
          <a:xfrm>
            <a:off x="4191000" y="3911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8AE0A33-4C90-49B4-9349-BDB0B870CA19}"/>
              </a:ext>
            </a:extLst>
          </p:cNvPr>
          <p:cNvSpPr/>
          <p:nvPr/>
        </p:nvSpPr>
        <p:spPr>
          <a:xfrm>
            <a:off x="4635500" y="34290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750577B-7681-4162-817F-3666B1AC07D2}"/>
              </a:ext>
            </a:extLst>
          </p:cNvPr>
          <p:cNvSpPr/>
          <p:nvPr/>
        </p:nvSpPr>
        <p:spPr>
          <a:xfrm>
            <a:off x="5270500" y="34290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118C618-46FD-4881-A81B-DC3C2D2B8374}"/>
              </a:ext>
            </a:extLst>
          </p:cNvPr>
          <p:cNvSpPr/>
          <p:nvPr/>
        </p:nvSpPr>
        <p:spPr>
          <a:xfrm>
            <a:off x="4635500" y="3657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E5DE585-63F9-4DC4-81C0-B77C5C2BC628}"/>
              </a:ext>
            </a:extLst>
          </p:cNvPr>
          <p:cNvSpPr/>
          <p:nvPr/>
        </p:nvSpPr>
        <p:spPr>
          <a:xfrm>
            <a:off x="5270500" y="3657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E7EF43-4D21-41D2-84FA-044A19F14C5A}"/>
              </a:ext>
            </a:extLst>
          </p:cNvPr>
          <p:cNvSpPr/>
          <p:nvPr/>
        </p:nvSpPr>
        <p:spPr>
          <a:xfrm>
            <a:off x="4635500" y="3911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CAD9D98-3DB7-4393-8A9F-DDE8C532DBE4}"/>
              </a:ext>
            </a:extLst>
          </p:cNvPr>
          <p:cNvSpPr/>
          <p:nvPr/>
        </p:nvSpPr>
        <p:spPr>
          <a:xfrm>
            <a:off x="5270500" y="3911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61BCDDB-06D7-410F-B33B-49747A3E148B}"/>
              </a:ext>
            </a:extLst>
          </p:cNvPr>
          <p:cNvSpPr/>
          <p:nvPr/>
        </p:nvSpPr>
        <p:spPr>
          <a:xfrm>
            <a:off x="5740400" y="34290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2D45F20-7906-4E55-8A8D-90BDB81A0606}"/>
              </a:ext>
            </a:extLst>
          </p:cNvPr>
          <p:cNvSpPr/>
          <p:nvPr/>
        </p:nvSpPr>
        <p:spPr>
          <a:xfrm>
            <a:off x="6477000" y="34290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10BFF3B-4EAF-441A-98CE-17497F001285}"/>
              </a:ext>
            </a:extLst>
          </p:cNvPr>
          <p:cNvSpPr/>
          <p:nvPr/>
        </p:nvSpPr>
        <p:spPr>
          <a:xfrm>
            <a:off x="5740400" y="3657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D0F0466-FF50-46D2-BC40-1281F8A514AC}"/>
              </a:ext>
            </a:extLst>
          </p:cNvPr>
          <p:cNvSpPr/>
          <p:nvPr/>
        </p:nvSpPr>
        <p:spPr>
          <a:xfrm>
            <a:off x="6477000" y="3657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56FA24C-E316-4650-BC9E-78168B4834D1}"/>
              </a:ext>
            </a:extLst>
          </p:cNvPr>
          <p:cNvSpPr/>
          <p:nvPr/>
        </p:nvSpPr>
        <p:spPr>
          <a:xfrm>
            <a:off x="5740400" y="3911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437F03D-3A62-451F-B74A-8572AE846BA2}"/>
              </a:ext>
            </a:extLst>
          </p:cNvPr>
          <p:cNvSpPr/>
          <p:nvPr/>
        </p:nvSpPr>
        <p:spPr>
          <a:xfrm>
            <a:off x="6477000" y="3911600"/>
            <a:ext cx="127000" cy="127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400">
                <a:solidFill>
                  <a:srgbClr val="FFFFFF"/>
                </a:solidFill>
              </a:rPr>
              <a:t>✱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3DF811-B4E8-C162-18C4-18559219673D}"/>
              </a:ext>
            </a:extLst>
          </p:cNvPr>
          <p:cNvSpPr/>
          <p:nvPr/>
        </p:nvSpPr>
        <p:spPr>
          <a:xfrm>
            <a:off x="8343900" y="649224"/>
            <a:ext cx="680720" cy="2194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605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93" descr="Users icon">
            <a:extLst>
              <a:ext uri="{FF2B5EF4-FFF2-40B4-BE49-F238E27FC236}">
                <a16:creationId xmlns:a16="http://schemas.microsoft.com/office/drawing/2014/main" id="{1AB7641A-8D9D-45F7-61C9-2846FF677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25" y="390525"/>
            <a:ext cx="406400" cy="406400"/>
          </a:xfrm>
          <a:prstGeom prst="rect">
            <a:avLst/>
          </a:prstGeom>
        </p:spPr>
      </p:pic>
      <p:sp>
        <p:nvSpPr>
          <p:cNvPr id="5" name="UsersLabel">
            <a:extLst>
              <a:ext uri="{FF2B5EF4-FFF2-40B4-BE49-F238E27FC236}">
                <a16:creationId xmlns:a16="http://schemas.microsoft.com/office/drawing/2014/main" id="{56468D9A-9BCA-586D-B113-973241E6EC5D}"/>
              </a:ext>
            </a:extLst>
          </p:cNvPr>
          <p:cNvSpPr/>
          <p:nvPr/>
        </p:nvSpPr>
        <p:spPr>
          <a:xfrm>
            <a:off x="24765" y="70548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700" b="1" dirty="0">
                <a:solidFill>
                  <a:srgbClr val="1A3C5E"/>
                </a:solidFill>
                <a:latin typeface="Segoe UI"/>
              </a:rPr>
              <a:t>Vendors</a:t>
            </a:r>
          </a:p>
        </p:txBody>
      </p:sp>
      <p:pic>
        <p:nvPicPr>
          <p:cNvPr id="7" name="Graphic 6" descr="Envelope with solid fill">
            <a:extLst>
              <a:ext uri="{FF2B5EF4-FFF2-40B4-BE49-F238E27FC236}">
                <a16:creationId xmlns:a16="http://schemas.microsoft.com/office/drawing/2014/main" id="{5A0FAFE2-9AF6-7C43-8C46-1981F7AAF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350" y="390525"/>
            <a:ext cx="421640" cy="421640"/>
          </a:xfrm>
          <a:prstGeom prst="rect">
            <a:avLst/>
          </a:prstGeom>
        </p:spPr>
      </p:pic>
      <p:sp>
        <p:nvSpPr>
          <p:cNvPr id="8" name="FileIconsBar">
            <a:extLst>
              <a:ext uri="{FF2B5EF4-FFF2-40B4-BE49-F238E27FC236}">
                <a16:creationId xmlns:a16="http://schemas.microsoft.com/office/drawing/2014/main" id="{179E8AD2-2D2A-6483-D80E-7A3897EE12F2}"/>
              </a:ext>
            </a:extLst>
          </p:cNvPr>
          <p:cNvSpPr/>
          <p:nvPr/>
        </p:nvSpPr>
        <p:spPr>
          <a:xfrm>
            <a:off x="1684655" y="464185"/>
            <a:ext cx="1053548" cy="274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7AA8F1-A362-C3FD-267B-CD3DD2C332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915" y="496722"/>
            <a:ext cx="209245" cy="2092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788B9C-2D24-1AA1-7C1B-E0FF05D3D3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42160" y="502619"/>
            <a:ext cx="209246" cy="2092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956B83-2B76-A389-1403-6AD17C0461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108" y="487042"/>
            <a:ext cx="228603" cy="2286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E3B57E8-BA9D-D361-AAC1-BA49E58C86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0553" y="496721"/>
            <a:ext cx="247649" cy="208762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4DCB8F-8B5F-7E25-6657-D5514DFC505D}"/>
              </a:ext>
            </a:extLst>
          </p:cNvPr>
          <p:cNvCxnSpPr>
            <a:endCxn id="7" idx="1"/>
          </p:cNvCxnSpPr>
          <p:nvPr/>
        </p:nvCxnSpPr>
        <p:spPr>
          <a:xfrm>
            <a:off x="479425" y="600075"/>
            <a:ext cx="415925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75B274-7723-3B35-9B73-A10338A33A7E}"/>
              </a:ext>
            </a:extLst>
          </p:cNvPr>
          <p:cNvCxnSpPr>
            <a:stCxn id="12" idx="1"/>
            <a:endCxn id="7" idx="3"/>
          </p:cNvCxnSpPr>
          <p:nvPr/>
        </p:nvCxnSpPr>
        <p:spPr>
          <a:xfrm flipH="1">
            <a:off x="1316990" y="601345"/>
            <a:ext cx="415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91355D1-1862-1E55-4508-2752B7D0F22C}"/>
              </a:ext>
            </a:extLst>
          </p:cNvPr>
          <p:cNvSpPr/>
          <p:nvPr/>
        </p:nvSpPr>
        <p:spPr>
          <a:xfrm>
            <a:off x="85725" y="1109375"/>
            <a:ext cx="11925300" cy="548637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MainContainer">
            <a:extLst>
              <a:ext uri="{FF2B5EF4-FFF2-40B4-BE49-F238E27FC236}">
                <a16:creationId xmlns:a16="http://schemas.microsoft.com/office/drawing/2014/main" id="{30C3510B-7484-7B3F-9336-7CCB6A8428A0}"/>
              </a:ext>
            </a:extLst>
          </p:cNvPr>
          <p:cNvSpPr/>
          <p:nvPr/>
        </p:nvSpPr>
        <p:spPr>
          <a:xfrm>
            <a:off x="171451" y="1304954"/>
            <a:ext cx="9829799" cy="4152871"/>
          </a:xfrm>
          <a:prstGeom prst="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</p:sp>
      <p:sp>
        <p:nvSpPr>
          <p:cNvPr id="32" name="FileIconsBar">
            <a:extLst>
              <a:ext uri="{FF2B5EF4-FFF2-40B4-BE49-F238E27FC236}">
                <a16:creationId xmlns:a16="http://schemas.microsoft.com/office/drawing/2014/main" id="{98B1CD82-F460-A079-6E6B-E1DBB27F846A}"/>
              </a:ext>
            </a:extLst>
          </p:cNvPr>
          <p:cNvSpPr/>
          <p:nvPr/>
        </p:nvSpPr>
        <p:spPr>
          <a:xfrm>
            <a:off x="2021839" y="1474794"/>
            <a:ext cx="7846062" cy="38528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HttpsLabel">
            <a:extLst>
              <a:ext uri="{FF2B5EF4-FFF2-40B4-BE49-F238E27FC236}">
                <a16:creationId xmlns:a16="http://schemas.microsoft.com/office/drawing/2014/main" id="{6A126132-7F3A-7EE9-6AD6-81EC437799D0}"/>
              </a:ext>
            </a:extLst>
          </p:cNvPr>
          <p:cNvSpPr/>
          <p:nvPr/>
        </p:nvSpPr>
        <p:spPr>
          <a:xfrm>
            <a:off x="1086168" y="2032679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800" dirty="0">
                <a:solidFill>
                  <a:srgbClr val="333333"/>
                </a:solidFill>
                <a:latin typeface="Segoe UI"/>
              </a:rPr>
              <a:t>https</a:t>
            </a:r>
          </a:p>
        </p:txBody>
      </p:sp>
      <p:cxnSp>
        <p:nvCxnSpPr>
          <p:cNvPr id="35" name="ArrowUsersToGW">
            <a:extLst>
              <a:ext uri="{FF2B5EF4-FFF2-40B4-BE49-F238E27FC236}">
                <a16:creationId xmlns:a16="http://schemas.microsoft.com/office/drawing/2014/main" id="{0871A8EB-7387-9D4B-42B9-C4B18D827281}"/>
              </a:ext>
            </a:extLst>
          </p:cNvPr>
          <p:cNvCxnSpPr>
            <a:cxnSpLocks/>
          </p:cNvCxnSpPr>
          <p:nvPr/>
        </p:nvCxnSpPr>
        <p:spPr>
          <a:xfrm>
            <a:off x="1096644" y="711865"/>
            <a:ext cx="0" cy="1727802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sp>
        <p:nvSpPr>
          <p:cNvPr id="39" name="FileIconsBar">
            <a:extLst>
              <a:ext uri="{FF2B5EF4-FFF2-40B4-BE49-F238E27FC236}">
                <a16:creationId xmlns:a16="http://schemas.microsoft.com/office/drawing/2014/main" id="{5186CDF5-651E-0FAA-353A-FD58954531E2}"/>
              </a:ext>
            </a:extLst>
          </p:cNvPr>
          <p:cNvSpPr/>
          <p:nvPr/>
        </p:nvSpPr>
        <p:spPr>
          <a:xfrm>
            <a:off x="343536" y="2439667"/>
            <a:ext cx="1558288" cy="78259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r>
              <a:rPr lang="en-IN" sz="1200" dirty="0"/>
              <a:t>API Gateway + WAF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6C78B59-F98E-6DCE-88A3-80126EA047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27" y="2767819"/>
            <a:ext cx="365901" cy="36590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4785301-4F78-2E85-4891-C60488B645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4293" y="2767820"/>
            <a:ext cx="365901" cy="365901"/>
          </a:xfrm>
          <a:prstGeom prst="rect">
            <a:avLst/>
          </a:prstGeom>
        </p:spPr>
      </p:pic>
      <p:sp>
        <p:nvSpPr>
          <p:cNvPr id="2" name="FileIconsBar">
            <a:extLst>
              <a:ext uri="{FF2B5EF4-FFF2-40B4-BE49-F238E27FC236}">
                <a16:creationId xmlns:a16="http://schemas.microsoft.com/office/drawing/2014/main" id="{E9FA9CCE-C42A-3A37-2571-2BD188F7D2A4}"/>
              </a:ext>
            </a:extLst>
          </p:cNvPr>
          <p:cNvSpPr/>
          <p:nvPr/>
        </p:nvSpPr>
        <p:spPr>
          <a:xfrm>
            <a:off x="395782" y="3629250"/>
            <a:ext cx="1337133" cy="78259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r>
              <a:rPr lang="en-IN" sz="1000" b="1" dirty="0"/>
              <a:t>EMAIL INGESTION SERVICE</a:t>
            </a:r>
          </a:p>
        </p:txBody>
      </p:sp>
      <p:sp>
        <p:nvSpPr>
          <p:cNvPr id="201" name="TypeLabel"/>
          <p:cNvSpPr/>
          <p:nvPr/>
        </p:nvSpPr>
        <p:spPr>
          <a:xfrm>
            <a:off x="527685" y="409021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9525">
            <a:solidFill>
              <a:srgbClr val="5B9BD5"/>
            </a:solidFill>
          </a:ln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800" i="1" dirty="0">
                <a:solidFill>
                  <a:srgbClr val="2B579A"/>
                </a:solidFill>
                <a:latin typeface="Segoe UI"/>
              </a:rPr>
              <a:t>Rules-driven</a:t>
            </a:r>
          </a:p>
        </p:txBody>
      </p:sp>
      <p:cxnSp>
        <p:nvCxnSpPr>
          <p:cNvPr id="9" name="ArrowUsersToGW">
            <a:extLst>
              <a:ext uri="{FF2B5EF4-FFF2-40B4-BE49-F238E27FC236}">
                <a16:creationId xmlns:a16="http://schemas.microsoft.com/office/drawing/2014/main" id="{D2B43603-FFCB-FC09-C643-0CE70D2A3364}"/>
              </a:ext>
            </a:extLst>
          </p:cNvPr>
          <p:cNvCxnSpPr>
            <a:cxnSpLocks/>
          </p:cNvCxnSpPr>
          <p:nvPr/>
        </p:nvCxnSpPr>
        <p:spPr>
          <a:xfrm>
            <a:off x="1107438" y="3222262"/>
            <a:ext cx="0" cy="406988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sp>
        <p:nvSpPr>
          <p:cNvPr id="13" name="FileIconsBar">
            <a:extLst>
              <a:ext uri="{FF2B5EF4-FFF2-40B4-BE49-F238E27FC236}">
                <a16:creationId xmlns:a16="http://schemas.microsoft.com/office/drawing/2014/main" id="{69CBAE53-8C2F-2F23-FCBC-D3A9469AB806}"/>
              </a:ext>
            </a:extLst>
          </p:cNvPr>
          <p:cNvSpPr/>
          <p:nvPr/>
        </p:nvSpPr>
        <p:spPr>
          <a:xfrm>
            <a:off x="2094673" y="2477767"/>
            <a:ext cx="577381" cy="21336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endParaRPr lang="en-IN" sz="800" dirty="0"/>
          </a:p>
          <a:p>
            <a:pPr algn="ctr"/>
            <a:endParaRPr lang="en-IN" sz="800" dirty="0"/>
          </a:p>
          <a:p>
            <a:pPr algn="ctr"/>
            <a:endParaRPr lang="en-IN" sz="800" dirty="0"/>
          </a:p>
          <a:p>
            <a:pPr algn="ctr"/>
            <a:endParaRPr lang="en-IN" sz="800" dirty="0"/>
          </a:p>
          <a:p>
            <a:pPr algn="ctr"/>
            <a:endParaRPr lang="en-IN" sz="800" dirty="0"/>
          </a:p>
          <a:p>
            <a:pPr algn="ctr"/>
            <a:endParaRPr lang="en-IN" sz="800" dirty="0"/>
          </a:p>
          <a:p>
            <a:pPr algn="ctr"/>
            <a:endParaRPr lang="en-IN" sz="800" dirty="0"/>
          </a:p>
          <a:p>
            <a:pPr algn="ctr"/>
            <a:r>
              <a:rPr lang="en-IN" sz="800" dirty="0"/>
              <a:t>AGENT GUARDRAILS</a:t>
            </a:r>
          </a:p>
        </p:txBody>
      </p:sp>
      <p:sp>
        <p:nvSpPr>
          <p:cNvPr id="16" name="FileIconsBar">
            <a:extLst>
              <a:ext uri="{FF2B5EF4-FFF2-40B4-BE49-F238E27FC236}">
                <a16:creationId xmlns:a16="http://schemas.microsoft.com/office/drawing/2014/main" id="{E13D4509-F305-3EDD-6927-3C061CD92EA2}"/>
              </a:ext>
            </a:extLst>
          </p:cNvPr>
          <p:cNvSpPr/>
          <p:nvPr/>
        </p:nvSpPr>
        <p:spPr>
          <a:xfrm>
            <a:off x="2851204" y="3487142"/>
            <a:ext cx="1592843" cy="62865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r>
              <a:rPr lang="en-IN" sz="1050" dirty="0"/>
              <a:t>Workflow Orchestration Agent [AI]</a:t>
            </a:r>
          </a:p>
        </p:txBody>
      </p:sp>
      <p:sp>
        <p:nvSpPr>
          <p:cNvPr id="18" name="FileIconsBar">
            <a:extLst>
              <a:ext uri="{FF2B5EF4-FFF2-40B4-BE49-F238E27FC236}">
                <a16:creationId xmlns:a16="http://schemas.microsoft.com/office/drawing/2014/main" id="{04C38E6D-74D5-94C2-7BCB-7BF08834509F}"/>
              </a:ext>
            </a:extLst>
          </p:cNvPr>
          <p:cNvSpPr/>
          <p:nvPr/>
        </p:nvSpPr>
        <p:spPr>
          <a:xfrm>
            <a:off x="2851204" y="1713363"/>
            <a:ext cx="1583153" cy="1466996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pPr algn="ctr"/>
            <a:r>
              <a:rPr lang="en-IN" sz="1050" dirty="0"/>
              <a:t>LLM Gateway Service</a:t>
            </a:r>
          </a:p>
        </p:txBody>
      </p:sp>
      <p:sp>
        <p:nvSpPr>
          <p:cNvPr id="19" name="FileIconsBar">
            <a:extLst>
              <a:ext uri="{FF2B5EF4-FFF2-40B4-BE49-F238E27FC236}">
                <a16:creationId xmlns:a16="http://schemas.microsoft.com/office/drawing/2014/main" id="{EC92BCB8-628D-8EF6-288C-5C2697E8C2C4}"/>
              </a:ext>
            </a:extLst>
          </p:cNvPr>
          <p:cNvSpPr/>
          <p:nvPr/>
        </p:nvSpPr>
        <p:spPr>
          <a:xfrm>
            <a:off x="3073373" y="2082790"/>
            <a:ext cx="1141517" cy="28300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r>
              <a:rPr lang="en-IN" sz="1050" dirty="0"/>
              <a:t>Model Selection</a:t>
            </a:r>
          </a:p>
        </p:txBody>
      </p:sp>
      <p:sp>
        <p:nvSpPr>
          <p:cNvPr id="21" name="FileIconsBar">
            <a:extLst>
              <a:ext uri="{FF2B5EF4-FFF2-40B4-BE49-F238E27FC236}">
                <a16:creationId xmlns:a16="http://schemas.microsoft.com/office/drawing/2014/main" id="{DCC25217-909F-5569-A483-1DB47A0D89C1}"/>
              </a:ext>
            </a:extLst>
          </p:cNvPr>
          <p:cNvSpPr/>
          <p:nvPr/>
        </p:nvSpPr>
        <p:spPr>
          <a:xfrm>
            <a:off x="3073373" y="2452218"/>
            <a:ext cx="1141517" cy="28300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r>
              <a:rPr lang="en-IN" sz="900" dirty="0"/>
              <a:t>Prompt Versioning</a:t>
            </a:r>
          </a:p>
        </p:txBody>
      </p:sp>
      <p:sp>
        <p:nvSpPr>
          <p:cNvPr id="22" name="FileIconsBar">
            <a:extLst>
              <a:ext uri="{FF2B5EF4-FFF2-40B4-BE49-F238E27FC236}">
                <a16:creationId xmlns:a16="http://schemas.microsoft.com/office/drawing/2014/main" id="{6AAB6F39-E407-972D-20A5-FAAF5492DBCF}"/>
              </a:ext>
            </a:extLst>
          </p:cNvPr>
          <p:cNvSpPr/>
          <p:nvPr/>
        </p:nvSpPr>
        <p:spPr>
          <a:xfrm>
            <a:off x="3073373" y="2775456"/>
            <a:ext cx="1141517" cy="33063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r>
              <a:rPr lang="en-IN" sz="800" dirty="0"/>
              <a:t>Rate Limiting + Failover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0C96B0-E56D-B4A0-F0FF-7AD91CFAEAEF}"/>
              </a:ext>
            </a:extLst>
          </p:cNvPr>
          <p:cNvCxnSpPr>
            <a:cxnSpLocks/>
          </p:cNvCxnSpPr>
          <p:nvPr/>
        </p:nvCxnSpPr>
        <p:spPr>
          <a:xfrm flipV="1">
            <a:off x="3733350" y="3180359"/>
            <a:ext cx="0" cy="30678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ileIconsBar">
            <a:extLst>
              <a:ext uri="{FF2B5EF4-FFF2-40B4-BE49-F238E27FC236}">
                <a16:creationId xmlns:a16="http://schemas.microsoft.com/office/drawing/2014/main" id="{EB3EA6BC-0D08-960A-1B34-28359B1FAF60}"/>
              </a:ext>
            </a:extLst>
          </p:cNvPr>
          <p:cNvSpPr/>
          <p:nvPr/>
        </p:nvSpPr>
        <p:spPr>
          <a:xfrm>
            <a:off x="4733584" y="1530350"/>
            <a:ext cx="4903061" cy="178435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pPr algn="ctr"/>
            <a:r>
              <a:rPr lang="en-IN" sz="1050" dirty="0"/>
              <a:t>SYSTEM AGENTS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C1EE60A-7DFC-2F3A-D030-F0D70DF8DA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53" y="1904703"/>
            <a:ext cx="257516" cy="257516"/>
          </a:xfrm>
          <a:prstGeom prst="rect">
            <a:avLst/>
          </a:prstGeom>
        </p:spPr>
      </p:pic>
      <p:sp>
        <p:nvSpPr>
          <p:cNvPr id="42" name="HttpsLabel">
            <a:extLst>
              <a:ext uri="{FF2B5EF4-FFF2-40B4-BE49-F238E27FC236}">
                <a16:creationId xmlns:a16="http://schemas.microsoft.com/office/drawing/2014/main" id="{7516042F-2C4A-F80E-66E8-C24AC98A045B}"/>
              </a:ext>
            </a:extLst>
          </p:cNvPr>
          <p:cNvSpPr/>
          <p:nvPr/>
        </p:nvSpPr>
        <p:spPr>
          <a:xfrm>
            <a:off x="4711220" y="2140630"/>
            <a:ext cx="796421" cy="337137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800" dirty="0"/>
              <a:t>Email Analysis Agent</a:t>
            </a:r>
            <a:endParaRPr lang="en-US" sz="65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43" name="FileIconsBar">
            <a:extLst>
              <a:ext uri="{FF2B5EF4-FFF2-40B4-BE49-F238E27FC236}">
                <a16:creationId xmlns:a16="http://schemas.microsoft.com/office/drawing/2014/main" id="{E6A2BFE8-A672-BC29-FEFF-3FDD0BE8234E}"/>
              </a:ext>
            </a:extLst>
          </p:cNvPr>
          <p:cNvSpPr/>
          <p:nvPr/>
        </p:nvSpPr>
        <p:spPr>
          <a:xfrm>
            <a:off x="5583028" y="1866603"/>
            <a:ext cx="1592843" cy="62865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r>
              <a:rPr lang="en-IN" sz="1050" dirty="0"/>
              <a:t>      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0D0AB3C-1E03-859F-ECFA-178A7C5635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980" y="1904703"/>
            <a:ext cx="127976" cy="12797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4B2F5D7-49E2-77C2-8BCD-D7C1C4A616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414" y="2067744"/>
            <a:ext cx="127976" cy="1279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158EB18-C921-F7A7-C16D-D9ED4D85CE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980" y="2301499"/>
            <a:ext cx="127976" cy="127976"/>
          </a:xfrm>
          <a:prstGeom prst="rect">
            <a:avLst/>
          </a:prstGeom>
        </p:spPr>
      </p:pic>
      <p:sp>
        <p:nvSpPr>
          <p:cNvPr id="49" name="HttpsLabel">
            <a:extLst>
              <a:ext uri="{FF2B5EF4-FFF2-40B4-BE49-F238E27FC236}">
                <a16:creationId xmlns:a16="http://schemas.microsoft.com/office/drawing/2014/main" id="{9AFC2BCE-462B-C140-E029-8A003DB97953}"/>
              </a:ext>
            </a:extLst>
          </p:cNvPr>
          <p:cNvSpPr/>
          <p:nvPr/>
        </p:nvSpPr>
        <p:spPr>
          <a:xfrm>
            <a:off x="5750390" y="1906974"/>
            <a:ext cx="1476433" cy="1334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Intent Classification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50" name="HttpsLabel">
            <a:extLst>
              <a:ext uri="{FF2B5EF4-FFF2-40B4-BE49-F238E27FC236}">
                <a16:creationId xmlns:a16="http://schemas.microsoft.com/office/drawing/2014/main" id="{CB0DF4EC-9940-C649-7D99-FE60717139C9}"/>
              </a:ext>
            </a:extLst>
          </p:cNvPr>
          <p:cNvSpPr/>
          <p:nvPr/>
        </p:nvSpPr>
        <p:spPr>
          <a:xfrm>
            <a:off x="5738824" y="2074528"/>
            <a:ext cx="1476433" cy="1334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Entity Extraction, Urgency Scoring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51" name="HttpsLabel">
            <a:extLst>
              <a:ext uri="{FF2B5EF4-FFF2-40B4-BE49-F238E27FC236}">
                <a16:creationId xmlns:a16="http://schemas.microsoft.com/office/drawing/2014/main" id="{831661CB-FC59-DE80-8774-9FA74BF18E21}"/>
              </a:ext>
            </a:extLst>
          </p:cNvPr>
          <p:cNvSpPr/>
          <p:nvPr/>
        </p:nvSpPr>
        <p:spPr>
          <a:xfrm>
            <a:off x="5738824" y="2266146"/>
            <a:ext cx="1476433" cy="173521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Sentiment Analysis, Confidence Scoring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pic>
        <p:nvPicPr>
          <p:cNvPr id="198" name="Picture 197">
            <a:extLst>
              <a:ext uri="{FF2B5EF4-FFF2-40B4-BE49-F238E27FC236}">
                <a16:creationId xmlns:a16="http://schemas.microsoft.com/office/drawing/2014/main" id="{E7F4E46C-44AC-781A-05C8-8ED0AB6191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478" y="1914228"/>
            <a:ext cx="257516" cy="257516"/>
          </a:xfrm>
          <a:prstGeom prst="rect">
            <a:avLst/>
          </a:prstGeom>
        </p:spPr>
      </p:pic>
      <p:sp>
        <p:nvSpPr>
          <p:cNvPr id="199" name="HttpsLabel">
            <a:extLst>
              <a:ext uri="{FF2B5EF4-FFF2-40B4-BE49-F238E27FC236}">
                <a16:creationId xmlns:a16="http://schemas.microsoft.com/office/drawing/2014/main" id="{D936954F-677A-AF84-1BD1-3C489C8777B7}"/>
              </a:ext>
            </a:extLst>
          </p:cNvPr>
          <p:cNvSpPr/>
          <p:nvPr/>
        </p:nvSpPr>
        <p:spPr>
          <a:xfrm>
            <a:off x="7159145" y="2150155"/>
            <a:ext cx="796421" cy="337137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800" dirty="0"/>
              <a:t>Comm. Drafting Agent</a:t>
            </a:r>
            <a:endParaRPr lang="en-US" sz="65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02" name="FileIconsBar">
            <a:extLst>
              <a:ext uri="{FF2B5EF4-FFF2-40B4-BE49-F238E27FC236}">
                <a16:creationId xmlns:a16="http://schemas.microsoft.com/office/drawing/2014/main" id="{AAA92EFB-9973-87C7-C8D1-D1AE8BEFD2C2}"/>
              </a:ext>
            </a:extLst>
          </p:cNvPr>
          <p:cNvSpPr/>
          <p:nvPr/>
        </p:nvSpPr>
        <p:spPr>
          <a:xfrm>
            <a:off x="7992853" y="1876128"/>
            <a:ext cx="1592843" cy="62865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r>
              <a:rPr lang="en-IN" sz="1050" dirty="0"/>
              <a:t>      </a:t>
            </a:r>
          </a:p>
        </p:txBody>
      </p:sp>
      <p:pic>
        <p:nvPicPr>
          <p:cNvPr id="203" name="Picture 202">
            <a:extLst>
              <a:ext uri="{FF2B5EF4-FFF2-40B4-BE49-F238E27FC236}">
                <a16:creationId xmlns:a16="http://schemas.microsoft.com/office/drawing/2014/main" id="{7D6A675E-1B7C-B034-8AEA-95F9764970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805" y="1914228"/>
            <a:ext cx="127976" cy="127976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E567AD33-77FD-E926-3728-706D52857A9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239" y="2077269"/>
            <a:ext cx="127976" cy="127976"/>
          </a:xfrm>
          <a:prstGeom prst="rect">
            <a:avLst/>
          </a:prstGeom>
        </p:spPr>
      </p:pic>
      <p:sp>
        <p:nvSpPr>
          <p:cNvPr id="205" name="HttpsLabel">
            <a:extLst>
              <a:ext uri="{FF2B5EF4-FFF2-40B4-BE49-F238E27FC236}">
                <a16:creationId xmlns:a16="http://schemas.microsoft.com/office/drawing/2014/main" id="{4C9AF9DC-891E-FC2A-6DBD-5C36122D3C19}"/>
              </a:ext>
            </a:extLst>
          </p:cNvPr>
          <p:cNvSpPr/>
          <p:nvPr/>
        </p:nvSpPr>
        <p:spPr>
          <a:xfrm>
            <a:off x="8160215" y="1916499"/>
            <a:ext cx="1476433" cy="1334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Acknowledgment Emails, Clarification Requests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06" name="HttpsLabel">
            <a:extLst>
              <a:ext uri="{FF2B5EF4-FFF2-40B4-BE49-F238E27FC236}">
                <a16:creationId xmlns:a16="http://schemas.microsoft.com/office/drawing/2014/main" id="{063325FD-10D3-6684-6C42-ADD7F42B9A0A}"/>
              </a:ext>
            </a:extLst>
          </p:cNvPr>
          <p:cNvSpPr/>
          <p:nvPr/>
        </p:nvSpPr>
        <p:spPr>
          <a:xfrm>
            <a:off x="8148649" y="2084053"/>
            <a:ext cx="1476433" cy="1334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Status Updates, Escalation Notices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07" name="HttpsLabel">
            <a:extLst>
              <a:ext uri="{FF2B5EF4-FFF2-40B4-BE49-F238E27FC236}">
                <a16:creationId xmlns:a16="http://schemas.microsoft.com/office/drawing/2014/main" id="{1542C088-1031-65FC-B494-23316B2A8697}"/>
              </a:ext>
            </a:extLst>
          </p:cNvPr>
          <p:cNvSpPr/>
          <p:nvPr/>
        </p:nvSpPr>
        <p:spPr>
          <a:xfrm>
            <a:off x="8148649" y="2275671"/>
            <a:ext cx="1476433" cy="1334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Resolution Messages, Reopen Acks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pic>
        <p:nvPicPr>
          <p:cNvPr id="208" name="Picture 207">
            <a:extLst>
              <a:ext uri="{FF2B5EF4-FFF2-40B4-BE49-F238E27FC236}">
                <a16:creationId xmlns:a16="http://schemas.microsoft.com/office/drawing/2014/main" id="{E1E07D48-9B48-13C7-C09A-BD9DB29DC2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668" y="2275449"/>
            <a:ext cx="127976" cy="127976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6251BCBE-5C06-C7EC-10BB-D856D81FBE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820" y="2639731"/>
            <a:ext cx="257516" cy="257516"/>
          </a:xfrm>
          <a:prstGeom prst="rect">
            <a:avLst/>
          </a:prstGeom>
        </p:spPr>
      </p:pic>
      <p:sp>
        <p:nvSpPr>
          <p:cNvPr id="214" name="HttpsLabel">
            <a:extLst>
              <a:ext uri="{FF2B5EF4-FFF2-40B4-BE49-F238E27FC236}">
                <a16:creationId xmlns:a16="http://schemas.microsoft.com/office/drawing/2014/main" id="{98D6BBB1-FB37-2512-525F-6AA956B78AB5}"/>
              </a:ext>
            </a:extLst>
          </p:cNvPr>
          <p:cNvSpPr/>
          <p:nvPr/>
        </p:nvSpPr>
        <p:spPr>
          <a:xfrm>
            <a:off x="4725487" y="2886874"/>
            <a:ext cx="796421" cy="211621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800" dirty="0"/>
              <a:t>Resolver Agent</a:t>
            </a:r>
            <a:endParaRPr lang="en-US" sz="65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15" name="FileIconsBar">
            <a:extLst>
              <a:ext uri="{FF2B5EF4-FFF2-40B4-BE49-F238E27FC236}">
                <a16:creationId xmlns:a16="http://schemas.microsoft.com/office/drawing/2014/main" id="{6007B601-0FEC-DDC3-1F43-0A8D15799DC5}"/>
              </a:ext>
            </a:extLst>
          </p:cNvPr>
          <p:cNvSpPr/>
          <p:nvPr/>
        </p:nvSpPr>
        <p:spPr>
          <a:xfrm>
            <a:off x="5559195" y="2601631"/>
            <a:ext cx="1592843" cy="62865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r>
              <a:rPr lang="en-IN" sz="1050" dirty="0"/>
              <a:t>      </a:t>
            </a:r>
          </a:p>
        </p:txBody>
      </p:sp>
      <p:pic>
        <p:nvPicPr>
          <p:cNvPr id="216" name="Picture 215">
            <a:extLst>
              <a:ext uri="{FF2B5EF4-FFF2-40B4-BE49-F238E27FC236}">
                <a16:creationId xmlns:a16="http://schemas.microsoft.com/office/drawing/2014/main" id="{E50CAB40-12E4-A457-725B-97E1B6EE69F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147" y="2639731"/>
            <a:ext cx="127976" cy="127976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852842B6-C84B-9A47-CAD1-5A4FAC980F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581" y="2802772"/>
            <a:ext cx="127976" cy="127976"/>
          </a:xfrm>
          <a:prstGeom prst="rect">
            <a:avLst/>
          </a:prstGeom>
        </p:spPr>
      </p:pic>
      <p:sp>
        <p:nvSpPr>
          <p:cNvPr id="218" name="HttpsLabel">
            <a:extLst>
              <a:ext uri="{FF2B5EF4-FFF2-40B4-BE49-F238E27FC236}">
                <a16:creationId xmlns:a16="http://schemas.microsoft.com/office/drawing/2014/main" id="{21C7C872-1595-2796-7CF2-925D7ADA3248}"/>
              </a:ext>
            </a:extLst>
          </p:cNvPr>
          <p:cNvSpPr/>
          <p:nvPr/>
        </p:nvSpPr>
        <p:spPr>
          <a:xfrm>
            <a:off x="5726557" y="2642002"/>
            <a:ext cx="1476433" cy="1334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Vector Search, Vendor Snapshot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19" name="HttpsLabel">
            <a:extLst>
              <a:ext uri="{FF2B5EF4-FFF2-40B4-BE49-F238E27FC236}">
                <a16:creationId xmlns:a16="http://schemas.microsoft.com/office/drawing/2014/main" id="{613F4CA6-2248-EA8F-EDC6-65528868ECD1}"/>
              </a:ext>
            </a:extLst>
          </p:cNvPr>
          <p:cNvSpPr/>
          <p:nvPr/>
        </p:nvSpPr>
        <p:spPr>
          <a:xfrm>
            <a:off x="5714991" y="2809556"/>
            <a:ext cx="1476433" cy="1334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Ticket History, KB Articles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21" name="HttpsLabel">
            <a:extLst>
              <a:ext uri="{FF2B5EF4-FFF2-40B4-BE49-F238E27FC236}">
                <a16:creationId xmlns:a16="http://schemas.microsoft.com/office/drawing/2014/main" id="{95F09E9E-2ADF-58CF-30EA-905F4B1F279E}"/>
              </a:ext>
            </a:extLst>
          </p:cNvPr>
          <p:cNvSpPr/>
          <p:nvPr/>
        </p:nvSpPr>
        <p:spPr>
          <a:xfrm>
            <a:off x="5714991" y="3001174"/>
            <a:ext cx="1476433" cy="1334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/>
              <a:t>Similar Past Cases, Draft Response Options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pic>
        <p:nvPicPr>
          <p:cNvPr id="222" name="Picture 221">
            <a:extLst>
              <a:ext uri="{FF2B5EF4-FFF2-40B4-BE49-F238E27FC236}">
                <a16:creationId xmlns:a16="http://schemas.microsoft.com/office/drawing/2014/main" id="{49A17F4F-3E58-8611-F40B-16E8B4522B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581" y="2981699"/>
            <a:ext cx="127976" cy="127976"/>
          </a:xfrm>
          <a:prstGeom prst="rect">
            <a:avLst/>
          </a:prstGeom>
        </p:spPr>
      </p:pic>
      <p:sp>
        <p:nvSpPr>
          <p:cNvPr id="223" name="FileIconsBar">
            <a:extLst>
              <a:ext uri="{FF2B5EF4-FFF2-40B4-BE49-F238E27FC236}">
                <a16:creationId xmlns:a16="http://schemas.microsoft.com/office/drawing/2014/main" id="{8775FEA5-CD4B-89CC-5BA7-1EFD6B5E2D05}"/>
              </a:ext>
            </a:extLst>
          </p:cNvPr>
          <p:cNvSpPr/>
          <p:nvPr/>
        </p:nvSpPr>
        <p:spPr>
          <a:xfrm>
            <a:off x="4682645" y="3535710"/>
            <a:ext cx="4925425" cy="1701297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pPr algn="ctr"/>
            <a:endParaRPr lang="en-IN" sz="1050" dirty="0"/>
          </a:p>
        </p:txBody>
      </p:sp>
      <p:sp>
        <p:nvSpPr>
          <p:cNvPr id="224" name="FileIconsBar">
            <a:extLst>
              <a:ext uri="{FF2B5EF4-FFF2-40B4-BE49-F238E27FC236}">
                <a16:creationId xmlns:a16="http://schemas.microsoft.com/office/drawing/2014/main" id="{81B46190-52D5-05A8-C5DB-048FB6843627}"/>
              </a:ext>
            </a:extLst>
          </p:cNvPr>
          <p:cNvSpPr/>
          <p:nvPr/>
        </p:nvSpPr>
        <p:spPr>
          <a:xfrm>
            <a:off x="4751787" y="3745088"/>
            <a:ext cx="1592843" cy="14154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r>
              <a:rPr lang="en-IN" sz="1050"/>
              <a:t>Data Services</a:t>
            </a:r>
            <a:endParaRPr lang="en-IN" sz="1050" dirty="0"/>
          </a:p>
        </p:txBody>
      </p:sp>
      <p:sp>
        <p:nvSpPr>
          <p:cNvPr id="225" name="FileIconsBar">
            <a:extLst>
              <a:ext uri="{FF2B5EF4-FFF2-40B4-BE49-F238E27FC236}">
                <a16:creationId xmlns:a16="http://schemas.microsoft.com/office/drawing/2014/main" id="{C4BDA486-AAD3-5EF2-CD85-DD40598D52B0}"/>
              </a:ext>
            </a:extLst>
          </p:cNvPr>
          <p:cNvSpPr/>
          <p:nvPr/>
        </p:nvSpPr>
        <p:spPr>
          <a:xfrm>
            <a:off x="6448164" y="3745089"/>
            <a:ext cx="1592843" cy="14154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r>
              <a:rPr lang="en-IN" sz="1050" dirty="0"/>
              <a:t>Operations Services</a:t>
            </a:r>
          </a:p>
        </p:txBody>
      </p:sp>
      <p:sp>
        <p:nvSpPr>
          <p:cNvPr id="227" name="FileIconsBar">
            <a:extLst>
              <a:ext uri="{FF2B5EF4-FFF2-40B4-BE49-F238E27FC236}">
                <a16:creationId xmlns:a16="http://schemas.microsoft.com/office/drawing/2014/main" id="{3E90C765-4C59-CA21-FAA1-2C5E6F0D2295}"/>
              </a:ext>
            </a:extLst>
          </p:cNvPr>
          <p:cNvSpPr/>
          <p:nvPr/>
        </p:nvSpPr>
        <p:spPr>
          <a:xfrm>
            <a:off x="8143206" y="3734122"/>
            <a:ext cx="1413915" cy="14154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r>
              <a:rPr lang="en-IN" sz="1050" dirty="0"/>
              <a:t>Decision Outputs</a:t>
            </a:r>
          </a:p>
        </p:txBody>
      </p:sp>
      <p:sp>
        <p:nvSpPr>
          <p:cNvPr id="229" name="HttpsLabel">
            <a:extLst>
              <a:ext uri="{FF2B5EF4-FFF2-40B4-BE49-F238E27FC236}">
                <a16:creationId xmlns:a16="http://schemas.microsoft.com/office/drawing/2014/main" id="{6C176DF4-132B-35B3-E89A-228C41D5F9A2}"/>
              </a:ext>
            </a:extLst>
          </p:cNvPr>
          <p:cNvSpPr/>
          <p:nvPr/>
        </p:nvSpPr>
        <p:spPr>
          <a:xfrm>
            <a:off x="4742262" y="4026884"/>
            <a:ext cx="774057" cy="510448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Vendor Resolution Service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32" name="HttpsLabel">
            <a:extLst>
              <a:ext uri="{FF2B5EF4-FFF2-40B4-BE49-F238E27FC236}">
                <a16:creationId xmlns:a16="http://schemas.microsoft.com/office/drawing/2014/main" id="{3F46ADCA-31D2-C3F2-563E-C97A3CC6793B}"/>
              </a:ext>
            </a:extLst>
          </p:cNvPr>
          <p:cNvSpPr/>
          <p:nvPr/>
        </p:nvSpPr>
        <p:spPr>
          <a:xfrm>
            <a:off x="5502420" y="4006979"/>
            <a:ext cx="774057" cy="5303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/>
              <a:t>(3-step Salesforce cascade: Email Match → Vendor ID Match → Fuzzy Name Match)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33" name="HttpsLabel">
            <a:extLst>
              <a:ext uri="{FF2B5EF4-FFF2-40B4-BE49-F238E27FC236}">
                <a16:creationId xmlns:a16="http://schemas.microsoft.com/office/drawing/2014/main" id="{1F8C5D96-A4B5-6567-0F71-627054A2EF2D}"/>
              </a:ext>
            </a:extLst>
          </p:cNvPr>
          <p:cNvSpPr/>
          <p:nvPr/>
        </p:nvSpPr>
        <p:spPr>
          <a:xfrm>
            <a:off x="4772991" y="4593704"/>
            <a:ext cx="774057" cy="510448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Memory &amp; Context Service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34" name="HttpsLabel">
            <a:extLst>
              <a:ext uri="{FF2B5EF4-FFF2-40B4-BE49-F238E27FC236}">
                <a16:creationId xmlns:a16="http://schemas.microsoft.com/office/drawing/2014/main" id="{3D62CF5A-4FAB-7EF5-32DE-1BFDB75EA0D8}"/>
              </a:ext>
            </a:extLst>
          </p:cNvPr>
          <p:cNvSpPr/>
          <p:nvPr/>
        </p:nvSpPr>
        <p:spPr>
          <a:xfrm>
            <a:off x="5523624" y="4540261"/>
            <a:ext cx="774057" cy="5303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/>
              <a:t>(Short-term, Long-term, Episodic, Agent State)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35" name="HttpsLabel">
            <a:extLst>
              <a:ext uri="{FF2B5EF4-FFF2-40B4-BE49-F238E27FC236}">
                <a16:creationId xmlns:a16="http://schemas.microsoft.com/office/drawing/2014/main" id="{37DC05D2-ECE2-E3E2-448D-D0955DE3BAF9}"/>
              </a:ext>
            </a:extLst>
          </p:cNvPr>
          <p:cNvSpPr/>
          <p:nvPr/>
        </p:nvSpPr>
        <p:spPr>
          <a:xfrm>
            <a:off x="6400358" y="4016931"/>
            <a:ext cx="774057" cy="510448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Ticket Operations Service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37" name="HttpsLabel">
            <a:extLst>
              <a:ext uri="{FF2B5EF4-FFF2-40B4-BE49-F238E27FC236}">
                <a16:creationId xmlns:a16="http://schemas.microsoft.com/office/drawing/2014/main" id="{D6BECC1C-8DC6-7C19-EF99-8E9690D8B43C}"/>
              </a:ext>
            </a:extLst>
          </p:cNvPr>
          <p:cNvSpPr/>
          <p:nvPr/>
        </p:nvSpPr>
        <p:spPr>
          <a:xfrm>
            <a:off x="7250936" y="4034588"/>
            <a:ext cx="774057" cy="5303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/>
              <a:t>(ServiceNow CRUD, State Transitions, SLA Clocks, Idempotent)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38" name="HttpsLabel">
            <a:extLst>
              <a:ext uri="{FF2B5EF4-FFF2-40B4-BE49-F238E27FC236}">
                <a16:creationId xmlns:a16="http://schemas.microsoft.com/office/drawing/2014/main" id="{285DA0F1-194B-F0B9-079D-54C7D9B30FA1}"/>
              </a:ext>
            </a:extLst>
          </p:cNvPr>
          <p:cNvSpPr/>
          <p:nvPr/>
        </p:nvSpPr>
        <p:spPr>
          <a:xfrm>
            <a:off x="6409883" y="4578906"/>
            <a:ext cx="774057" cy="510448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Quality &amp; Governance Gate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39" name="HttpsLabel">
            <a:extLst>
              <a:ext uri="{FF2B5EF4-FFF2-40B4-BE49-F238E27FC236}">
                <a16:creationId xmlns:a16="http://schemas.microsoft.com/office/drawing/2014/main" id="{1C243805-1D4F-5C13-FB7C-BF926610BCEF}"/>
              </a:ext>
            </a:extLst>
          </p:cNvPr>
          <p:cNvSpPr/>
          <p:nvPr/>
        </p:nvSpPr>
        <p:spPr>
          <a:xfrm>
            <a:off x="7231886" y="4558463"/>
            <a:ext cx="774057" cy="53035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/>
              <a:t>(5 checks: Ticket #, SLA wording, Template, PII, Auto-send)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40" name="HttpsLabel">
            <a:extLst>
              <a:ext uri="{FF2B5EF4-FFF2-40B4-BE49-F238E27FC236}">
                <a16:creationId xmlns:a16="http://schemas.microsoft.com/office/drawing/2014/main" id="{6CA245C1-112E-49F0-00DF-8B9BE0AC90F3}"/>
              </a:ext>
            </a:extLst>
          </p:cNvPr>
          <p:cNvSpPr/>
          <p:nvPr/>
        </p:nvSpPr>
        <p:spPr>
          <a:xfrm>
            <a:off x="8188823" y="4156137"/>
            <a:ext cx="1298077" cy="236658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600" dirty="0"/>
              <a:t>AUTO-SEND path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41" name="HttpsLabel">
            <a:extLst>
              <a:ext uri="{FF2B5EF4-FFF2-40B4-BE49-F238E27FC236}">
                <a16:creationId xmlns:a16="http://schemas.microsoft.com/office/drawing/2014/main" id="{5BA24B51-A4DD-0AD9-199A-4FDCBF9FFE3F}"/>
              </a:ext>
            </a:extLst>
          </p:cNvPr>
          <p:cNvSpPr/>
          <p:nvPr/>
        </p:nvSpPr>
        <p:spPr>
          <a:xfrm>
            <a:off x="8209251" y="4405510"/>
            <a:ext cx="1298077" cy="236658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/>
              <a:t>STAGE FOR HUMAN REVIEW path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42" name="HttpsLabel">
            <a:extLst>
              <a:ext uri="{FF2B5EF4-FFF2-40B4-BE49-F238E27FC236}">
                <a16:creationId xmlns:a16="http://schemas.microsoft.com/office/drawing/2014/main" id="{F6EFADE9-1055-1471-FF5E-91D2D5CAE50D}"/>
              </a:ext>
            </a:extLst>
          </p:cNvPr>
          <p:cNvSpPr/>
          <p:nvPr/>
        </p:nvSpPr>
        <p:spPr>
          <a:xfrm>
            <a:off x="8188823" y="4692471"/>
            <a:ext cx="1298077" cy="236658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US" sz="600" dirty="0"/>
              <a:t>Confidence threshold gate: ≥ 0.75 = Auto, &lt; 0.75 = Human Triage</a:t>
            </a:r>
            <a:endParaRPr lang="en-US" sz="600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243" name="FileIconsBar">
            <a:extLst>
              <a:ext uri="{FF2B5EF4-FFF2-40B4-BE49-F238E27FC236}">
                <a16:creationId xmlns:a16="http://schemas.microsoft.com/office/drawing/2014/main" id="{3B4EEB0D-7703-F1BD-7421-1BCC99AF96DF}"/>
              </a:ext>
            </a:extLst>
          </p:cNvPr>
          <p:cNvSpPr/>
          <p:nvPr/>
        </p:nvSpPr>
        <p:spPr>
          <a:xfrm>
            <a:off x="10266115" y="1292637"/>
            <a:ext cx="488239" cy="202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endParaRPr lang="en-IN" sz="1050" dirty="0"/>
          </a:p>
        </p:txBody>
      </p:sp>
      <p:pic>
        <p:nvPicPr>
          <p:cNvPr id="245" name="Picture 244">
            <a:extLst>
              <a:ext uri="{FF2B5EF4-FFF2-40B4-BE49-F238E27FC236}">
                <a16:creationId xmlns:a16="http://schemas.microsoft.com/office/drawing/2014/main" id="{1B3F3142-6782-805F-15F1-1A1E64BBB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34627" y="1367698"/>
            <a:ext cx="346703" cy="346703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B7959997-93FF-21D4-DBE0-1F6AA3F47F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25993" y="2099180"/>
            <a:ext cx="378587" cy="378587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0F26F595-7895-4D2E-4905-111CB0E0CE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37713" y="2897247"/>
            <a:ext cx="354019" cy="354019"/>
          </a:xfrm>
          <a:prstGeom prst="rect">
            <a:avLst/>
          </a:prstGeom>
        </p:spPr>
      </p:pic>
      <p:sp>
        <p:nvSpPr>
          <p:cNvPr id="250" name="FileIconsBar">
            <a:extLst>
              <a:ext uri="{FF2B5EF4-FFF2-40B4-BE49-F238E27FC236}">
                <a16:creationId xmlns:a16="http://schemas.microsoft.com/office/drawing/2014/main" id="{22F94DFD-F670-BF61-4746-CE75016EE357}"/>
              </a:ext>
            </a:extLst>
          </p:cNvPr>
          <p:cNvSpPr/>
          <p:nvPr/>
        </p:nvSpPr>
        <p:spPr>
          <a:xfrm>
            <a:off x="10273779" y="3441774"/>
            <a:ext cx="488239" cy="202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endParaRPr lang="en-IN" sz="1050" dirty="0"/>
          </a:p>
        </p:txBody>
      </p:sp>
      <p:pic>
        <p:nvPicPr>
          <p:cNvPr id="252" name="Picture 251">
            <a:extLst>
              <a:ext uri="{FF2B5EF4-FFF2-40B4-BE49-F238E27FC236}">
                <a16:creationId xmlns:a16="http://schemas.microsoft.com/office/drawing/2014/main" id="{FF4178DB-1877-7335-9EE4-D87AA57ED3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905" y="3479380"/>
            <a:ext cx="427633" cy="427633"/>
          </a:xfrm>
          <a:prstGeom prst="rect">
            <a:avLst/>
          </a:prstGeom>
        </p:spPr>
      </p:pic>
      <p:pic>
        <p:nvPicPr>
          <p:cNvPr id="254" name="Graphic 253">
            <a:extLst>
              <a:ext uri="{FF2B5EF4-FFF2-40B4-BE49-F238E27FC236}">
                <a16:creationId xmlns:a16="http://schemas.microsoft.com/office/drawing/2014/main" id="{1EB7A71E-72AC-FA73-8C03-6586C35E376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76148" y="4082305"/>
            <a:ext cx="503911" cy="73832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F371E5A6-C160-290A-27B3-84931F5F908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32" y="4196842"/>
            <a:ext cx="391906" cy="391906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EA6D1291-7543-A556-F324-78BB651D799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538" y="5061453"/>
            <a:ext cx="404880" cy="351107"/>
          </a:xfrm>
          <a:prstGeom prst="rect">
            <a:avLst/>
          </a:prstGeom>
        </p:spPr>
      </p:pic>
      <p:sp>
        <p:nvSpPr>
          <p:cNvPr id="262" name="FileIconsBar">
            <a:extLst>
              <a:ext uri="{FF2B5EF4-FFF2-40B4-BE49-F238E27FC236}">
                <a16:creationId xmlns:a16="http://schemas.microsoft.com/office/drawing/2014/main" id="{AAD69D5B-E682-2BEB-0396-251FC998D127}"/>
              </a:ext>
            </a:extLst>
          </p:cNvPr>
          <p:cNvSpPr/>
          <p:nvPr/>
        </p:nvSpPr>
        <p:spPr>
          <a:xfrm>
            <a:off x="6750560" y="5631364"/>
            <a:ext cx="1183766" cy="43674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endParaRPr lang="en-IN" sz="1050" dirty="0"/>
          </a:p>
        </p:txBody>
      </p:sp>
      <p:pic>
        <p:nvPicPr>
          <p:cNvPr id="266" name="Picture 265">
            <a:extLst>
              <a:ext uri="{FF2B5EF4-FFF2-40B4-BE49-F238E27FC236}">
                <a16:creationId xmlns:a16="http://schemas.microsoft.com/office/drawing/2014/main" id="{46B1A6AB-A10B-9CB9-0DA0-10F59FD467E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278" y="5684227"/>
            <a:ext cx="324933" cy="324933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BEF2218B-7722-348A-D759-E3670D1C422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369" y="5669310"/>
            <a:ext cx="340082" cy="340082"/>
          </a:xfrm>
          <a:prstGeom prst="rect">
            <a:avLst/>
          </a:prstGeom>
        </p:spPr>
      </p:pic>
      <p:sp>
        <p:nvSpPr>
          <p:cNvPr id="269" name="FileIconsBar">
            <a:extLst>
              <a:ext uri="{FF2B5EF4-FFF2-40B4-BE49-F238E27FC236}">
                <a16:creationId xmlns:a16="http://schemas.microsoft.com/office/drawing/2014/main" id="{1B7DC607-0B2D-2DA8-9D1D-E0CD06F4BE22}"/>
              </a:ext>
            </a:extLst>
          </p:cNvPr>
          <p:cNvSpPr/>
          <p:nvPr/>
        </p:nvSpPr>
        <p:spPr>
          <a:xfrm>
            <a:off x="2332409" y="5624829"/>
            <a:ext cx="1629991" cy="43674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/>
          <a:lstStyle/>
          <a:p>
            <a:pPr algn="ctr"/>
            <a:endParaRPr lang="en-IN" sz="1050" dirty="0"/>
          </a:p>
        </p:txBody>
      </p:sp>
      <p:pic>
        <p:nvPicPr>
          <p:cNvPr id="271" name="Picture 270">
            <a:extLst>
              <a:ext uri="{FF2B5EF4-FFF2-40B4-BE49-F238E27FC236}">
                <a16:creationId xmlns:a16="http://schemas.microsoft.com/office/drawing/2014/main" id="{F20BF019-F7C7-424D-C02F-82E39A771B6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22592" y="5678835"/>
            <a:ext cx="315610" cy="315610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65BA5F41-AEB9-9215-0612-577E650314E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36929" y="5678835"/>
            <a:ext cx="320620" cy="320620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59ED60BE-D211-0E0D-5450-79A9410B77F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76625" y="5678835"/>
            <a:ext cx="323847" cy="323847"/>
          </a:xfrm>
          <a:prstGeom prst="rect">
            <a:avLst/>
          </a:prstGeom>
        </p:spPr>
      </p:pic>
      <p:sp>
        <p:nvSpPr>
          <p:cNvPr id="276" name="FileIconsBar">
            <a:extLst>
              <a:ext uri="{FF2B5EF4-FFF2-40B4-BE49-F238E27FC236}">
                <a16:creationId xmlns:a16="http://schemas.microsoft.com/office/drawing/2014/main" id="{B06D9C1B-52D8-9E22-0A1F-D259AB695D4D}"/>
              </a:ext>
            </a:extLst>
          </p:cNvPr>
          <p:cNvSpPr/>
          <p:nvPr/>
        </p:nvSpPr>
        <p:spPr>
          <a:xfrm>
            <a:off x="10902385" y="2333954"/>
            <a:ext cx="1036959" cy="2186117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pPr algn="ctr"/>
            <a:r>
              <a:rPr lang="en-IN" sz="1050" dirty="0"/>
              <a:t>Monitoring</a:t>
            </a:r>
          </a:p>
        </p:txBody>
      </p:sp>
      <p:pic>
        <p:nvPicPr>
          <p:cNvPr id="278" name="Picture 277">
            <a:extLst>
              <a:ext uri="{FF2B5EF4-FFF2-40B4-BE49-F238E27FC236}">
                <a16:creationId xmlns:a16="http://schemas.microsoft.com/office/drawing/2014/main" id="{A0D7AF81-799A-11B9-A1F6-7F1B53A0E7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26158" y="2916819"/>
            <a:ext cx="409189" cy="409189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2588E3EE-74A2-44B0-E326-859E71B143D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96675" y="3878800"/>
            <a:ext cx="413157" cy="413157"/>
          </a:xfrm>
          <a:prstGeom prst="rect">
            <a:avLst/>
          </a:prstGeom>
        </p:spPr>
      </p:pic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A5DAFE67-F0BA-F15B-FFFF-1DE2E8B89AC5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901824" y="2830965"/>
            <a:ext cx="1928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4" name="ArrowUsersToGW">
            <a:extLst>
              <a:ext uri="{FF2B5EF4-FFF2-40B4-BE49-F238E27FC236}">
                <a16:creationId xmlns:a16="http://schemas.microsoft.com/office/drawing/2014/main" id="{D7BDB42E-636A-DC32-33CE-EE534A787FBD}"/>
              </a:ext>
            </a:extLst>
          </p:cNvPr>
          <p:cNvCxnSpPr>
            <a:cxnSpLocks/>
          </p:cNvCxnSpPr>
          <p:nvPr/>
        </p:nvCxnSpPr>
        <p:spPr>
          <a:xfrm>
            <a:off x="1732915" y="4016931"/>
            <a:ext cx="361758" cy="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  <p:cxnSp>
        <p:nvCxnSpPr>
          <p:cNvPr id="400" name="WO_Bracket_H"/>
          <p:cNvCxnSpPr/>
          <p:nvPr/>
        </p:nvCxnSpPr>
        <p:spPr>
          <a:xfrm>
            <a:off x="4445000" y="3797300"/>
            <a:ext cx="139700" cy="0"/>
          </a:xfrm>
          <a:prstGeom prst="straightConnector1">
            <a:avLst/>
          </a:prstGeom>
          <a:ln w="12700">
            <a:solidFill>
              <a:srgbClr val="333333"/>
            </a:solidFill>
            <a:headEnd type="none"/>
            <a:tailEnd type="none"/>
          </a:ln>
        </p:spPr>
      </p:cxnSp>
      <p:cxnSp>
        <p:nvCxnSpPr>
          <p:cNvPr id="401" name="WO_Bracket_V"/>
          <p:cNvCxnSpPr/>
          <p:nvPr/>
        </p:nvCxnSpPr>
        <p:spPr>
          <a:xfrm>
            <a:off x="4584700" y="2425700"/>
            <a:ext cx="0" cy="1917700"/>
          </a:xfrm>
          <a:prstGeom prst="straightConnector1">
            <a:avLst/>
          </a:prstGeom>
          <a:ln w="12700">
            <a:solidFill>
              <a:srgbClr val="333333"/>
            </a:solidFill>
            <a:headEnd type="none"/>
            <a:tailEnd type="none"/>
          </a:ln>
        </p:spPr>
      </p:cxnSp>
      <p:cxnSp>
        <p:nvCxnSpPr>
          <p:cNvPr id="402" name="Arrow_To_SystemAgents"/>
          <p:cNvCxnSpPr/>
          <p:nvPr/>
        </p:nvCxnSpPr>
        <p:spPr>
          <a:xfrm>
            <a:off x="4584700" y="2425700"/>
            <a:ext cx="152400" cy="0"/>
          </a:xfrm>
          <a:prstGeom prst="straightConnector1">
            <a:avLst/>
          </a:prstGeom>
          <a:ln w="12700">
            <a:solidFill>
              <a:srgbClr val="333333"/>
            </a:solidFill>
            <a:headEnd type="none"/>
            <a:tailEnd type="triangle" w="med" len="med"/>
          </a:ln>
        </p:spPr>
      </p:cxnSp>
      <p:cxnSp>
        <p:nvCxnSpPr>
          <p:cNvPr id="403" name="Arrow_To_SpecializedServices"/>
          <p:cNvCxnSpPr/>
          <p:nvPr/>
        </p:nvCxnSpPr>
        <p:spPr>
          <a:xfrm>
            <a:off x="4584700" y="4343400"/>
            <a:ext cx="101600" cy="0"/>
          </a:xfrm>
          <a:prstGeom prst="straightConnector1">
            <a:avLst/>
          </a:prstGeom>
          <a:ln w="12700">
            <a:solidFill>
              <a:srgbClr val="333333"/>
            </a:solidFill>
            <a:headEnd type="none"/>
            <a:tailEnd type="triangle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707906-42BD-6F9D-EB07-551575F29B6D}"/>
              </a:ext>
            </a:extLst>
          </p:cNvPr>
          <p:cNvCxnSpPr>
            <a:cxnSpLocks/>
          </p:cNvCxnSpPr>
          <p:nvPr/>
        </p:nvCxnSpPr>
        <p:spPr>
          <a:xfrm flipV="1">
            <a:off x="6276477" y="3295651"/>
            <a:ext cx="0" cy="2400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HttpsLabel">
            <a:extLst>
              <a:ext uri="{FF2B5EF4-FFF2-40B4-BE49-F238E27FC236}">
                <a16:creationId xmlns:a16="http://schemas.microsoft.com/office/drawing/2014/main" id="{D32CE87D-C07E-DCDC-E469-DF6DC2BEA5B6}"/>
              </a:ext>
            </a:extLst>
          </p:cNvPr>
          <p:cNvSpPr/>
          <p:nvPr/>
        </p:nvSpPr>
        <p:spPr>
          <a:xfrm>
            <a:off x="6362723" y="3548481"/>
            <a:ext cx="1592843" cy="178793"/>
          </a:xfrm>
          <a:prstGeom prst="rect">
            <a:avLst/>
          </a:prstGeom>
          <a:noFill/>
          <a:ln>
            <a:noFill/>
          </a:ln>
        </p:spPr>
        <p:txBody>
          <a:bodyPr lIns="45720" tIns="36576" rIns="45720" bIns="36576" anchor="ctr"/>
          <a:lstStyle/>
          <a:p>
            <a:pPr algn="ctr">
              <a:buNone/>
            </a:pPr>
            <a:r>
              <a:rPr lang="en-IN" sz="1000" dirty="0"/>
              <a:t>Specialized Services Zone</a:t>
            </a:r>
            <a:endParaRPr lang="en-US" sz="1000" dirty="0">
              <a:solidFill>
                <a:srgbClr val="333333"/>
              </a:solidFill>
              <a:latin typeface="Segoe UI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A804AA-19F1-81B4-3B08-274028705EC9}"/>
              </a:ext>
            </a:extLst>
          </p:cNvPr>
          <p:cNvCxnSpPr>
            <a:cxnSpLocks/>
          </p:cNvCxnSpPr>
          <p:nvPr/>
        </p:nvCxnSpPr>
        <p:spPr>
          <a:xfrm flipV="1">
            <a:off x="8286252" y="3308970"/>
            <a:ext cx="0" cy="2400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600B22-5046-C78C-58DC-8321AB3952A5}"/>
              </a:ext>
            </a:extLst>
          </p:cNvPr>
          <p:cNvCxnSpPr>
            <a:cxnSpLocks/>
          </p:cNvCxnSpPr>
          <p:nvPr/>
        </p:nvCxnSpPr>
        <p:spPr>
          <a:xfrm flipV="1">
            <a:off x="3361827" y="5337795"/>
            <a:ext cx="0" cy="3105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E08E4B1-C228-F808-9017-162029D5BB5F}"/>
              </a:ext>
            </a:extLst>
          </p:cNvPr>
          <p:cNvCxnSpPr>
            <a:cxnSpLocks/>
          </p:cNvCxnSpPr>
          <p:nvPr/>
        </p:nvCxnSpPr>
        <p:spPr>
          <a:xfrm flipV="1">
            <a:off x="7408980" y="5327650"/>
            <a:ext cx="0" cy="3105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8D658FD-E1B1-0453-5D4B-72EA2093FE41}"/>
              </a:ext>
            </a:extLst>
          </p:cNvPr>
          <p:cNvCxnSpPr>
            <a:cxnSpLocks/>
            <a:stCxn id="243" idx="1"/>
          </p:cNvCxnSpPr>
          <p:nvPr/>
        </p:nvCxnSpPr>
        <p:spPr>
          <a:xfrm flipH="1">
            <a:off x="9875206" y="2303669"/>
            <a:ext cx="39090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9A40225-8197-61D5-5B83-1B51EAA68BDB}"/>
              </a:ext>
            </a:extLst>
          </p:cNvPr>
          <p:cNvCxnSpPr>
            <a:cxnSpLocks/>
          </p:cNvCxnSpPr>
          <p:nvPr/>
        </p:nvCxnSpPr>
        <p:spPr>
          <a:xfrm flipH="1">
            <a:off x="9882870" y="4318815"/>
            <a:ext cx="39090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rrowUsersToGW">
            <a:extLst>
              <a:ext uri="{FF2B5EF4-FFF2-40B4-BE49-F238E27FC236}">
                <a16:creationId xmlns:a16="http://schemas.microsoft.com/office/drawing/2014/main" id="{09E90B94-7C75-3E54-7B3E-5AC34A70D88A}"/>
              </a:ext>
            </a:extLst>
          </p:cNvPr>
          <p:cNvCxnSpPr>
            <a:cxnSpLocks/>
          </p:cNvCxnSpPr>
          <p:nvPr/>
        </p:nvCxnSpPr>
        <p:spPr>
          <a:xfrm>
            <a:off x="2672054" y="3745088"/>
            <a:ext cx="152400" cy="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1183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24B41A-652C-4B0D-944F-52ED8B0983CA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640</Words>
  <Application>Microsoft Office PowerPoint</Application>
  <PresentationFormat>Widescreen</PresentationFormat>
  <Paragraphs>270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Magdum</dc:creator>
  <cp:lastModifiedBy>Rohit Magdum</cp:lastModifiedBy>
  <cp:revision>4</cp:revision>
  <dcterms:created xsi:type="dcterms:W3CDTF">2026-03-23T15:13:31Z</dcterms:created>
  <dcterms:modified xsi:type="dcterms:W3CDTF">2026-03-25T09:28:16Z</dcterms:modified>
</cp:coreProperties>
</file>