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363" r:id="rId2"/>
    <p:sldId id="377" r:id="rId3"/>
    <p:sldId id="371" r:id="rId4"/>
    <p:sldId id="372" r:id="rId5"/>
    <p:sldId id="373" r:id="rId6"/>
    <p:sldId id="374" r:id="rId7"/>
    <p:sldId id="375" r:id="rId8"/>
    <p:sldId id="3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5" d="100"/>
          <a:sy n="85" d="100"/>
        </p:scale>
        <p:origin x="114" y="5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8FCE-874F-CAF5-F8D0-FBC8371AFD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436B32-5380-D584-3E3F-585FF8C483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9F0DAD-8E65-1597-0B0C-4505B97A3560}"/>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5" name="Footer Placeholder 4">
            <a:extLst>
              <a:ext uri="{FF2B5EF4-FFF2-40B4-BE49-F238E27FC236}">
                <a16:creationId xmlns:a16="http://schemas.microsoft.com/office/drawing/2014/main" id="{8ACB353B-0750-48D3-7086-7B9195915F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9EC69-5B2A-FAAD-7EBD-3A3B4849A649}"/>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3382418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9FA8-C954-5601-D0D8-79DA22B9A6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D21FED-D56D-891E-8E5F-3D883E07D0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E7FD44-1D53-C0EF-9954-9E17694ECBA4}"/>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5" name="Footer Placeholder 4">
            <a:extLst>
              <a:ext uri="{FF2B5EF4-FFF2-40B4-BE49-F238E27FC236}">
                <a16:creationId xmlns:a16="http://schemas.microsoft.com/office/drawing/2014/main" id="{4A92651B-B299-1DE3-DDFC-31D1817C8B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48DC8E-C17F-DBE9-D30C-251FFCF295F8}"/>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2214677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2352C-A45D-2473-2C34-506378CD7A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3871AE-CD0E-5053-FB14-411F773823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7F618E-7264-A1E3-A3E1-BFD80FA049B5}"/>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5" name="Footer Placeholder 4">
            <a:extLst>
              <a:ext uri="{FF2B5EF4-FFF2-40B4-BE49-F238E27FC236}">
                <a16:creationId xmlns:a16="http://schemas.microsoft.com/office/drawing/2014/main" id="{9CCA8FAD-0CB6-D340-E409-4CBDA4DA19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639B63-05F4-D38B-FF66-60D3365ADA7E}"/>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189857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B336F-5FDE-A8FD-64F6-72FAB503AE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7DD8E9-AC13-57AA-1D70-B758F7006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670B6E-4430-80D6-60DD-ED0F9A56CB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C7CA1-4B1F-0258-ADC6-7D21B5D9E244}"/>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6" name="Footer Placeholder 5">
            <a:extLst>
              <a:ext uri="{FF2B5EF4-FFF2-40B4-BE49-F238E27FC236}">
                <a16:creationId xmlns:a16="http://schemas.microsoft.com/office/drawing/2014/main" id="{FA425FD4-FD73-4FE4-17DF-3715245F47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2C780A-C700-6EE3-AE47-773F38239367}"/>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224835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11B98-FE64-F6A6-95DD-A7FFA58307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A55A88-4346-A50B-1108-FD569AA652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42D2D5-53CD-95CE-DA66-B668E32DA7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1A5E63-524E-1BD8-E9E0-D828DC41EA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E06696-BD50-9C22-2E42-327D4256A7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1C75E5-91E7-D401-1C89-763148DFDBD2}"/>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8" name="Footer Placeholder 7">
            <a:extLst>
              <a:ext uri="{FF2B5EF4-FFF2-40B4-BE49-F238E27FC236}">
                <a16:creationId xmlns:a16="http://schemas.microsoft.com/office/drawing/2014/main" id="{99F7D2A0-FC22-D58F-8E26-46341F2F5E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DF71075-1280-7313-0D1F-8F1B331FFA59}"/>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58856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14E1-D885-68E8-A96D-0FFC5E8F33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EA3851-790F-3EE5-4522-9F9CB3C6768F}"/>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4" name="Footer Placeholder 3">
            <a:extLst>
              <a:ext uri="{FF2B5EF4-FFF2-40B4-BE49-F238E27FC236}">
                <a16:creationId xmlns:a16="http://schemas.microsoft.com/office/drawing/2014/main" id="{BEDBD38A-E81A-C882-06E4-494DF51E70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69D867-3B13-606A-DBFD-4C58D76011C4}"/>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3937881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75A7D5-D072-3FDB-C825-847C50311D32}"/>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3" name="Footer Placeholder 2">
            <a:extLst>
              <a:ext uri="{FF2B5EF4-FFF2-40B4-BE49-F238E27FC236}">
                <a16:creationId xmlns:a16="http://schemas.microsoft.com/office/drawing/2014/main" id="{8A4A6C4B-07A1-8626-4EC6-031A3F994E4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D8BC8C-E67B-F278-A037-56CB35F8D3A4}"/>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1454622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464A-3025-F2A2-57D0-B9282C06C2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9F9A91-8526-C3A3-3390-950FAFD7F5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54D12B-30B2-64E0-7718-F3CE036D38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7574A9-BC6B-4C03-073F-1D9DAED55916}"/>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6" name="Footer Placeholder 5">
            <a:extLst>
              <a:ext uri="{FF2B5EF4-FFF2-40B4-BE49-F238E27FC236}">
                <a16:creationId xmlns:a16="http://schemas.microsoft.com/office/drawing/2014/main" id="{73A006DB-DA3F-FF2B-CC40-7482EAD6FD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BEE86F-AD12-EFDE-0FE3-414CB913A8F2}"/>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761327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B766-9321-4F70-D608-CE5DD64E19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AE2BD1-FF78-569B-6851-059B439570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26C37D-CD24-EEDA-4D44-BE3B41E6D0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D3FA9F-AF7B-68B5-298A-D24DCD8264BD}"/>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6" name="Footer Placeholder 5">
            <a:extLst>
              <a:ext uri="{FF2B5EF4-FFF2-40B4-BE49-F238E27FC236}">
                <a16:creationId xmlns:a16="http://schemas.microsoft.com/office/drawing/2014/main" id="{28FD095A-3CB3-802A-D5B8-71AA84455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F1AE74-86F1-5CB5-9EE2-BEC80FF70C52}"/>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166837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6638C-19E5-4199-1BFA-7A0255F11D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92F223-6457-3A8B-E8C8-496CDD8FB3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C744BA-B63E-CE2B-A7E4-62AE37C2EBF6}"/>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5" name="Footer Placeholder 4">
            <a:extLst>
              <a:ext uri="{FF2B5EF4-FFF2-40B4-BE49-F238E27FC236}">
                <a16:creationId xmlns:a16="http://schemas.microsoft.com/office/drawing/2014/main" id="{11496AAD-0B65-07E2-9633-4A2841E12A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7D8A66-969D-3C50-1D3F-687FB1D39894}"/>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3987371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1306B-A788-F8B6-4514-413921FF16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58F21E-F124-114F-3704-E07E80B5E2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3CC927-6AC1-CAF3-B694-D1D2A5CA0AE6}"/>
              </a:ext>
            </a:extLst>
          </p:cNvPr>
          <p:cNvSpPr>
            <a:spLocks noGrp="1"/>
          </p:cNvSpPr>
          <p:nvPr>
            <p:ph type="dt" sz="half" idx="10"/>
          </p:nvPr>
        </p:nvSpPr>
        <p:spPr/>
        <p:txBody>
          <a:bodyPr/>
          <a:lstStyle/>
          <a:p>
            <a:fld id="{1AEA4F06-5C97-4E0B-9A68-32FAE3644D13}" type="datetimeFigureOut">
              <a:rPr lang="en-IN" smtClean="0"/>
              <a:t>19-03-2026</a:t>
            </a:fld>
            <a:endParaRPr lang="en-IN"/>
          </a:p>
        </p:txBody>
      </p:sp>
      <p:sp>
        <p:nvSpPr>
          <p:cNvPr id="5" name="Footer Placeholder 4">
            <a:extLst>
              <a:ext uri="{FF2B5EF4-FFF2-40B4-BE49-F238E27FC236}">
                <a16:creationId xmlns:a16="http://schemas.microsoft.com/office/drawing/2014/main" id="{B1B75A45-07DB-8F11-3127-91129EBA37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9B3238-08D8-FDC4-60BA-F162E88A9966}"/>
              </a:ext>
            </a:extLst>
          </p:cNvPr>
          <p:cNvSpPr>
            <a:spLocks noGrp="1"/>
          </p:cNvSpPr>
          <p:nvPr>
            <p:ph type="sldNum" sz="quarter" idx="12"/>
          </p:nvPr>
        </p:nvSpPr>
        <p:spPr/>
        <p:txBody>
          <a:bodyPr/>
          <a:lstStyle/>
          <a:p>
            <a:fld id="{554D3639-FF02-4828-B4E5-B6B0512F846E}" type="slidenum">
              <a:rPr lang="en-IN" smtClean="0"/>
              <a:t>‹#›</a:t>
            </a:fld>
            <a:endParaRPr lang="en-IN"/>
          </a:p>
        </p:txBody>
      </p:sp>
    </p:spTree>
    <p:extLst>
      <p:ext uri="{BB962C8B-B14F-4D97-AF65-F5344CB8AC3E}">
        <p14:creationId xmlns:p14="http://schemas.microsoft.com/office/powerpoint/2010/main" val="3228775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40F620-541C-3FB2-D202-DD2FDDF94A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B73EA1-B1CB-B4B4-663D-9276D6874B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AF19EC-D4C9-632A-8AFB-D094A5EFF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A4F06-5C97-4E0B-9A68-32FAE3644D13}" type="datetimeFigureOut">
              <a:rPr lang="en-IN" smtClean="0"/>
              <a:t>19-03-2026</a:t>
            </a:fld>
            <a:endParaRPr lang="en-IN"/>
          </a:p>
        </p:txBody>
      </p:sp>
      <p:sp>
        <p:nvSpPr>
          <p:cNvPr id="5" name="Footer Placeholder 4">
            <a:extLst>
              <a:ext uri="{FF2B5EF4-FFF2-40B4-BE49-F238E27FC236}">
                <a16:creationId xmlns:a16="http://schemas.microsoft.com/office/drawing/2014/main" id="{E66D851B-4921-686A-2462-B63F345125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B535E75-C3C9-8141-F670-D326FC8EFE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4D3639-FF02-4828-B4E5-B6B0512F846E}" type="slidenum">
              <a:rPr lang="en-IN" smtClean="0"/>
              <a:t>‹#›</a:t>
            </a:fld>
            <a:endParaRPr lang="en-IN"/>
          </a:p>
        </p:txBody>
      </p:sp>
      <p:sp>
        <p:nvSpPr>
          <p:cNvPr id="901" name="BottomAccent"/>
          <p:cNvSpPr/>
          <p:nvPr/>
        </p:nvSpPr>
        <p:spPr>
          <a:xfrm>
            <a:off x="0" y="6800850"/>
            <a:ext cx="12192000" cy="57150"/>
          </a:xfrm>
          <a:prstGeom prst="rect">
            <a:avLst/>
          </a:prstGeom>
          <a:solidFill>
            <a:srgbClr val="1565C0"/>
          </a:solidFill>
          <a:ln w="0">
            <a:noFill/>
          </a:ln>
        </p:spPr>
        <p:txBody>
          <a:bodyPr/>
          <a:lstStyle/>
          <a:p>
            <a:endParaRPr lang="en-US"/>
          </a:p>
        </p:txBody>
      </p:sp>
    </p:spTree>
    <p:extLst>
      <p:ext uri="{BB962C8B-B14F-4D97-AF65-F5344CB8AC3E}">
        <p14:creationId xmlns:p14="http://schemas.microsoft.com/office/powerpoint/2010/main" val="1964761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1A1A2E"/>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3333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9pPr>
    </p:bodyStyle>
    <p:otherStyle>
      <a:defPPr>
        <a:defRPr lang="en-US">
          <a:solidFill>
            <a:srgbClr val="333333"/>
          </a:solidFill>
        </a:defRPr>
      </a:defPPr>
      <a:lvl1pPr marL="0" algn="l" defTabSz="914400" rtl="0" eaLnBrk="1" latinLnBrk="0" hangingPunct="1">
        <a:defRPr sz="1800" kern="1200">
          <a:solidFill>
            <a:srgbClr val="333333"/>
          </a:solidFill>
          <a:latin typeface="+mn-lt"/>
          <a:ea typeface="+mn-ea"/>
          <a:cs typeface="+mn-cs"/>
        </a:defRPr>
      </a:lvl1pPr>
      <a:lvl2pPr marL="457200" algn="l" defTabSz="914400" rtl="0" eaLnBrk="1" latinLnBrk="0" hangingPunct="1">
        <a:defRPr sz="1800" kern="1200">
          <a:solidFill>
            <a:srgbClr val="333333"/>
          </a:solidFill>
          <a:latin typeface="+mn-lt"/>
          <a:ea typeface="+mn-ea"/>
          <a:cs typeface="+mn-cs"/>
        </a:defRPr>
      </a:lvl2pPr>
      <a:lvl3pPr marL="914400" algn="l" defTabSz="914400" rtl="0" eaLnBrk="1" latinLnBrk="0" hangingPunct="1">
        <a:defRPr sz="1800" kern="1200">
          <a:solidFill>
            <a:srgbClr val="333333"/>
          </a:solidFill>
          <a:latin typeface="+mn-lt"/>
          <a:ea typeface="+mn-ea"/>
          <a:cs typeface="+mn-cs"/>
        </a:defRPr>
      </a:lvl3pPr>
      <a:lvl4pPr marL="1371600" algn="l" defTabSz="914400" rtl="0" eaLnBrk="1" latinLnBrk="0" hangingPunct="1">
        <a:defRPr sz="1800" kern="1200">
          <a:solidFill>
            <a:srgbClr val="333333"/>
          </a:solidFill>
          <a:latin typeface="+mn-lt"/>
          <a:ea typeface="+mn-ea"/>
          <a:cs typeface="+mn-cs"/>
        </a:defRPr>
      </a:lvl4pPr>
      <a:lvl5pPr marL="1828800" algn="l" defTabSz="914400" rtl="0" eaLnBrk="1" latinLnBrk="0" hangingPunct="1">
        <a:defRPr sz="1800" kern="1200">
          <a:solidFill>
            <a:srgbClr val="333333"/>
          </a:solidFill>
          <a:latin typeface="+mn-lt"/>
          <a:ea typeface="+mn-ea"/>
          <a:cs typeface="+mn-cs"/>
        </a:defRPr>
      </a:lvl5pPr>
      <a:lvl6pPr marL="2286000" algn="l" defTabSz="914400" rtl="0" eaLnBrk="1" latinLnBrk="0" hangingPunct="1">
        <a:defRPr sz="1800" kern="1200">
          <a:solidFill>
            <a:srgbClr val="333333"/>
          </a:solidFill>
          <a:latin typeface="+mn-lt"/>
          <a:ea typeface="+mn-ea"/>
          <a:cs typeface="+mn-cs"/>
        </a:defRPr>
      </a:lvl6pPr>
      <a:lvl7pPr marL="2743200" algn="l" defTabSz="914400" rtl="0" eaLnBrk="1" latinLnBrk="0" hangingPunct="1">
        <a:defRPr sz="1800" kern="1200">
          <a:solidFill>
            <a:srgbClr val="333333"/>
          </a:solidFill>
          <a:latin typeface="+mn-lt"/>
          <a:ea typeface="+mn-ea"/>
          <a:cs typeface="+mn-cs"/>
        </a:defRPr>
      </a:lvl7pPr>
      <a:lvl8pPr marL="3200400" algn="l" defTabSz="914400" rtl="0" eaLnBrk="1" latinLnBrk="0" hangingPunct="1">
        <a:defRPr sz="1800" kern="1200">
          <a:solidFill>
            <a:srgbClr val="333333"/>
          </a:solidFill>
          <a:latin typeface="+mn-lt"/>
          <a:ea typeface="+mn-ea"/>
          <a:cs typeface="+mn-cs"/>
        </a:defRPr>
      </a:lvl8pPr>
      <a:lvl9pPr marL="3657600" algn="l" defTabSz="914400" rtl="0" eaLnBrk="1" latinLnBrk="0" hangingPunct="1">
        <a:defRPr sz="1800" kern="1200">
          <a:solidFill>
            <a:srgbClr val="333333"/>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E2538"/>
            </a:gs>
            <a:gs pos="100000">
              <a:srgbClr val="131928"/>
            </a:gs>
          </a:gsLst>
          <a:lin ang="5400000" scaled="1"/>
        </a:gradFill>
        <a:effectLst/>
      </p:bgPr>
    </p:bg>
    <p:spTree>
      <p:nvGrpSpPr>
        <p:cNvPr id="1" name=""/>
        <p:cNvGrpSpPr/>
        <p:nvPr/>
      </p:nvGrpSpPr>
      <p:grpSpPr>
        <a:xfrm>
          <a:off x="0" y="0"/>
          <a:ext cx="0" cy="0"/>
          <a:chOff x="0" y="0"/>
          <a:chExt cx="0" cy="0"/>
        </a:xfrm>
      </p:grpSpPr>
      <p:sp>
        <p:nvSpPr>
          <p:cNvPr id="100" name="Title"/>
          <p:cNvSpPr txBox="1"/>
          <p:nvPr/>
        </p:nvSpPr>
        <p:spPr>
          <a:xfrm>
            <a:off x="762000" y="287923"/>
            <a:ext cx="7620000" cy="338554"/>
          </a:xfrm>
          <a:prstGeom prst="rect">
            <a:avLst/>
          </a:prstGeom>
          <a:noFill/>
          <a:ln>
            <a:noFill/>
          </a:ln>
        </p:spPr>
        <p:txBody>
          <a:bodyPr wrap="square" lIns="0" tIns="0" rIns="0" bIns="0" anchor="ctr">
            <a:spAutoFit/>
          </a:bodyPr>
          <a:lstStyle/>
          <a:p>
            <a:pPr algn="l">
              <a:buNone/>
            </a:pPr>
            <a:r>
              <a:rPr lang="en-US" sz="2200" b="1" dirty="0">
                <a:solidFill>
                  <a:srgbClr val="FFFFFF"/>
                </a:solidFill>
                <a:latin typeface="Segoe UI Semibold"/>
              </a:rPr>
              <a:t>VQMS Architecture</a:t>
            </a:r>
            <a:r>
              <a:rPr lang="en-US" sz="2200" dirty="0">
                <a:solidFill>
                  <a:srgbClr val="00BCD4"/>
                </a:solidFill>
                <a:latin typeface="Segoe UI Semibold"/>
              </a:rPr>
              <a:t>  |  </a:t>
            </a:r>
            <a:r>
              <a:rPr lang="en-US" sz="1800" dirty="0">
                <a:solidFill>
                  <a:srgbClr val="B0BEC5"/>
                </a:solidFill>
                <a:latin typeface="Segoe UI"/>
              </a:rPr>
              <a:t>7 Layers</a:t>
            </a:r>
          </a:p>
        </p:txBody>
      </p:sp>
      <p:sp>
        <p:nvSpPr>
          <p:cNvPr id="101" name="Subtitle"/>
          <p:cNvSpPr txBox="1"/>
          <p:nvPr/>
        </p:nvSpPr>
        <p:spPr>
          <a:xfrm>
            <a:off x="762000" y="711200"/>
            <a:ext cx="6350000" cy="215444"/>
          </a:xfrm>
          <a:prstGeom prst="rect">
            <a:avLst/>
          </a:prstGeom>
          <a:noFill/>
          <a:ln>
            <a:noFill/>
          </a:ln>
        </p:spPr>
        <p:txBody>
          <a:bodyPr wrap="square" lIns="0" tIns="0" rIns="0" bIns="0" anchor="t">
            <a:spAutoFit/>
          </a:bodyPr>
          <a:lstStyle/>
          <a:p>
            <a:pPr algn="l">
              <a:buNone/>
            </a:pPr>
            <a:r>
              <a:rPr lang="en-US" sz="1400" dirty="0">
                <a:solidFill>
                  <a:srgbClr val="8E9EB0"/>
                </a:solidFill>
                <a:latin typeface="Segoe UI"/>
              </a:rPr>
              <a:t>From user interface to persistent storage</a:t>
            </a:r>
          </a:p>
        </p:txBody>
      </p:sp>
      <p:sp>
        <p:nvSpPr>
          <p:cNvPr id="102" name="Bar1"/>
          <p:cNvSpPr/>
          <p:nvPr/>
        </p:nvSpPr>
        <p:spPr>
          <a:xfrm>
            <a:off x="762000" y="1143000"/>
            <a:ext cx="10033000" cy="660400"/>
          </a:xfrm>
          <a:prstGeom prst="roundRect">
            <a:avLst>
              <a:gd name="adj" fmla="val 8000"/>
            </a:avLst>
          </a:prstGeom>
          <a:solidFill>
            <a:srgbClr val="242B3D"/>
          </a:solidFill>
          <a:ln w="7620">
            <a:solidFill>
              <a:srgbClr val="344055"/>
            </a:solidFill>
          </a:ln>
        </p:spPr>
        <p:txBody>
          <a:bodyPr/>
          <a:lstStyle/>
          <a:p>
            <a:endParaRPr lang="en-US"/>
          </a:p>
        </p:txBody>
      </p:sp>
      <p:sp>
        <p:nvSpPr>
          <p:cNvPr id="103" name="Acc1"/>
          <p:cNvSpPr/>
          <p:nvPr/>
        </p:nvSpPr>
        <p:spPr>
          <a:xfrm>
            <a:off x="762000" y="1244600"/>
            <a:ext cx="76200" cy="457200"/>
          </a:xfrm>
          <a:prstGeom prst="roundRect">
            <a:avLst>
              <a:gd name="adj" fmla="val 50000"/>
            </a:avLst>
          </a:prstGeom>
          <a:solidFill>
            <a:srgbClr val="546E7A"/>
          </a:solidFill>
          <a:ln w="0">
            <a:noFill/>
          </a:ln>
        </p:spPr>
        <p:txBody>
          <a:bodyPr/>
          <a:lstStyle/>
          <a:p>
            <a:endParaRPr lang="en-US"/>
          </a:p>
        </p:txBody>
      </p:sp>
      <p:sp>
        <p:nvSpPr>
          <p:cNvPr id="104" name="Num1"/>
          <p:cNvSpPr/>
          <p:nvPr/>
        </p:nvSpPr>
        <p:spPr>
          <a:xfrm>
            <a:off x="939800" y="1282700"/>
            <a:ext cx="381000" cy="381000"/>
          </a:xfrm>
          <a:prstGeom prst="ellipse">
            <a:avLst/>
          </a:prstGeom>
          <a:solidFill>
            <a:srgbClr val="2F3B52"/>
          </a:solidFill>
          <a:ln w="12700">
            <a:solidFill>
              <a:srgbClr val="546E7A"/>
            </a:solidFill>
          </a:ln>
        </p:spPr>
        <p:txBody>
          <a:bodyPr wrap="none" lIns="0" tIns="0" rIns="0" bIns="0" anchor="ctr" anchorCtr="1"/>
          <a:lstStyle/>
          <a:p>
            <a:pPr algn="ctr">
              <a:buNone/>
            </a:pPr>
            <a:r>
              <a:rPr lang="en-US" sz="1400" b="1" dirty="0">
                <a:solidFill>
                  <a:srgbClr val="E0E7ED"/>
                </a:solidFill>
                <a:latin typeface="Segoe UI Semibold"/>
              </a:rPr>
              <a:t>1</a:t>
            </a:r>
          </a:p>
        </p:txBody>
      </p:sp>
      <p:sp>
        <p:nvSpPr>
          <p:cNvPr id="105" name="Txt1"/>
          <p:cNvSpPr txBox="1"/>
          <p:nvPr/>
        </p:nvSpPr>
        <p:spPr>
          <a:xfrm>
            <a:off x="1473200" y="12870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E8ECF0"/>
                </a:solidFill>
                <a:latin typeface="Segoe UI Semibold"/>
              </a:rPr>
              <a:t>Presentation Layer</a:t>
            </a:r>
          </a:p>
          <a:p>
            <a:pPr algn="l">
              <a:lnSpc>
                <a:spcPts val="1500"/>
              </a:lnSpc>
              <a:buNone/>
            </a:pPr>
            <a:r>
              <a:rPr lang="en-US" sz="1400" dirty="0">
                <a:solidFill>
                  <a:srgbClr val="C0CAD4"/>
                </a:solidFill>
                <a:latin typeface="Segoe UI"/>
              </a:rPr>
              <a:t>Angular front-end — ticket queues, dashboards, review portals</a:t>
            </a:r>
          </a:p>
        </p:txBody>
      </p:sp>
      <p:sp>
        <p:nvSpPr>
          <p:cNvPr id="106" name="Bar2"/>
          <p:cNvSpPr/>
          <p:nvPr/>
        </p:nvSpPr>
        <p:spPr>
          <a:xfrm>
            <a:off x="762000" y="1879600"/>
            <a:ext cx="10033000" cy="660400"/>
          </a:xfrm>
          <a:prstGeom prst="roundRect">
            <a:avLst>
              <a:gd name="adj" fmla="val 8000"/>
            </a:avLst>
          </a:prstGeom>
          <a:solidFill>
            <a:srgbClr val="242B3D"/>
          </a:solidFill>
          <a:ln w="7620">
            <a:solidFill>
              <a:srgbClr val="344055"/>
            </a:solidFill>
          </a:ln>
        </p:spPr>
        <p:txBody>
          <a:bodyPr/>
          <a:lstStyle/>
          <a:p>
            <a:endParaRPr lang="en-US"/>
          </a:p>
        </p:txBody>
      </p:sp>
      <p:sp>
        <p:nvSpPr>
          <p:cNvPr id="107" name="Acc2"/>
          <p:cNvSpPr/>
          <p:nvPr/>
        </p:nvSpPr>
        <p:spPr>
          <a:xfrm>
            <a:off x="762000" y="1981200"/>
            <a:ext cx="76200" cy="457200"/>
          </a:xfrm>
          <a:prstGeom prst="roundRect">
            <a:avLst>
              <a:gd name="adj" fmla="val 50000"/>
            </a:avLst>
          </a:prstGeom>
          <a:solidFill>
            <a:srgbClr val="546E7A"/>
          </a:solidFill>
          <a:ln w="0">
            <a:noFill/>
          </a:ln>
        </p:spPr>
        <p:txBody>
          <a:bodyPr/>
          <a:lstStyle/>
          <a:p>
            <a:endParaRPr lang="en-US"/>
          </a:p>
        </p:txBody>
      </p:sp>
      <p:sp>
        <p:nvSpPr>
          <p:cNvPr id="108" name="Num2"/>
          <p:cNvSpPr/>
          <p:nvPr/>
        </p:nvSpPr>
        <p:spPr>
          <a:xfrm>
            <a:off x="939800" y="2019300"/>
            <a:ext cx="381000" cy="381000"/>
          </a:xfrm>
          <a:prstGeom prst="ellipse">
            <a:avLst/>
          </a:prstGeom>
          <a:solidFill>
            <a:srgbClr val="2F3B52"/>
          </a:solidFill>
          <a:ln w="12700">
            <a:solidFill>
              <a:srgbClr val="546E7A"/>
            </a:solidFill>
          </a:ln>
        </p:spPr>
        <p:txBody>
          <a:bodyPr wrap="none" lIns="0" tIns="0" rIns="0" bIns="0" anchor="ctr" anchorCtr="1"/>
          <a:lstStyle/>
          <a:p>
            <a:pPr algn="ctr">
              <a:buNone/>
            </a:pPr>
            <a:r>
              <a:rPr lang="en-US" sz="1400" b="1" dirty="0">
                <a:solidFill>
                  <a:srgbClr val="E0E7ED"/>
                </a:solidFill>
                <a:latin typeface="Segoe UI Semibold"/>
              </a:rPr>
              <a:t>2</a:t>
            </a:r>
          </a:p>
        </p:txBody>
      </p:sp>
      <p:sp>
        <p:nvSpPr>
          <p:cNvPr id="109" name="Txt2"/>
          <p:cNvSpPr txBox="1"/>
          <p:nvPr/>
        </p:nvSpPr>
        <p:spPr>
          <a:xfrm>
            <a:off x="1473200" y="20236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E8ECF0"/>
                </a:solidFill>
                <a:latin typeface="Segoe UI Semibold"/>
              </a:rPr>
              <a:t>API Gateway &amp; Auth</a:t>
            </a:r>
          </a:p>
          <a:p>
            <a:pPr algn="l">
              <a:lnSpc>
                <a:spcPts val="1500"/>
              </a:lnSpc>
              <a:buNone/>
            </a:pPr>
            <a:r>
              <a:rPr lang="en-US" sz="1400" dirty="0">
                <a:solidFill>
                  <a:srgbClr val="C0CAD4"/>
                </a:solidFill>
                <a:latin typeface="Segoe UI"/>
              </a:rPr>
              <a:t>JWT security checkpoint — every request validated before entry</a:t>
            </a:r>
          </a:p>
        </p:txBody>
      </p:sp>
      <p:sp>
        <p:nvSpPr>
          <p:cNvPr id="110" name="Bar3"/>
          <p:cNvSpPr/>
          <p:nvPr/>
        </p:nvSpPr>
        <p:spPr>
          <a:xfrm>
            <a:off x="762000" y="2616200"/>
            <a:ext cx="10033000" cy="660400"/>
          </a:xfrm>
          <a:prstGeom prst="roundRect">
            <a:avLst>
              <a:gd name="adj" fmla="val 8000"/>
            </a:avLst>
          </a:prstGeom>
          <a:solidFill>
            <a:srgbClr val="0A2F3A"/>
          </a:solidFill>
          <a:ln w="7620">
            <a:solidFill>
              <a:srgbClr val="00ACC1"/>
            </a:solidFill>
          </a:ln>
        </p:spPr>
        <p:txBody>
          <a:bodyPr/>
          <a:lstStyle/>
          <a:p>
            <a:endParaRPr lang="en-US"/>
          </a:p>
        </p:txBody>
      </p:sp>
      <p:sp>
        <p:nvSpPr>
          <p:cNvPr id="111" name="Acc3"/>
          <p:cNvSpPr/>
          <p:nvPr/>
        </p:nvSpPr>
        <p:spPr>
          <a:xfrm>
            <a:off x="762000" y="2717800"/>
            <a:ext cx="76200" cy="457200"/>
          </a:xfrm>
          <a:prstGeom prst="roundRect">
            <a:avLst>
              <a:gd name="adj" fmla="val 50000"/>
            </a:avLst>
          </a:prstGeom>
          <a:solidFill>
            <a:srgbClr val="00BCD4"/>
          </a:solidFill>
          <a:ln w="0">
            <a:noFill/>
          </a:ln>
        </p:spPr>
        <p:txBody>
          <a:bodyPr/>
          <a:lstStyle/>
          <a:p>
            <a:endParaRPr lang="en-US"/>
          </a:p>
        </p:txBody>
      </p:sp>
      <p:sp>
        <p:nvSpPr>
          <p:cNvPr id="112" name="Num3"/>
          <p:cNvSpPr/>
          <p:nvPr/>
        </p:nvSpPr>
        <p:spPr>
          <a:xfrm>
            <a:off x="939800" y="2755900"/>
            <a:ext cx="381000" cy="381000"/>
          </a:xfrm>
          <a:prstGeom prst="ellipse">
            <a:avLst/>
          </a:prstGeom>
          <a:solidFill>
            <a:srgbClr val="00838F"/>
          </a:solidFill>
          <a:ln w="15875">
            <a:solidFill>
              <a:srgbClr val="00BCD4"/>
            </a:solidFill>
          </a:ln>
        </p:spPr>
        <p:txBody>
          <a:bodyPr wrap="none" lIns="0" tIns="0" rIns="0" bIns="0" anchor="ctr" anchorCtr="1"/>
          <a:lstStyle/>
          <a:p>
            <a:pPr algn="ctr">
              <a:buNone/>
            </a:pPr>
            <a:r>
              <a:rPr lang="en-US" sz="1400" b="1" dirty="0">
                <a:solidFill>
                  <a:srgbClr val="00E5FF"/>
                </a:solidFill>
                <a:latin typeface="Segoe UI Semibold"/>
              </a:rPr>
              <a:t>3</a:t>
            </a:r>
          </a:p>
        </p:txBody>
      </p:sp>
      <p:sp>
        <p:nvSpPr>
          <p:cNvPr id="113" name="Txt3"/>
          <p:cNvSpPr txBox="1"/>
          <p:nvPr/>
        </p:nvSpPr>
        <p:spPr>
          <a:xfrm>
            <a:off x="1473200" y="27602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4DD0E1"/>
                </a:solidFill>
                <a:latin typeface="Segoe UI Semibold"/>
              </a:rPr>
              <a:t>Orchestration Layer</a:t>
            </a:r>
          </a:p>
          <a:p>
            <a:pPr algn="l">
              <a:lnSpc>
                <a:spcPts val="1500"/>
              </a:lnSpc>
              <a:buNone/>
            </a:pPr>
            <a:r>
              <a:rPr lang="en-US" sz="1400" dirty="0">
                <a:solidFill>
                  <a:srgbClr val="A0E4EC"/>
                </a:solidFill>
                <a:latin typeface="Segoe UI"/>
              </a:rPr>
              <a:t>Workflow brain — plans, dispatches, and replans dynamically</a:t>
            </a:r>
          </a:p>
        </p:txBody>
      </p:sp>
      <p:sp>
        <p:nvSpPr>
          <p:cNvPr id="114" name="Badge3"/>
          <p:cNvSpPr/>
          <p:nvPr/>
        </p:nvSpPr>
        <p:spPr>
          <a:xfrm>
            <a:off x="9956800" y="2794000"/>
            <a:ext cx="584200" cy="279400"/>
          </a:xfrm>
          <a:prstGeom prst="roundRect">
            <a:avLst>
              <a:gd name="adj" fmla="val 16667"/>
            </a:avLst>
          </a:prstGeom>
          <a:solidFill>
            <a:srgbClr val="003D45"/>
          </a:solidFill>
          <a:ln w="9525">
            <a:solidFill>
              <a:srgbClr val="00BCD4"/>
            </a:solidFill>
          </a:ln>
        </p:spPr>
        <p:txBody>
          <a:bodyPr wrap="none" lIns="0" tIns="0" rIns="0" bIns="0" anchor="ctr" anchorCtr="1"/>
          <a:lstStyle/>
          <a:p>
            <a:pPr algn="ctr">
              <a:buNone/>
            </a:pPr>
            <a:r>
              <a:rPr lang="en-US" sz="1000" b="1" dirty="0">
                <a:solidFill>
                  <a:srgbClr val="00E5FF"/>
                </a:solidFill>
                <a:latin typeface="Segoe UI Semibold"/>
              </a:rPr>
              <a:t>AI</a:t>
            </a:r>
          </a:p>
        </p:txBody>
      </p:sp>
      <p:sp>
        <p:nvSpPr>
          <p:cNvPr id="115" name="Bar4"/>
          <p:cNvSpPr/>
          <p:nvPr/>
        </p:nvSpPr>
        <p:spPr>
          <a:xfrm>
            <a:off x="762000" y="3352800"/>
            <a:ext cx="10033000" cy="660400"/>
          </a:xfrm>
          <a:prstGeom prst="roundRect">
            <a:avLst>
              <a:gd name="adj" fmla="val 8000"/>
            </a:avLst>
          </a:prstGeom>
          <a:solidFill>
            <a:srgbClr val="0A2F3A"/>
          </a:solidFill>
          <a:ln w="7620">
            <a:solidFill>
              <a:srgbClr val="00ACC1"/>
            </a:solidFill>
          </a:ln>
        </p:spPr>
        <p:txBody>
          <a:bodyPr/>
          <a:lstStyle/>
          <a:p>
            <a:endParaRPr lang="en-US"/>
          </a:p>
        </p:txBody>
      </p:sp>
      <p:sp>
        <p:nvSpPr>
          <p:cNvPr id="116" name="Acc4"/>
          <p:cNvSpPr/>
          <p:nvPr/>
        </p:nvSpPr>
        <p:spPr>
          <a:xfrm>
            <a:off x="762000" y="3454400"/>
            <a:ext cx="76200" cy="457200"/>
          </a:xfrm>
          <a:prstGeom prst="roundRect">
            <a:avLst>
              <a:gd name="adj" fmla="val 50000"/>
            </a:avLst>
          </a:prstGeom>
          <a:solidFill>
            <a:srgbClr val="00BCD4"/>
          </a:solidFill>
          <a:ln w="0">
            <a:noFill/>
          </a:ln>
        </p:spPr>
        <p:txBody>
          <a:bodyPr/>
          <a:lstStyle/>
          <a:p>
            <a:endParaRPr lang="en-US"/>
          </a:p>
        </p:txBody>
      </p:sp>
      <p:sp>
        <p:nvSpPr>
          <p:cNvPr id="117" name="Num4"/>
          <p:cNvSpPr/>
          <p:nvPr/>
        </p:nvSpPr>
        <p:spPr>
          <a:xfrm>
            <a:off x="939800" y="3492500"/>
            <a:ext cx="381000" cy="381000"/>
          </a:xfrm>
          <a:prstGeom prst="ellipse">
            <a:avLst/>
          </a:prstGeom>
          <a:solidFill>
            <a:srgbClr val="00838F"/>
          </a:solidFill>
          <a:ln w="15875">
            <a:solidFill>
              <a:srgbClr val="00BCD4"/>
            </a:solidFill>
          </a:ln>
        </p:spPr>
        <p:txBody>
          <a:bodyPr wrap="none" lIns="0" tIns="0" rIns="0" bIns="0" anchor="ctr" anchorCtr="1"/>
          <a:lstStyle/>
          <a:p>
            <a:pPr algn="ctr">
              <a:buNone/>
            </a:pPr>
            <a:r>
              <a:rPr lang="en-US" sz="1400" b="1" dirty="0">
                <a:solidFill>
                  <a:srgbClr val="00E5FF"/>
                </a:solidFill>
                <a:latin typeface="Segoe UI Semibold"/>
              </a:rPr>
              <a:t>4</a:t>
            </a:r>
          </a:p>
        </p:txBody>
      </p:sp>
      <p:sp>
        <p:nvSpPr>
          <p:cNvPr id="118" name="Txt4"/>
          <p:cNvSpPr txBox="1"/>
          <p:nvPr/>
        </p:nvSpPr>
        <p:spPr>
          <a:xfrm>
            <a:off x="1473200" y="34968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4DD0E1"/>
                </a:solidFill>
                <a:latin typeface="Segoe UI Semibold"/>
              </a:rPr>
              <a:t>Security &amp; Governance</a:t>
            </a:r>
          </a:p>
          <a:p>
            <a:pPr algn="l">
              <a:lnSpc>
                <a:spcPts val="1500"/>
              </a:lnSpc>
              <a:buNone/>
            </a:pPr>
            <a:r>
              <a:rPr lang="en-US" sz="1400" dirty="0">
                <a:solidFill>
                  <a:srgbClr val="A0E4EC"/>
                </a:solidFill>
                <a:latin typeface="Segoe UI"/>
              </a:rPr>
              <a:t>Quality gate — PII checks, compliance, auto-send decisions</a:t>
            </a:r>
          </a:p>
        </p:txBody>
      </p:sp>
      <p:sp>
        <p:nvSpPr>
          <p:cNvPr id="119" name="Badge4"/>
          <p:cNvSpPr/>
          <p:nvPr/>
        </p:nvSpPr>
        <p:spPr>
          <a:xfrm>
            <a:off x="9956800" y="3530600"/>
            <a:ext cx="584200" cy="279400"/>
          </a:xfrm>
          <a:prstGeom prst="roundRect">
            <a:avLst>
              <a:gd name="adj" fmla="val 16667"/>
            </a:avLst>
          </a:prstGeom>
          <a:solidFill>
            <a:srgbClr val="003D45"/>
          </a:solidFill>
          <a:ln w="9525">
            <a:solidFill>
              <a:srgbClr val="00BCD4"/>
            </a:solidFill>
          </a:ln>
        </p:spPr>
        <p:txBody>
          <a:bodyPr wrap="none" lIns="0" tIns="0" rIns="0" bIns="0" anchor="ctr" anchorCtr="1"/>
          <a:lstStyle/>
          <a:p>
            <a:pPr algn="ctr">
              <a:buNone/>
            </a:pPr>
            <a:r>
              <a:rPr lang="en-US" sz="1000" b="1" dirty="0">
                <a:solidFill>
                  <a:srgbClr val="00E5FF"/>
                </a:solidFill>
                <a:latin typeface="Segoe UI Semibold"/>
              </a:rPr>
              <a:t>AI</a:t>
            </a:r>
          </a:p>
        </p:txBody>
      </p:sp>
      <p:sp>
        <p:nvSpPr>
          <p:cNvPr id="120" name="Bar5"/>
          <p:cNvSpPr/>
          <p:nvPr/>
        </p:nvSpPr>
        <p:spPr>
          <a:xfrm>
            <a:off x="762000" y="4089400"/>
            <a:ext cx="10033000" cy="660400"/>
          </a:xfrm>
          <a:prstGeom prst="roundRect">
            <a:avLst>
              <a:gd name="adj" fmla="val 8000"/>
            </a:avLst>
          </a:prstGeom>
          <a:solidFill>
            <a:srgbClr val="0A2F3A"/>
          </a:solidFill>
          <a:ln w="7620">
            <a:solidFill>
              <a:srgbClr val="00ACC1"/>
            </a:solidFill>
          </a:ln>
        </p:spPr>
        <p:txBody>
          <a:bodyPr/>
          <a:lstStyle/>
          <a:p>
            <a:endParaRPr lang="en-US"/>
          </a:p>
        </p:txBody>
      </p:sp>
      <p:sp>
        <p:nvSpPr>
          <p:cNvPr id="121" name="Acc5"/>
          <p:cNvSpPr/>
          <p:nvPr/>
        </p:nvSpPr>
        <p:spPr>
          <a:xfrm>
            <a:off x="762000" y="4191000"/>
            <a:ext cx="76200" cy="457200"/>
          </a:xfrm>
          <a:prstGeom prst="roundRect">
            <a:avLst>
              <a:gd name="adj" fmla="val 50000"/>
            </a:avLst>
          </a:prstGeom>
          <a:solidFill>
            <a:srgbClr val="00BCD4"/>
          </a:solidFill>
          <a:ln w="0">
            <a:noFill/>
          </a:ln>
        </p:spPr>
        <p:txBody>
          <a:bodyPr/>
          <a:lstStyle/>
          <a:p>
            <a:endParaRPr lang="en-US"/>
          </a:p>
        </p:txBody>
      </p:sp>
      <p:sp>
        <p:nvSpPr>
          <p:cNvPr id="122" name="Num5"/>
          <p:cNvSpPr/>
          <p:nvPr/>
        </p:nvSpPr>
        <p:spPr>
          <a:xfrm>
            <a:off x="939800" y="4229100"/>
            <a:ext cx="381000" cy="381000"/>
          </a:xfrm>
          <a:prstGeom prst="ellipse">
            <a:avLst/>
          </a:prstGeom>
          <a:solidFill>
            <a:srgbClr val="00838F"/>
          </a:solidFill>
          <a:ln w="15875">
            <a:solidFill>
              <a:srgbClr val="00BCD4"/>
            </a:solidFill>
          </a:ln>
        </p:spPr>
        <p:txBody>
          <a:bodyPr wrap="none" lIns="0" tIns="0" rIns="0" bIns="0" anchor="ctr" anchorCtr="1"/>
          <a:lstStyle/>
          <a:p>
            <a:pPr algn="ctr">
              <a:buNone/>
            </a:pPr>
            <a:r>
              <a:rPr lang="en-US" sz="1400" b="1" dirty="0">
                <a:solidFill>
                  <a:srgbClr val="00E5FF"/>
                </a:solidFill>
                <a:latin typeface="Segoe UI Semibold"/>
              </a:rPr>
              <a:t>5</a:t>
            </a:r>
          </a:p>
        </p:txBody>
      </p:sp>
      <p:sp>
        <p:nvSpPr>
          <p:cNvPr id="123" name="Txt5"/>
          <p:cNvSpPr txBox="1"/>
          <p:nvPr/>
        </p:nvSpPr>
        <p:spPr>
          <a:xfrm>
            <a:off x="1473200" y="42334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4DD0E1"/>
                </a:solidFill>
                <a:latin typeface="Segoe UI Semibold"/>
              </a:rPr>
              <a:t>Agent Services Layer</a:t>
            </a:r>
          </a:p>
          <a:p>
            <a:pPr algn="l">
              <a:lnSpc>
                <a:spcPts val="1500"/>
              </a:lnSpc>
              <a:buNone/>
            </a:pPr>
            <a:r>
              <a:rPr lang="en-US" sz="1400" dirty="0">
                <a:solidFill>
                  <a:srgbClr val="A0E4EC"/>
                </a:solidFill>
                <a:latin typeface="Segoe UI"/>
              </a:rPr>
              <a:t>The AI core — email analysis, drafting, resolver copilot</a:t>
            </a:r>
          </a:p>
        </p:txBody>
      </p:sp>
      <p:sp>
        <p:nvSpPr>
          <p:cNvPr id="124" name="Badge5"/>
          <p:cNvSpPr/>
          <p:nvPr/>
        </p:nvSpPr>
        <p:spPr>
          <a:xfrm>
            <a:off x="9956800" y="4267200"/>
            <a:ext cx="584200" cy="279400"/>
          </a:xfrm>
          <a:prstGeom prst="roundRect">
            <a:avLst>
              <a:gd name="adj" fmla="val 16667"/>
            </a:avLst>
          </a:prstGeom>
          <a:solidFill>
            <a:srgbClr val="003D45"/>
          </a:solidFill>
          <a:ln w="9525">
            <a:solidFill>
              <a:srgbClr val="00BCD4"/>
            </a:solidFill>
          </a:ln>
        </p:spPr>
        <p:txBody>
          <a:bodyPr wrap="none" lIns="0" tIns="0" rIns="0" bIns="0" anchor="ctr" anchorCtr="1"/>
          <a:lstStyle/>
          <a:p>
            <a:pPr algn="ctr">
              <a:buNone/>
            </a:pPr>
            <a:r>
              <a:rPr lang="en-US" sz="1000" b="1" dirty="0">
                <a:solidFill>
                  <a:srgbClr val="00E5FF"/>
                </a:solidFill>
                <a:latin typeface="Segoe UI Semibold"/>
              </a:rPr>
              <a:t>AI</a:t>
            </a:r>
          </a:p>
        </p:txBody>
      </p:sp>
      <p:sp>
        <p:nvSpPr>
          <p:cNvPr id="125" name="Bar6"/>
          <p:cNvSpPr/>
          <p:nvPr/>
        </p:nvSpPr>
        <p:spPr>
          <a:xfrm>
            <a:off x="762000" y="4826000"/>
            <a:ext cx="10033000" cy="660400"/>
          </a:xfrm>
          <a:prstGeom prst="roundRect">
            <a:avLst>
              <a:gd name="adj" fmla="val 8000"/>
            </a:avLst>
          </a:prstGeom>
          <a:solidFill>
            <a:srgbClr val="242B3D"/>
          </a:solidFill>
          <a:ln w="7620">
            <a:solidFill>
              <a:srgbClr val="344055"/>
            </a:solidFill>
          </a:ln>
        </p:spPr>
        <p:txBody>
          <a:bodyPr/>
          <a:lstStyle/>
          <a:p>
            <a:endParaRPr lang="en-US"/>
          </a:p>
        </p:txBody>
      </p:sp>
      <p:sp>
        <p:nvSpPr>
          <p:cNvPr id="126" name="Acc6"/>
          <p:cNvSpPr/>
          <p:nvPr/>
        </p:nvSpPr>
        <p:spPr>
          <a:xfrm>
            <a:off x="762000" y="4927600"/>
            <a:ext cx="76200" cy="457200"/>
          </a:xfrm>
          <a:prstGeom prst="roundRect">
            <a:avLst>
              <a:gd name="adj" fmla="val 50000"/>
            </a:avLst>
          </a:prstGeom>
          <a:solidFill>
            <a:srgbClr val="546E7A"/>
          </a:solidFill>
          <a:ln w="0">
            <a:noFill/>
          </a:ln>
        </p:spPr>
        <p:txBody>
          <a:bodyPr/>
          <a:lstStyle/>
          <a:p>
            <a:endParaRPr lang="en-US"/>
          </a:p>
        </p:txBody>
      </p:sp>
      <p:sp>
        <p:nvSpPr>
          <p:cNvPr id="127" name="Num6"/>
          <p:cNvSpPr/>
          <p:nvPr/>
        </p:nvSpPr>
        <p:spPr>
          <a:xfrm>
            <a:off x="939800" y="4965700"/>
            <a:ext cx="381000" cy="381000"/>
          </a:xfrm>
          <a:prstGeom prst="ellipse">
            <a:avLst/>
          </a:prstGeom>
          <a:solidFill>
            <a:srgbClr val="2F3B52"/>
          </a:solidFill>
          <a:ln w="12700">
            <a:solidFill>
              <a:srgbClr val="546E7A"/>
            </a:solidFill>
          </a:ln>
        </p:spPr>
        <p:txBody>
          <a:bodyPr wrap="none" lIns="0" tIns="0" rIns="0" bIns="0" anchor="ctr" anchorCtr="1"/>
          <a:lstStyle/>
          <a:p>
            <a:pPr algn="ctr">
              <a:buNone/>
            </a:pPr>
            <a:r>
              <a:rPr lang="en-US" sz="1400" b="1" dirty="0">
                <a:solidFill>
                  <a:srgbClr val="E0E7ED"/>
                </a:solidFill>
                <a:latin typeface="Segoe UI Semibold"/>
              </a:rPr>
              <a:t>6</a:t>
            </a:r>
          </a:p>
        </p:txBody>
      </p:sp>
      <p:sp>
        <p:nvSpPr>
          <p:cNvPr id="128" name="Txt6"/>
          <p:cNvSpPr txBox="1"/>
          <p:nvPr/>
        </p:nvSpPr>
        <p:spPr>
          <a:xfrm>
            <a:off x="1473200" y="49700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E8ECF0"/>
                </a:solidFill>
                <a:latin typeface="Segoe UI Semibold"/>
              </a:rPr>
              <a:t>Integration Layer</a:t>
            </a:r>
          </a:p>
          <a:p>
            <a:pPr algn="l">
              <a:lnSpc>
                <a:spcPts val="1500"/>
              </a:lnSpc>
              <a:buNone/>
            </a:pPr>
            <a:r>
              <a:rPr lang="en-US" sz="1400" dirty="0">
                <a:solidFill>
                  <a:srgbClr val="C0CAD4"/>
                </a:solidFill>
                <a:latin typeface="Segoe UI"/>
              </a:rPr>
              <a:t>Salesforce, ServiceNow, email ingestion, SLA monitoring</a:t>
            </a:r>
          </a:p>
        </p:txBody>
      </p:sp>
      <p:sp>
        <p:nvSpPr>
          <p:cNvPr id="129" name="Bar7"/>
          <p:cNvSpPr/>
          <p:nvPr/>
        </p:nvSpPr>
        <p:spPr>
          <a:xfrm>
            <a:off x="762000" y="5562600"/>
            <a:ext cx="10033000" cy="660400"/>
          </a:xfrm>
          <a:prstGeom prst="roundRect">
            <a:avLst>
              <a:gd name="adj" fmla="val 8000"/>
            </a:avLst>
          </a:prstGeom>
          <a:solidFill>
            <a:srgbClr val="242B3D"/>
          </a:solidFill>
          <a:ln w="7620">
            <a:solidFill>
              <a:srgbClr val="344055"/>
            </a:solidFill>
          </a:ln>
        </p:spPr>
        <p:txBody>
          <a:bodyPr/>
          <a:lstStyle/>
          <a:p>
            <a:endParaRPr lang="en-US"/>
          </a:p>
        </p:txBody>
      </p:sp>
      <p:sp>
        <p:nvSpPr>
          <p:cNvPr id="130" name="Acc7"/>
          <p:cNvSpPr/>
          <p:nvPr/>
        </p:nvSpPr>
        <p:spPr>
          <a:xfrm>
            <a:off x="762000" y="5664200"/>
            <a:ext cx="76200" cy="457200"/>
          </a:xfrm>
          <a:prstGeom prst="roundRect">
            <a:avLst>
              <a:gd name="adj" fmla="val 50000"/>
            </a:avLst>
          </a:prstGeom>
          <a:solidFill>
            <a:srgbClr val="546E7A"/>
          </a:solidFill>
          <a:ln w="0">
            <a:noFill/>
          </a:ln>
        </p:spPr>
        <p:txBody>
          <a:bodyPr/>
          <a:lstStyle/>
          <a:p>
            <a:endParaRPr lang="en-US"/>
          </a:p>
        </p:txBody>
      </p:sp>
      <p:sp>
        <p:nvSpPr>
          <p:cNvPr id="131" name="Num7"/>
          <p:cNvSpPr/>
          <p:nvPr/>
        </p:nvSpPr>
        <p:spPr>
          <a:xfrm>
            <a:off x="939800" y="5702300"/>
            <a:ext cx="381000" cy="381000"/>
          </a:xfrm>
          <a:prstGeom prst="ellipse">
            <a:avLst/>
          </a:prstGeom>
          <a:solidFill>
            <a:srgbClr val="2F3B52"/>
          </a:solidFill>
          <a:ln w="12700">
            <a:solidFill>
              <a:srgbClr val="546E7A"/>
            </a:solidFill>
          </a:ln>
        </p:spPr>
        <p:txBody>
          <a:bodyPr wrap="none" lIns="0" tIns="0" rIns="0" bIns="0" anchor="ctr" anchorCtr="1"/>
          <a:lstStyle/>
          <a:p>
            <a:pPr algn="ctr">
              <a:buNone/>
            </a:pPr>
            <a:r>
              <a:rPr lang="en-US" sz="1400" b="1" dirty="0">
                <a:solidFill>
                  <a:srgbClr val="E0E7ED"/>
                </a:solidFill>
                <a:latin typeface="Segoe UI Semibold"/>
              </a:rPr>
              <a:t>7</a:t>
            </a:r>
          </a:p>
        </p:txBody>
      </p:sp>
      <p:sp>
        <p:nvSpPr>
          <p:cNvPr id="132" name="Txt7"/>
          <p:cNvSpPr txBox="1"/>
          <p:nvPr/>
        </p:nvSpPr>
        <p:spPr>
          <a:xfrm>
            <a:off x="1473200" y="5706603"/>
            <a:ext cx="9067800" cy="419100"/>
          </a:xfrm>
          <a:prstGeom prst="rect">
            <a:avLst/>
          </a:prstGeom>
          <a:noFill/>
          <a:ln>
            <a:noFill/>
          </a:ln>
        </p:spPr>
        <p:txBody>
          <a:bodyPr wrap="square" lIns="0" tIns="0" rIns="0" bIns="0" anchor="ctr">
            <a:spAutoFit/>
          </a:bodyPr>
          <a:lstStyle/>
          <a:p>
            <a:pPr algn="l">
              <a:lnSpc>
                <a:spcPts val="1700"/>
              </a:lnSpc>
              <a:spcAft>
                <a:spcPts val="100"/>
              </a:spcAft>
              <a:buNone/>
            </a:pPr>
            <a:r>
              <a:rPr lang="en-US" sz="1500" b="1" dirty="0">
                <a:solidFill>
                  <a:srgbClr val="E8ECF0"/>
                </a:solidFill>
                <a:latin typeface="Segoe UI Semibold"/>
              </a:rPr>
              <a:t>Data &amp; Storage Layer</a:t>
            </a:r>
          </a:p>
          <a:p>
            <a:pPr algn="l">
              <a:lnSpc>
                <a:spcPts val="1500"/>
              </a:lnSpc>
              <a:buNone/>
            </a:pPr>
            <a:r>
              <a:rPr lang="en-US" sz="1400" dirty="0">
                <a:solidFill>
                  <a:srgbClr val="C0CAD4"/>
                </a:solidFill>
                <a:latin typeface="Segoe UI"/>
              </a:rPr>
              <a:t>4-tier memory — Redis, DynamoDB, OpenSearch, S3</a:t>
            </a:r>
          </a:p>
        </p:txBody>
      </p:sp>
      <p:sp>
        <p:nvSpPr>
          <p:cNvPr id="133" name="Callout"/>
          <p:cNvSpPr/>
          <p:nvPr/>
        </p:nvSpPr>
        <p:spPr>
          <a:xfrm>
            <a:off x="762000" y="6299200"/>
            <a:ext cx="10033000" cy="279400"/>
          </a:xfrm>
          <a:prstGeom prst="roundRect">
            <a:avLst>
              <a:gd name="adj" fmla="val 8000"/>
            </a:avLst>
          </a:prstGeom>
          <a:solidFill>
            <a:srgbClr val="152030"/>
          </a:solidFill>
          <a:ln w="9525">
            <a:solidFill>
              <a:srgbClr val="00838F"/>
            </a:solidFill>
          </a:ln>
        </p:spPr>
        <p:txBody>
          <a:bodyPr wrap="square" lIns="177800" tIns="0" rIns="177800" bIns="0" anchor="ctr">
            <a:spAutoFit/>
          </a:bodyPr>
          <a:lstStyle/>
          <a:p>
            <a:pPr algn="ctr">
              <a:buNone/>
            </a:pPr>
            <a:r>
              <a:rPr lang="en-US" sz="1400" b="1" dirty="0">
                <a:solidFill>
                  <a:srgbClr val="00E5FF"/>
                </a:solidFill>
                <a:latin typeface="Segoe UI Semibold"/>
              </a:rPr>
              <a:t>Layers 3 &amp; 5 are fully AI-driven. Layer 4 uses selective AI checks.</a:t>
            </a:r>
            <a:r>
              <a:rPr lang="en-US" sz="1400" dirty="0">
                <a:solidFill>
                  <a:srgbClr val="B0BEC5"/>
                </a:solidFill>
                <a:latin typeface="Segoe UI"/>
              </a:rPr>
              <a:t>  Everything else is standard enterprise integration.</a:t>
            </a:r>
          </a:p>
        </p:txBody>
      </p:sp>
      <p:sp>
        <p:nvSpPr>
          <p:cNvPr id="134" name="Brace"/>
          <p:cNvSpPr/>
          <p:nvPr/>
        </p:nvSpPr>
        <p:spPr>
          <a:xfrm>
            <a:off x="10820400" y="2667000"/>
            <a:ext cx="203200" cy="2032000"/>
          </a:xfrm>
          <a:prstGeom prst="rightBrace">
            <a:avLst/>
          </a:prstGeom>
          <a:noFill/>
          <a:ln w="19050">
            <a:solidFill>
              <a:srgbClr val="26C6DA"/>
            </a:solidFill>
          </a:ln>
        </p:spPr>
        <p:txBody>
          <a:bodyPr/>
          <a:lstStyle/>
          <a:p>
            <a:endParaRPr lang="en-US"/>
          </a:p>
        </p:txBody>
      </p:sp>
      <p:sp>
        <p:nvSpPr>
          <p:cNvPr id="135" name="AILbl"/>
          <p:cNvSpPr txBox="1"/>
          <p:nvPr/>
        </p:nvSpPr>
        <p:spPr>
          <a:xfrm rot="5400000">
            <a:off x="11074400" y="3530600"/>
            <a:ext cx="889000" cy="279400"/>
          </a:xfrm>
          <a:prstGeom prst="rect">
            <a:avLst/>
          </a:prstGeom>
          <a:noFill/>
          <a:ln>
            <a:noFill/>
          </a:ln>
        </p:spPr>
        <p:txBody>
          <a:bodyPr wrap="none" lIns="0" tIns="0" rIns="0" bIns="0" anchor="ctr">
            <a:spAutoFit/>
          </a:bodyPr>
          <a:lstStyle/>
          <a:p>
            <a:pPr algn="ctr">
              <a:buNone/>
            </a:pPr>
            <a:r>
              <a:rPr lang="en-US" sz="1000" b="1" dirty="0">
                <a:solidFill>
                  <a:srgbClr val="00BCD4"/>
                </a:solidFill>
                <a:latin typeface="Segoe UI Semibold"/>
              </a:rPr>
              <a:t>AI-Powered</a:t>
            </a:r>
          </a:p>
        </p:txBody>
      </p:sp>
      <p:cxnSp>
        <p:nvCxnSpPr>
          <p:cNvPr id="200" name="AccentLine"/>
          <p:cNvCxnSpPr/>
          <p:nvPr/>
        </p:nvCxnSpPr>
        <p:spPr>
          <a:xfrm>
            <a:off x="762000" y="1028700"/>
            <a:ext cx="1270000" cy="0"/>
          </a:xfrm>
          <a:prstGeom prst="line">
            <a:avLst/>
          </a:prstGeom>
          <a:ln w="25400">
            <a:solidFill>
              <a:srgbClr val="00BCD4"/>
            </a:solidFill>
            <a:round/>
          </a:ln>
        </p:spPr>
      </p:cxnSp>
    </p:spTree>
    <p:extLst>
      <p:ext uri="{BB962C8B-B14F-4D97-AF65-F5344CB8AC3E}">
        <p14:creationId xmlns:p14="http://schemas.microsoft.com/office/powerpoint/2010/main" val="3005216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500" name="LayerTitle"/>
          <p:cNvSpPr txBox="1"/>
          <p:nvPr/>
        </p:nvSpPr>
        <p:spPr>
          <a:xfrm>
            <a:off x="457200" y="443468"/>
            <a:ext cx="6350000" cy="369332"/>
          </a:xfrm>
          <a:prstGeom prst="rect">
            <a:avLst/>
          </a:prstGeom>
          <a:noFill/>
          <a:ln>
            <a:noFill/>
          </a:ln>
        </p:spPr>
        <p:txBody>
          <a:bodyPr wrap="square" lIns="0" tIns="0" rIns="0" bIns="0" anchor="b">
            <a:spAutoFit/>
          </a:bodyPr>
          <a:lstStyle/>
          <a:p>
            <a:pPr algn="l">
              <a:buNone/>
            </a:pPr>
            <a:r>
              <a:rPr lang="en-US" sz="2400" b="1" dirty="0">
                <a:solidFill>
                  <a:srgbClr val="0D1B3E"/>
                </a:solidFill>
                <a:latin typeface="Segoe UI Semibold"/>
              </a:rPr>
              <a:t>Presentation Layer</a:t>
            </a:r>
          </a:p>
        </p:txBody>
      </p:sp>
      <p:sp>
        <p:nvSpPr>
          <p:cNvPr id="501" name="Subtitle"/>
          <p:cNvSpPr txBox="1"/>
          <p:nvPr/>
        </p:nvSpPr>
        <p:spPr>
          <a:xfrm>
            <a:off x="457200" y="838200"/>
            <a:ext cx="6350000" cy="215444"/>
          </a:xfrm>
          <a:prstGeom prst="rect">
            <a:avLst/>
          </a:prstGeom>
          <a:noFill/>
          <a:ln>
            <a:noFill/>
          </a:ln>
        </p:spPr>
        <p:txBody>
          <a:bodyPr wrap="square" lIns="0" tIns="0" rIns="0" bIns="0" anchor="t">
            <a:spAutoFit/>
          </a:bodyPr>
          <a:lstStyle/>
          <a:p>
            <a:pPr algn="l">
              <a:buNone/>
            </a:pPr>
            <a:r>
              <a:rPr lang="en-US" sz="1400" b="1" dirty="0">
                <a:solidFill>
                  <a:srgbClr val="5A6577"/>
                </a:solidFill>
                <a:latin typeface="Segoe UI"/>
              </a:rPr>
              <a:t>User-facing web portals and admin consoles</a:t>
            </a:r>
          </a:p>
        </p:txBody>
      </p:sp>
      <p:cxnSp>
        <p:nvCxnSpPr>
          <p:cNvPr id="502" name="SepLine"/>
          <p:cNvCxnSpPr/>
          <p:nvPr/>
        </p:nvCxnSpPr>
        <p:spPr>
          <a:xfrm>
            <a:off x="457200" y="1143000"/>
            <a:ext cx="9448800" cy="0"/>
          </a:xfrm>
          <a:prstGeom prst="line">
            <a:avLst/>
          </a:prstGeom>
          <a:ln w="12700">
            <a:solidFill>
              <a:srgbClr val="D0D8E8"/>
            </a:solidFill>
          </a:ln>
        </p:spPr>
      </p:cxnSp>
      <p:sp>
        <p:nvSpPr>
          <p:cNvPr id="503" name="OverviewHdr"/>
          <p:cNvSpPr txBox="1"/>
          <p:nvPr/>
        </p:nvSpPr>
        <p:spPr>
          <a:xfrm>
            <a:off x="558800" y="1270000"/>
            <a:ext cx="1905000" cy="215444"/>
          </a:xfrm>
          <a:prstGeom prst="rect">
            <a:avLst/>
          </a:prstGeom>
          <a:noFill/>
          <a:ln>
            <a:noFill/>
          </a:ln>
        </p:spPr>
        <p:txBody>
          <a:bodyPr wrap="square" lIns="0" tIns="0" rIns="0" bIns="0" anchor="t">
            <a:spAutoFit/>
          </a:bodyPr>
          <a:lstStyle/>
          <a:p>
            <a:pPr algn="l">
              <a:buNone/>
            </a:pPr>
            <a:r>
              <a:rPr lang="en-US" sz="1400" b="1" dirty="0">
                <a:solidFill>
                  <a:srgbClr val="1257A8"/>
                </a:solidFill>
                <a:latin typeface="Segoe UI Semibold"/>
              </a:rPr>
              <a:t>Overview</a:t>
            </a:r>
          </a:p>
        </p:txBody>
      </p:sp>
      <p:sp>
        <p:nvSpPr>
          <p:cNvPr id="504" name="OverviewTxt"/>
          <p:cNvSpPr txBox="1"/>
          <p:nvPr/>
        </p:nvSpPr>
        <p:spPr>
          <a:xfrm>
            <a:off x="558800" y="1574800"/>
            <a:ext cx="4622800" cy="1724383"/>
          </a:xfrm>
          <a:prstGeom prst="rect">
            <a:avLst/>
          </a:prstGeom>
          <a:noFill/>
          <a:ln>
            <a:noFill/>
          </a:ln>
        </p:spPr>
        <p:txBody>
          <a:bodyPr wrap="square" lIns="0" tIns="0" rIns="0" bIns="0" anchor="t">
            <a:spAutoFit/>
          </a:bodyPr>
          <a:lstStyle/>
          <a:p>
            <a:pPr algn="l">
              <a:lnSpc>
                <a:spcPts val="1700"/>
              </a:lnSpc>
              <a:buNone/>
            </a:pPr>
            <a:r>
              <a:rPr lang="en-US" sz="1200" dirty="0">
                <a:solidFill>
                  <a:srgbClr val="444D5C"/>
                </a:solidFill>
                <a:latin typeface="Segoe UI"/>
              </a:rPr>
              <a:t>This is the front door — what people actually see and click on. Angular web apps that let different users do different things based on their role. A support analyst sees a triage queue. A resolver sees investigation dashboards. A manager sees escalation alerts. An admin configures routing rules and thresholds. No AI here — just the interface skin sitting on top of everything else. All communication goes through the API Gateway; nothing calls agents or services directly.</a:t>
            </a:r>
          </a:p>
        </p:txBody>
      </p:sp>
      <p:sp>
        <p:nvSpPr>
          <p:cNvPr id="505" name="KCHdr"/>
          <p:cNvSpPr txBox="1"/>
          <p:nvPr/>
        </p:nvSpPr>
        <p:spPr>
          <a:xfrm>
            <a:off x="558800" y="3403600"/>
            <a:ext cx="2540000" cy="215444"/>
          </a:xfrm>
          <a:prstGeom prst="rect">
            <a:avLst/>
          </a:prstGeom>
          <a:noFill/>
          <a:ln>
            <a:noFill/>
          </a:ln>
        </p:spPr>
        <p:txBody>
          <a:bodyPr wrap="square" lIns="0" tIns="0" rIns="0" bIns="0" anchor="t">
            <a:spAutoFit/>
          </a:bodyPr>
          <a:lstStyle/>
          <a:p>
            <a:pPr algn="l">
              <a:buNone/>
            </a:pPr>
            <a:r>
              <a:rPr lang="en-US" sz="1400" b="1" dirty="0">
                <a:solidFill>
                  <a:srgbClr val="1257A8"/>
                </a:solidFill>
                <a:latin typeface="Segoe UI Semibold"/>
              </a:rPr>
              <a:t>Key Components</a:t>
            </a:r>
          </a:p>
        </p:txBody>
      </p:sp>
      <p:sp>
        <p:nvSpPr>
          <p:cNvPr id="506" name="KCTxt"/>
          <p:cNvSpPr txBox="1"/>
          <p:nvPr/>
        </p:nvSpPr>
        <p:spPr>
          <a:xfrm>
            <a:off x="558800" y="3708400"/>
            <a:ext cx="4622800" cy="1169744"/>
          </a:xfrm>
          <a:prstGeom prst="rect">
            <a:avLst/>
          </a:prstGeom>
          <a:noFill/>
          <a:ln>
            <a:noFill/>
          </a:ln>
        </p:spPr>
        <p:txBody>
          <a:bodyPr wrap="square" lIns="0" tIns="0" rIns="0" bIns="0" anchor="t">
            <a:spAutoFit/>
          </a:bodyPr>
          <a:lstStyle/>
          <a:p>
            <a:pPr marL="171450" indent="-171450" algn="l">
              <a:lnSpc>
                <a:spcPts val="1800"/>
              </a:lnSpc>
              <a:spcAft>
                <a:spcPts val="100"/>
              </a:spcAft>
              <a:buFont typeface="Arial"/>
              <a:buChar char="•"/>
            </a:pPr>
            <a:r>
              <a:rPr lang="en-US" sz="1200" b="1" dirty="0">
                <a:solidFill>
                  <a:srgbClr val="0D1B3E"/>
                </a:solidFill>
                <a:latin typeface="Segoe UI Semibold"/>
              </a:rPr>
              <a:t>Triage Portal</a:t>
            </a:r>
            <a:r>
              <a:rPr lang="en-US" sz="1200" dirty="0">
                <a:solidFill>
                  <a:srgbClr val="444D5C"/>
                </a:solidFill>
                <a:latin typeface="Segoe UI"/>
              </a:rPr>
              <a:t> – Support agents review flagged tickets</a:t>
            </a:r>
          </a:p>
          <a:p>
            <a:pPr marL="171450" indent="-171450" algn="l">
              <a:lnSpc>
                <a:spcPts val="1800"/>
              </a:lnSpc>
              <a:spcAft>
                <a:spcPts val="100"/>
              </a:spcAft>
              <a:buFont typeface="Arial"/>
              <a:buChar char="•"/>
            </a:pPr>
            <a:r>
              <a:rPr lang="en-US" sz="1200" b="1" dirty="0">
                <a:solidFill>
                  <a:srgbClr val="0D1B3E"/>
                </a:solidFill>
                <a:latin typeface="Segoe UI Semibold"/>
              </a:rPr>
              <a:t>Investigation Portal</a:t>
            </a:r>
            <a:r>
              <a:rPr lang="en-US" sz="1200" dirty="0">
                <a:solidFill>
                  <a:srgbClr val="444D5C"/>
                </a:solidFill>
                <a:latin typeface="Segoe UI"/>
              </a:rPr>
              <a:t> – Resolvers across Finance, Procurement, IT, Legal</a:t>
            </a:r>
          </a:p>
          <a:p>
            <a:pPr marL="171450" indent="-171450" algn="l">
              <a:lnSpc>
                <a:spcPts val="1800"/>
              </a:lnSpc>
              <a:spcAft>
                <a:spcPts val="100"/>
              </a:spcAft>
              <a:buFont typeface="Arial"/>
              <a:buChar char="•"/>
            </a:pPr>
            <a:r>
              <a:rPr lang="en-US" sz="1200" b="1" dirty="0">
                <a:solidFill>
                  <a:srgbClr val="0D1B3E"/>
                </a:solidFill>
                <a:latin typeface="Segoe UI Semibold"/>
              </a:rPr>
              <a:t>Escalation Dashboard</a:t>
            </a:r>
            <a:r>
              <a:rPr lang="en-US" sz="1200" dirty="0">
                <a:solidFill>
                  <a:srgbClr val="444D5C"/>
                </a:solidFill>
                <a:latin typeface="Segoe UI"/>
              </a:rPr>
              <a:t> – Managers track SLA alerts</a:t>
            </a:r>
          </a:p>
          <a:p>
            <a:pPr marL="171450" indent="-171450" algn="l">
              <a:lnSpc>
                <a:spcPts val="1800"/>
              </a:lnSpc>
              <a:buFont typeface="Arial"/>
              <a:buChar char="•"/>
            </a:pPr>
            <a:r>
              <a:rPr lang="en-US" sz="1200" b="1" dirty="0">
                <a:solidFill>
                  <a:srgbClr val="0D1B3E"/>
                </a:solidFill>
                <a:latin typeface="Segoe UI Semibold"/>
              </a:rPr>
              <a:t>Admin Console</a:t>
            </a:r>
            <a:r>
              <a:rPr lang="en-US" sz="1200" dirty="0">
                <a:solidFill>
                  <a:srgbClr val="444D5C"/>
                </a:solidFill>
                <a:latin typeface="Segoe UI"/>
              </a:rPr>
              <a:t> – Configure routing rules, thresholds, templates</a:t>
            </a:r>
          </a:p>
        </p:txBody>
      </p:sp>
      <p:sp>
        <p:nvSpPr>
          <p:cNvPr id="553" name="LIShadow"/>
          <p:cNvSpPr/>
          <p:nvPr/>
        </p:nvSpPr>
        <p:spPr>
          <a:xfrm>
            <a:off x="5511800" y="3378200"/>
            <a:ext cx="4419600" cy="1828800"/>
          </a:xfrm>
          <a:prstGeom prst="roundRect">
            <a:avLst>
              <a:gd name="adj" fmla="val 5000"/>
            </a:avLst>
          </a:prstGeom>
          <a:solidFill>
            <a:srgbClr val="E0E4EC">
              <a:alpha val="50000"/>
            </a:srgbClr>
          </a:solidFill>
          <a:ln>
            <a:noFill/>
          </a:ln>
        </p:spPr>
        <p:txBody>
          <a:bodyPr/>
          <a:lstStyle/>
          <a:p>
            <a:endParaRPr lang="en-US"/>
          </a:p>
        </p:txBody>
      </p:sp>
      <p:sp>
        <p:nvSpPr>
          <p:cNvPr id="510" name="LIBox"/>
          <p:cNvSpPr/>
          <p:nvPr/>
        </p:nvSpPr>
        <p:spPr>
          <a:xfrm>
            <a:off x="5486400" y="3352800"/>
            <a:ext cx="4419600" cy="1828800"/>
          </a:xfrm>
          <a:prstGeom prst="roundRect">
            <a:avLst>
              <a:gd name="adj" fmla="val 5000"/>
            </a:avLst>
          </a:prstGeom>
          <a:solidFill>
            <a:srgbClr val="FFFFFF"/>
          </a:solidFill>
          <a:ln w="9525">
            <a:solidFill>
              <a:srgbClr val="D8DDE6"/>
            </a:solidFill>
          </a:ln>
        </p:spPr>
        <p:txBody>
          <a:bodyPr/>
          <a:lstStyle/>
          <a:p>
            <a:endParaRPr lang="en-US"/>
          </a:p>
        </p:txBody>
      </p:sp>
      <p:sp>
        <p:nvSpPr>
          <p:cNvPr id="511" name="LIHdrBar"/>
          <p:cNvSpPr/>
          <p:nvPr/>
        </p:nvSpPr>
        <p:spPr>
          <a:xfrm>
            <a:off x="5486400" y="3352800"/>
            <a:ext cx="4419600" cy="355600"/>
          </a:xfrm>
          <a:prstGeom prst="roundRect">
            <a:avLst>
              <a:gd name="adj" fmla="val 5000"/>
            </a:avLst>
          </a:prstGeom>
          <a:solidFill>
            <a:srgbClr val="1565C0"/>
          </a:solidFill>
          <a:ln w="0">
            <a:noFill/>
          </a:ln>
        </p:spPr>
        <p:txBody>
          <a:bodyPr wrap="square" lIns="127000" tIns="0" rIns="127000" bIns="0" anchor="ctr"/>
          <a:lstStyle/>
          <a:p>
            <a:pPr algn="ctr">
              <a:buNone/>
            </a:pPr>
            <a:r>
              <a:rPr lang="en-US" sz="1200" b="1" dirty="0">
                <a:solidFill>
                  <a:srgbClr val="FFFFFF"/>
                </a:solidFill>
                <a:latin typeface="Segoe UI Semibold"/>
              </a:rPr>
              <a:t>Layer Interactions</a:t>
            </a:r>
          </a:p>
        </p:txBody>
      </p:sp>
      <p:sp>
        <p:nvSpPr>
          <p:cNvPr id="512" name="LITxt"/>
          <p:cNvSpPr txBox="1"/>
          <p:nvPr/>
        </p:nvSpPr>
        <p:spPr>
          <a:xfrm>
            <a:off x="5638800" y="3784600"/>
            <a:ext cx="4114800" cy="938911"/>
          </a:xfrm>
          <a:prstGeom prst="rect">
            <a:avLst/>
          </a:prstGeom>
          <a:noFill/>
          <a:ln>
            <a:noFill/>
          </a:ln>
        </p:spPr>
        <p:txBody>
          <a:bodyPr wrap="square" lIns="0" tIns="0" rIns="0" bIns="0" anchor="t">
            <a:spAutoFit/>
          </a:bodyPr>
          <a:lstStyle/>
          <a:p>
            <a:pPr marL="114300" indent="-114300" algn="l">
              <a:lnSpc>
                <a:spcPts val="1800"/>
              </a:lnSpc>
              <a:spcAft>
                <a:spcPts val="50"/>
              </a:spcAft>
              <a:buFont typeface="Arial"/>
              <a:buChar char="▸"/>
            </a:pPr>
            <a:r>
              <a:rPr lang="en-US" sz="1200" dirty="0">
                <a:solidFill>
                  <a:srgbClr val="2D3648"/>
                </a:solidFill>
                <a:latin typeface="Segoe UI"/>
              </a:rPr>
              <a:t>Sends authenticated requests to the API Gateway Layer</a:t>
            </a:r>
          </a:p>
          <a:p>
            <a:pPr marL="114300" indent="-114300" algn="l">
              <a:lnSpc>
                <a:spcPts val="1800"/>
              </a:lnSpc>
              <a:spcAft>
                <a:spcPts val="50"/>
              </a:spcAft>
              <a:buFont typeface="Arial"/>
              <a:buChar char="▸"/>
            </a:pPr>
            <a:r>
              <a:rPr lang="en-US" sz="1200" dirty="0">
                <a:solidFill>
                  <a:srgbClr val="2D3648"/>
                </a:solidFill>
                <a:latin typeface="Segoe UI"/>
              </a:rPr>
              <a:t>Receives AI analysis, draft emails, SLA dashboards</a:t>
            </a:r>
          </a:p>
          <a:p>
            <a:pPr marL="114300" indent="-114300" algn="l">
              <a:lnSpc>
                <a:spcPts val="1800"/>
              </a:lnSpc>
              <a:spcAft>
                <a:spcPts val="50"/>
              </a:spcAft>
              <a:buFont typeface="Arial"/>
              <a:buChar char="▸"/>
            </a:pPr>
            <a:r>
              <a:rPr lang="en-US" sz="1200" dirty="0">
                <a:solidFill>
                  <a:srgbClr val="2D3648"/>
                </a:solidFill>
                <a:latin typeface="Segoe UI"/>
              </a:rPr>
              <a:t>Human corrections flow to Orchestration for learning</a:t>
            </a:r>
          </a:p>
          <a:p>
            <a:pPr marL="114300" indent="-114300" algn="l">
              <a:lnSpc>
                <a:spcPts val="1800"/>
              </a:lnSpc>
              <a:buFont typeface="Arial"/>
              <a:buChar char="▸"/>
            </a:pPr>
            <a:r>
              <a:rPr lang="en-US" sz="1200" dirty="0">
                <a:solidFill>
                  <a:srgbClr val="2D3648"/>
                </a:solidFill>
                <a:latin typeface="Segoe UI"/>
              </a:rPr>
              <a:t>Displays real-time ticket and queue updates</a:t>
            </a:r>
          </a:p>
        </p:txBody>
      </p:sp>
      <p:sp>
        <p:nvSpPr>
          <p:cNvPr id="513" name="FlowHdr"/>
          <p:cNvSpPr txBox="1"/>
          <p:nvPr/>
        </p:nvSpPr>
        <p:spPr>
          <a:xfrm>
            <a:off x="10109200" y="1270000"/>
            <a:ext cx="1778000" cy="169277"/>
          </a:xfrm>
          <a:prstGeom prst="rect">
            <a:avLst/>
          </a:prstGeom>
          <a:noFill/>
          <a:ln>
            <a:noFill/>
          </a:ln>
        </p:spPr>
        <p:txBody>
          <a:bodyPr wrap="square" lIns="0" tIns="0" rIns="0" bIns="0" anchor="t">
            <a:spAutoFit/>
          </a:bodyPr>
          <a:lstStyle/>
          <a:p>
            <a:pPr algn="ctr">
              <a:buNone/>
            </a:pPr>
            <a:r>
              <a:rPr lang="en-US" sz="1100" b="1" dirty="0">
                <a:solidFill>
                  <a:srgbClr val="5A6577"/>
                </a:solidFill>
                <a:latin typeface="Segoe UI Semibold"/>
              </a:rPr>
              <a:t>Architecture Flow</a:t>
            </a:r>
          </a:p>
        </p:txBody>
      </p:sp>
      <p:sp>
        <p:nvSpPr>
          <p:cNvPr id="514" name="Flow0"/>
          <p:cNvSpPr/>
          <p:nvPr/>
        </p:nvSpPr>
        <p:spPr>
          <a:xfrm>
            <a:off x="10109200" y="1625600"/>
            <a:ext cx="1727200" cy="406400"/>
          </a:xfrm>
          <a:prstGeom prst="roundRect">
            <a:avLst>
              <a:gd name="adj" fmla="val 10000"/>
            </a:avLst>
          </a:prstGeom>
          <a:solidFill>
            <a:srgbClr val="1565C0"/>
          </a:solidFill>
          <a:ln w="9525">
            <a:solidFill>
              <a:srgbClr val="1565C0"/>
            </a:solidFill>
          </a:ln>
        </p:spPr>
        <p:txBody>
          <a:bodyPr wrap="square" lIns="101600" tIns="0" rIns="101600" bIns="0" anchor="ctr"/>
          <a:lstStyle/>
          <a:p>
            <a:pPr algn="ctr">
              <a:buNone/>
            </a:pPr>
            <a:r>
              <a:rPr lang="en-US" sz="1000" b="1" dirty="0">
                <a:solidFill>
                  <a:srgbClr val="FFFFFF"/>
                </a:solidFill>
                <a:latin typeface="Segoe UI Semibold"/>
              </a:rPr>
              <a:t>▶ Presentation</a:t>
            </a:r>
          </a:p>
        </p:txBody>
      </p:sp>
      <p:sp>
        <p:nvSpPr>
          <p:cNvPr id="515" name="Flow1"/>
          <p:cNvSpPr/>
          <p:nvPr/>
        </p:nvSpPr>
        <p:spPr>
          <a:xfrm>
            <a:off x="10109200" y="213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7A8599"/>
                </a:solidFill>
                <a:latin typeface="Segoe UI"/>
              </a:rPr>
              <a:t>API Gateway &amp; Auth</a:t>
            </a:r>
          </a:p>
        </p:txBody>
      </p:sp>
      <p:sp>
        <p:nvSpPr>
          <p:cNvPr id="516" name="Flow2"/>
          <p:cNvSpPr/>
          <p:nvPr/>
        </p:nvSpPr>
        <p:spPr>
          <a:xfrm>
            <a:off x="10109200" y="2641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7A8599"/>
                </a:solidFill>
                <a:latin typeface="Segoe UI"/>
              </a:rPr>
              <a:t>Orchestration</a:t>
            </a:r>
          </a:p>
        </p:txBody>
      </p:sp>
      <p:sp>
        <p:nvSpPr>
          <p:cNvPr id="517" name="Flow3"/>
          <p:cNvSpPr/>
          <p:nvPr/>
        </p:nvSpPr>
        <p:spPr>
          <a:xfrm>
            <a:off x="10109200" y="3149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7A8599"/>
                </a:solidFill>
                <a:latin typeface="Segoe UI"/>
              </a:rPr>
              <a:t>Security &amp; Gov.</a:t>
            </a:r>
          </a:p>
        </p:txBody>
      </p:sp>
      <p:sp>
        <p:nvSpPr>
          <p:cNvPr id="518" name="Flow4"/>
          <p:cNvSpPr/>
          <p:nvPr/>
        </p:nvSpPr>
        <p:spPr>
          <a:xfrm>
            <a:off x="10109200" y="3657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7A8599"/>
                </a:solidFill>
                <a:latin typeface="Segoe UI"/>
              </a:rPr>
              <a:t>Agent Services</a:t>
            </a:r>
          </a:p>
        </p:txBody>
      </p:sp>
      <p:sp>
        <p:nvSpPr>
          <p:cNvPr id="519" name="Flow5"/>
          <p:cNvSpPr/>
          <p:nvPr/>
        </p:nvSpPr>
        <p:spPr>
          <a:xfrm>
            <a:off x="10109200" y="416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7A8599"/>
                </a:solidFill>
                <a:latin typeface="Segoe UI"/>
              </a:rPr>
              <a:t>Integration</a:t>
            </a:r>
          </a:p>
        </p:txBody>
      </p:sp>
      <p:sp>
        <p:nvSpPr>
          <p:cNvPr id="520" name="Flow6"/>
          <p:cNvSpPr/>
          <p:nvPr/>
        </p:nvSpPr>
        <p:spPr>
          <a:xfrm>
            <a:off x="10109200" y="467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7A8599"/>
                </a:solidFill>
                <a:latin typeface="Segoe UI"/>
              </a:rPr>
              <a:t>Data &amp; Storage</a:t>
            </a:r>
          </a:p>
        </p:txBody>
      </p:sp>
      <p:sp>
        <p:nvSpPr>
          <p:cNvPr id="521" name="LayerPill"/>
          <p:cNvSpPr/>
          <p:nvPr/>
        </p:nvSpPr>
        <p:spPr>
          <a:xfrm>
            <a:off x="10490200" y="355600"/>
            <a:ext cx="1016000" cy="355600"/>
          </a:xfrm>
          <a:prstGeom prst="roundRect">
            <a:avLst>
              <a:gd name="adj" fmla="val 16667"/>
            </a:avLst>
          </a:prstGeom>
          <a:solidFill>
            <a:srgbClr val="1565C0"/>
          </a:solidFill>
          <a:ln w="0">
            <a:noFill/>
          </a:ln>
        </p:spPr>
        <p:txBody>
          <a:bodyPr wrap="none" lIns="0" tIns="0" rIns="0" bIns="0" anchor="ctr" anchorCtr="1"/>
          <a:lstStyle/>
          <a:p>
            <a:pPr algn="ctr">
              <a:buNone/>
            </a:pPr>
            <a:r>
              <a:rPr lang="en-US" sz="1100" b="1" dirty="0">
                <a:solidFill>
                  <a:srgbClr val="FFFFFF"/>
                </a:solidFill>
                <a:latin typeface="Segoe UI Semibold"/>
              </a:rPr>
              <a:t>Layer 1</a:t>
            </a:r>
          </a:p>
        </p:txBody>
      </p:sp>
      <p:sp>
        <p:nvSpPr>
          <p:cNvPr id="522" name="Footer"/>
          <p:cNvSpPr txBox="1"/>
          <p:nvPr/>
        </p:nvSpPr>
        <p:spPr>
          <a:xfrm>
            <a:off x="457200" y="6531689"/>
            <a:ext cx="5080000" cy="123111"/>
          </a:xfrm>
          <a:prstGeom prst="rect">
            <a:avLst/>
          </a:prstGeom>
          <a:noFill/>
          <a:ln>
            <a:noFill/>
          </a:ln>
        </p:spPr>
        <p:txBody>
          <a:bodyPr wrap="square" lIns="0" tIns="0" rIns="0" bIns="0" anchor="b">
            <a:spAutoFit/>
          </a:bodyPr>
          <a:lstStyle/>
          <a:p>
            <a:pPr algn="l">
              <a:buNone/>
            </a:pPr>
            <a:r>
              <a:rPr lang="en-US" sz="800" dirty="0">
                <a:solidFill>
                  <a:srgbClr val="9BA4B0"/>
                </a:solidFill>
                <a:latin typeface="Segoe UI"/>
              </a:rPr>
              <a:t>VQMS Architecture | Confidential</a:t>
            </a:r>
          </a:p>
        </p:txBody>
      </p:sp>
      <p:sp>
        <p:nvSpPr>
          <p:cNvPr id="550" name="OvAccent"/>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551" name="KCAccent"/>
          <p:cNvSpPr/>
          <p:nvPr/>
        </p:nvSpPr>
        <p:spPr>
          <a:xfrm>
            <a:off x="457200" y="3429000"/>
            <a:ext cx="50800" cy="203200"/>
          </a:xfrm>
          <a:prstGeom prst="roundRect">
            <a:avLst>
              <a:gd name="adj" fmla="val 16667"/>
            </a:avLst>
          </a:prstGeom>
          <a:solidFill>
            <a:srgbClr val="1565C0"/>
          </a:solidFill>
          <a:ln>
            <a:noFill/>
          </a:ln>
        </p:spPr>
        <p:txBody>
          <a:bodyPr/>
          <a:lstStyle/>
          <a:p>
            <a:endParaRPr lang="en-US"/>
          </a:p>
        </p:txBody>
      </p:sp>
      <p:graphicFrame>
        <p:nvGraphicFramePr>
          <p:cNvPr id="11" name="Table 10">
            <a:extLst>
              <a:ext uri="{FF2B5EF4-FFF2-40B4-BE49-F238E27FC236}">
                <a16:creationId xmlns:a16="http://schemas.microsoft.com/office/drawing/2014/main" id="{D343612E-BE52-4A1D-A5A6-826D7AC1E3BF}"/>
              </a:ext>
            </a:extLst>
          </p:cNvPr>
          <p:cNvGraphicFramePr>
            <a:graphicFrameLocks noGrp="1"/>
          </p:cNvGraphicFramePr>
          <p:nvPr>
            <p:extLst>
              <p:ext uri="{D42A27DB-BD31-4B8C-83A1-F6EECF244321}">
                <p14:modId xmlns:p14="http://schemas.microsoft.com/office/powerpoint/2010/main" val="3072764561"/>
              </p:ext>
            </p:extLst>
          </p:nvPr>
        </p:nvGraphicFramePr>
        <p:xfrm>
          <a:off x="5486400" y="1600200"/>
          <a:ext cx="4419600" cy="1625600"/>
        </p:xfrm>
        <a:graphic>
          <a:graphicData uri="http://schemas.openxmlformats.org/drawingml/2006/table">
            <a:tbl>
              <a:tblPr firstRow="1" bandRow="1">
                <a:tableStyleId>{5C22544A-7EE6-4342-B048-85BDC9FD1C3A}</a:tableStyleId>
              </a:tblPr>
              <a:tblGrid>
                <a:gridCol w="1546860">
                  <a:extLst>
                    <a:ext uri="{9D8B030D-6E8A-4147-A177-3AD203B41FA5}">
                      <a16:colId xmlns:a16="http://schemas.microsoft.com/office/drawing/2014/main" val="104815586"/>
                    </a:ext>
                  </a:extLst>
                </a:gridCol>
                <a:gridCol w="1546860">
                  <a:extLst>
                    <a:ext uri="{9D8B030D-6E8A-4147-A177-3AD203B41FA5}">
                      <a16:colId xmlns:a16="http://schemas.microsoft.com/office/drawing/2014/main" val="1046886343"/>
                    </a:ext>
                  </a:extLst>
                </a:gridCol>
                <a:gridCol w="1325880">
                  <a:extLst>
                    <a:ext uri="{9D8B030D-6E8A-4147-A177-3AD203B41FA5}">
                      <a16:colId xmlns:a16="http://schemas.microsoft.com/office/drawing/2014/main" val="1636839550"/>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257A8"/>
                    </a:solidFill>
                  </a:tcPr>
                </a:tc>
                <a:tc>
                  <a:txBody>
                    <a:bodyPr/>
                    <a:lstStyle/>
                    <a:p>
                      <a:pPr algn="ctr"/>
                      <a:r>
                        <a:rPr lang="en-IN" sz="1000" b="1">
                          <a:solidFill>
                            <a:srgbClr val="FFFFFF"/>
                          </a:solidFill>
                          <a:latin typeface="Segoe UI Semibold"/>
                          <a:cs typeface="Segoe UI Semibold"/>
                        </a:rPr>
                        <a:t>Open Source</a:t>
                      </a:r>
                    </a:p>
                  </a:txBody>
                  <a:tcPr anchor="ctr">
                    <a:solidFill>
                      <a:srgbClr val="1257A8"/>
                    </a:solidFill>
                  </a:tcPr>
                </a:tc>
                <a:tc>
                  <a:txBody>
                    <a:bodyPr/>
                    <a:lstStyle/>
                    <a:p>
                      <a:pPr algn="ctr"/>
                      <a:r>
                        <a:rPr lang="en-IN" sz="1000" b="1">
                          <a:solidFill>
                            <a:srgbClr val="FFFFFF"/>
                          </a:solidFill>
                          <a:latin typeface="Segoe UI Semibold"/>
                          <a:cs typeface="Segoe UI Semibold"/>
                        </a:rPr>
                        <a:t>Purpose</a:t>
                      </a:r>
                    </a:p>
                  </a:txBody>
                  <a:tcPr anchor="ctr">
                    <a:solidFill>
                      <a:srgbClr val="1257A8"/>
                    </a:solidFill>
                  </a:tcPr>
                </a:tc>
                <a:extLst>
                  <a:ext uri="{0D108BD9-81ED-4DB2-BD59-A6C34878D82A}">
                    <a16:rowId xmlns:a16="http://schemas.microsoft.com/office/drawing/2014/main" val="2546102728"/>
                  </a:ext>
                </a:extLst>
              </a:tr>
              <a:tr h="330200">
                <a:tc>
                  <a:txBody>
                    <a:bodyPr/>
                    <a:lstStyle/>
                    <a:p>
                      <a:pPr algn="l"/>
                      <a:r>
                        <a:rPr lang="en-IN" sz="900">
                          <a:solidFill>
                            <a:srgbClr val="2D3648"/>
                          </a:solidFill>
                          <a:latin typeface="Segoe UI"/>
                          <a:cs typeface="Segoe UI"/>
                        </a:rPr>
                        <a:t>CloudFront + S3</a:t>
                      </a:r>
                    </a:p>
                  </a:txBody>
                  <a:tcPr anchor="ctr">
                    <a:solidFill>
                      <a:srgbClr val="EEF2F7"/>
                    </a:solidFill>
                  </a:tcPr>
                </a:tc>
                <a:tc>
                  <a:txBody>
                    <a:bodyPr/>
                    <a:lstStyle/>
                    <a:p>
                      <a:pPr algn="l"/>
                      <a:r>
                        <a:rPr lang="en-IN" sz="900">
                          <a:solidFill>
                            <a:srgbClr val="2D3648"/>
                          </a:solidFill>
                          <a:latin typeface="Segoe UI"/>
                          <a:cs typeface="Segoe UI"/>
                        </a:rPr>
                        <a:t>Nginx / Caddy</a:t>
                      </a:r>
                    </a:p>
                  </a:txBody>
                  <a:tcPr anchor="ctr">
                    <a:solidFill>
                      <a:srgbClr val="EEF2F7"/>
                    </a:solidFill>
                  </a:tcPr>
                </a:tc>
                <a:tc>
                  <a:txBody>
                    <a:bodyPr/>
                    <a:lstStyle/>
                    <a:p>
                      <a:pPr algn="l"/>
                      <a:r>
                        <a:rPr lang="en-IN" sz="900">
                          <a:solidFill>
                            <a:srgbClr val="2D3648"/>
                          </a:solidFill>
                          <a:latin typeface="Segoe UI"/>
                          <a:cs typeface="Segoe UI"/>
                        </a:rPr>
                        <a:t>Static Hosting</a:t>
                      </a:r>
                    </a:p>
                  </a:txBody>
                  <a:tcPr anchor="ctr">
                    <a:solidFill>
                      <a:srgbClr val="EEF2F7"/>
                    </a:solidFill>
                  </a:tcPr>
                </a:tc>
                <a:extLst>
                  <a:ext uri="{0D108BD9-81ED-4DB2-BD59-A6C34878D82A}">
                    <a16:rowId xmlns:a16="http://schemas.microsoft.com/office/drawing/2014/main" val="2407652199"/>
                  </a:ext>
                </a:extLst>
              </a:tr>
              <a:tr h="330200">
                <a:tc>
                  <a:txBody>
                    <a:bodyPr/>
                    <a:lstStyle/>
                    <a:p>
                      <a:pPr algn="l"/>
                      <a:r>
                        <a:rPr lang="en-IN" sz="900">
                          <a:solidFill>
                            <a:srgbClr val="2D3648"/>
                          </a:solidFill>
                          <a:latin typeface="Segoe UI"/>
                          <a:cs typeface="Segoe UI"/>
                        </a:rPr>
                        <a:t>Amplify</a:t>
                      </a:r>
                    </a:p>
                  </a:txBody>
                  <a:tcPr anchor="ctr">
                    <a:solidFill>
                      <a:srgbClr val="FFFFFF"/>
                    </a:solidFill>
                  </a:tcPr>
                </a:tc>
                <a:tc>
                  <a:txBody>
                    <a:bodyPr/>
                    <a:lstStyle/>
                    <a:p>
                      <a:pPr algn="l"/>
                      <a:r>
                        <a:rPr lang="en-IN" sz="900">
                          <a:solidFill>
                            <a:srgbClr val="2D3648"/>
                          </a:solidFill>
                          <a:latin typeface="Segoe UI"/>
                          <a:cs typeface="Segoe UI"/>
                        </a:rPr>
                        <a:t>React / Next.js</a:t>
                      </a:r>
                    </a:p>
                  </a:txBody>
                  <a:tcPr anchor="ctr">
                    <a:solidFill>
                      <a:srgbClr val="FFFFFF"/>
                    </a:solidFill>
                  </a:tcPr>
                </a:tc>
                <a:tc>
                  <a:txBody>
                    <a:bodyPr/>
                    <a:lstStyle/>
                    <a:p>
                      <a:pPr algn="l"/>
                      <a:r>
                        <a:rPr lang="en-IN" sz="900">
                          <a:solidFill>
                            <a:srgbClr val="2D3648"/>
                          </a:solidFill>
                          <a:latin typeface="Segoe UI"/>
                          <a:cs typeface="Segoe UI"/>
                        </a:rPr>
                        <a:t>Web Framework</a:t>
                      </a:r>
                    </a:p>
                  </a:txBody>
                  <a:tcPr anchor="ctr">
                    <a:solidFill>
                      <a:srgbClr val="FFFFFF"/>
                    </a:solidFill>
                  </a:tcPr>
                </a:tc>
                <a:extLst>
                  <a:ext uri="{0D108BD9-81ED-4DB2-BD59-A6C34878D82A}">
                    <a16:rowId xmlns:a16="http://schemas.microsoft.com/office/drawing/2014/main" val="2358609774"/>
                  </a:ext>
                </a:extLst>
              </a:tr>
              <a:tr h="330200">
                <a:tc>
                  <a:txBody>
                    <a:bodyPr/>
                    <a:lstStyle/>
                    <a:p>
                      <a:pPr algn="l"/>
                      <a:r>
                        <a:rPr lang="en-IN" sz="900">
                          <a:solidFill>
                            <a:srgbClr val="2D3648"/>
                          </a:solidFill>
                          <a:latin typeface="Segoe UI"/>
                          <a:cs typeface="Segoe UI"/>
                        </a:rPr>
                        <a:t>API Gateway</a:t>
                      </a:r>
                    </a:p>
                  </a:txBody>
                  <a:tcPr anchor="ctr">
                    <a:solidFill>
                      <a:srgbClr val="EEF2F7"/>
                    </a:solidFill>
                  </a:tcPr>
                </a:tc>
                <a:tc>
                  <a:txBody>
                    <a:bodyPr/>
                    <a:lstStyle/>
                    <a:p>
                      <a:pPr algn="l"/>
                      <a:r>
                        <a:rPr lang="en-IN" sz="900">
                          <a:solidFill>
                            <a:srgbClr val="2D3648"/>
                          </a:solidFill>
                          <a:latin typeface="Segoe UI"/>
                          <a:cs typeface="Segoe UI"/>
                        </a:rPr>
                        <a:t>—</a:t>
                      </a:r>
                    </a:p>
                  </a:txBody>
                  <a:tcPr anchor="ctr">
                    <a:solidFill>
                      <a:srgbClr val="EEF2F7"/>
                    </a:solidFill>
                  </a:tcPr>
                </a:tc>
                <a:tc>
                  <a:txBody>
                    <a:bodyPr/>
                    <a:lstStyle/>
                    <a:p>
                      <a:pPr algn="l"/>
                      <a:r>
                        <a:rPr lang="en-IN" sz="900">
                          <a:solidFill>
                            <a:srgbClr val="2D3648"/>
                          </a:solidFill>
                          <a:latin typeface="Segoe UI"/>
                          <a:cs typeface="Segoe UI"/>
                        </a:rPr>
                        <a:t>Frontend Routing</a:t>
                      </a:r>
                    </a:p>
                  </a:txBody>
                  <a:tcPr anchor="ctr">
                    <a:solidFill>
                      <a:srgbClr val="EEF2F7"/>
                    </a:solidFill>
                  </a:tcPr>
                </a:tc>
                <a:extLst>
                  <a:ext uri="{0D108BD9-81ED-4DB2-BD59-A6C34878D82A}">
                    <a16:rowId xmlns:a16="http://schemas.microsoft.com/office/drawing/2014/main" val="1128703330"/>
                  </a:ext>
                </a:extLst>
              </a:tr>
              <a:tr h="330200">
                <a:tc>
                  <a:txBody>
                    <a:bodyPr/>
                    <a:lstStyle/>
                    <a:p>
                      <a:pPr algn="l"/>
                      <a:r>
                        <a:rPr lang="en-IN" sz="900">
                          <a:solidFill>
                            <a:srgbClr val="2D3648"/>
                          </a:solidFill>
                          <a:latin typeface="Segoe UI"/>
                          <a:cs typeface="Segoe UI"/>
                        </a:rPr>
                        <a:t>—</a:t>
                      </a:r>
                    </a:p>
                  </a:txBody>
                  <a:tcPr anchor="ctr">
                    <a:solidFill>
                      <a:srgbClr val="FFFFFF"/>
                    </a:solidFill>
                  </a:tcPr>
                </a:tc>
                <a:tc>
                  <a:txBody>
                    <a:bodyPr/>
                    <a:lstStyle/>
                    <a:p>
                      <a:pPr algn="l"/>
                      <a:r>
                        <a:rPr lang="en-IN" sz="900">
                          <a:solidFill>
                            <a:srgbClr val="2D3648"/>
                          </a:solidFill>
                          <a:latin typeface="Segoe UI"/>
                          <a:cs typeface="Segoe UI"/>
                        </a:rPr>
                        <a:t>shadcn/ui</a:t>
                      </a:r>
                    </a:p>
                  </a:txBody>
                  <a:tcPr anchor="ctr">
                    <a:solidFill>
                      <a:srgbClr val="FFFFFF"/>
                    </a:solidFill>
                  </a:tcPr>
                </a:tc>
                <a:tc>
                  <a:txBody>
                    <a:bodyPr/>
                    <a:lstStyle/>
                    <a:p>
                      <a:pPr algn="l"/>
                      <a:r>
                        <a:rPr lang="en-IN" sz="900">
                          <a:solidFill>
                            <a:srgbClr val="2D3648"/>
                          </a:solidFill>
                          <a:latin typeface="Segoe UI"/>
                          <a:cs typeface="Segoe UI"/>
                        </a:rPr>
                        <a:t>UI Components</a:t>
                      </a:r>
                    </a:p>
                  </a:txBody>
                  <a:tcPr anchor="ctr">
                    <a:solidFill>
                      <a:srgbClr val="FFFFFF"/>
                    </a:solidFill>
                  </a:tcPr>
                </a:tc>
                <a:extLst>
                  <a:ext uri="{0D108BD9-81ED-4DB2-BD59-A6C34878D82A}">
                    <a16:rowId xmlns:a16="http://schemas.microsoft.com/office/drawing/2014/main" val="2169629625"/>
                  </a:ext>
                </a:extLst>
              </a:tr>
            </a:tbl>
          </a:graphicData>
        </a:graphic>
      </p:graphicFrame>
      <p:sp>
        <p:nvSpPr>
          <p:cNvPr id="12" name="Rectangle: Rounded Corners 11">
            <a:extLst>
              <a:ext uri="{FF2B5EF4-FFF2-40B4-BE49-F238E27FC236}">
                <a16:creationId xmlns:a16="http://schemas.microsoft.com/office/drawing/2014/main" id="{E3B082BC-8F4A-4FA0-997E-F23AE7C578D5}"/>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TextBox 12">
            <a:extLst>
              <a:ext uri="{FF2B5EF4-FFF2-40B4-BE49-F238E27FC236}">
                <a16:creationId xmlns:a16="http://schemas.microsoft.com/office/drawing/2014/main" id="{CF64B0C6-F850-4279-8DC1-8811CD8E1AA5}"/>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spTree>
    <p:extLst>
      <p:ext uri="{BB962C8B-B14F-4D97-AF65-F5344CB8AC3E}">
        <p14:creationId xmlns:p14="http://schemas.microsoft.com/office/powerpoint/2010/main" val="2409864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600" name="T"/>
          <p:cNvSpPr txBox="1"/>
          <p:nvPr/>
        </p:nvSpPr>
        <p:spPr>
          <a:xfrm>
            <a:off x="457200" y="355600"/>
            <a:ext cx="6985000" cy="457200"/>
          </a:xfrm>
          <a:prstGeom prst="rect">
            <a:avLst/>
          </a:prstGeom>
          <a:noFill/>
          <a:ln>
            <a:noFill/>
          </a:ln>
        </p:spPr>
        <p:txBody>
          <a:bodyPr wrap="square" lIns="0" tIns="0" rIns="0" bIns="0" anchor="b"/>
          <a:lstStyle/>
          <a:p>
            <a:pPr algn="l">
              <a:buNone/>
            </a:pPr>
            <a:r>
              <a:rPr lang="en-US" sz="2400" b="1" dirty="0">
                <a:solidFill>
                  <a:srgbClr val="0D1B3E"/>
                </a:solidFill>
                <a:latin typeface="Segoe UI Semibold"/>
              </a:rPr>
              <a:t>API Gateway &amp; Authentication</a:t>
            </a:r>
          </a:p>
        </p:txBody>
      </p:sp>
      <p:sp>
        <p:nvSpPr>
          <p:cNvPr id="601" name="ST"/>
          <p:cNvSpPr txBox="1"/>
          <p:nvPr/>
        </p:nvSpPr>
        <p:spPr>
          <a:xfrm>
            <a:off x="457200" y="838200"/>
            <a:ext cx="6985000" cy="254000"/>
          </a:xfrm>
          <a:prstGeom prst="rect">
            <a:avLst/>
          </a:prstGeom>
          <a:noFill/>
          <a:ln>
            <a:noFill/>
          </a:ln>
        </p:spPr>
        <p:txBody>
          <a:bodyPr wrap="square" lIns="0" tIns="0" rIns="0" bIns="0" anchor="t"/>
          <a:lstStyle/>
          <a:p>
            <a:pPr algn="l">
              <a:buNone/>
            </a:pPr>
            <a:r>
              <a:rPr lang="en-US" sz="1400" b="1" dirty="0">
                <a:solidFill>
                  <a:srgbClr val="5A6577"/>
                </a:solidFill>
                <a:latin typeface="Segoe UI"/>
              </a:rPr>
              <a:t>Security checkpoint for every inbound request</a:t>
            </a:r>
          </a:p>
        </p:txBody>
      </p:sp>
      <p:cxnSp>
        <p:nvCxnSpPr>
          <p:cNvPr id="602" name="Sep"/>
          <p:cNvCxnSpPr/>
          <p:nvPr/>
        </p:nvCxnSpPr>
        <p:spPr>
          <a:xfrm>
            <a:off x="457200" y="1143000"/>
            <a:ext cx="9448800" cy="0"/>
          </a:xfrm>
          <a:prstGeom prst="line">
            <a:avLst/>
          </a:prstGeom>
          <a:ln w="12700">
            <a:solidFill>
              <a:srgbClr val="D0D8E8"/>
            </a:solidFill>
          </a:ln>
        </p:spPr>
      </p:cxnSp>
      <p:sp>
        <p:nvSpPr>
          <p:cNvPr id="603" name="OH"/>
          <p:cNvSpPr txBox="1"/>
          <p:nvPr/>
        </p:nvSpPr>
        <p:spPr>
          <a:xfrm>
            <a:off x="558800" y="1270000"/>
            <a:ext cx="1905000" cy="254000"/>
          </a:xfrm>
          <a:prstGeom prst="rect">
            <a:avLst/>
          </a:prstGeom>
          <a:noFill/>
          <a:ln>
            <a:noFill/>
          </a:ln>
        </p:spPr>
        <p:txBody>
          <a:bodyPr wrap="square" lIns="0" tIns="0" rIns="0" bIns="0" anchor="t"/>
          <a:lstStyle/>
          <a:p>
            <a:pPr algn="l">
              <a:buNone/>
            </a:pPr>
            <a:r>
              <a:rPr lang="en-US" sz="1400" b="1" dirty="0">
                <a:solidFill>
                  <a:srgbClr val="1257A8"/>
                </a:solidFill>
                <a:latin typeface="Segoe UI Semibold"/>
              </a:rPr>
              <a:t>Overview</a:t>
            </a:r>
          </a:p>
        </p:txBody>
      </p:sp>
      <p:sp>
        <p:nvSpPr>
          <p:cNvPr id="604" name="OT"/>
          <p:cNvSpPr txBox="1"/>
          <p:nvPr/>
        </p:nvSpPr>
        <p:spPr>
          <a:xfrm>
            <a:off x="558800" y="1574800"/>
            <a:ext cx="4622800" cy="1651000"/>
          </a:xfrm>
          <a:prstGeom prst="rect">
            <a:avLst/>
          </a:prstGeom>
          <a:noFill/>
          <a:ln>
            <a:noFill/>
          </a:ln>
        </p:spPr>
        <p:txBody>
          <a:bodyPr wrap="square" lIns="0" tIns="0" rIns="0" bIns="0" anchor="t"/>
          <a:lstStyle/>
          <a:p>
            <a:pPr algn="l">
              <a:lnSpc>
                <a:spcPts val="1700"/>
              </a:lnSpc>
              <a:buNone/>
            </a:pPr>
            <a:r>
              <a:rPr lang="en-US" sz="1200" dirty="0">
                <a:solidFill>
                  <a:srgbClr val="444D5C"/>
                </a:solidFill>
                <a:latin typeface="Segoe UI"/>
              </a:rPr>
              <a:t>Every request from the Presentation Layer hits this before anything internal gets touched. It handles JWT-based authorization, figures out who you are, what role you have, and whether you're allowed to do what you're asking. It also handles webhook ingestion — when the email server delivers a new notification, that callback hits the Gateway too. Standard API security pattern with IAM for service-to-service auth, KMS for encryption, and Secrets Manager for all stored credentials.</a:t>
            </a:r>
          </a:p>
        </p:txBody>
      </p:sp>
      <p:sp>
        <p:nvSpPr>
          <p:cNvPr id="605" name="KH"/>
          <p:cNvSpPr txBox="1"/>
          <p:nvPr/>
        </p:nvSpPr>
        <p:spPr>
          <a:xfrm>
            <a:off x="558800" y="3403600"/>
            <a:ext cx="2540000" cy="254000"/>
          </a:xfrm>
          <a:prstGeom prst="rect">
            <a:avLst/>
          </a:prstGeom>
          <a:noFill/>
          <a:ln>
            <a:noFill/>
          </a:ln>
        </p:spPr>
        <p:txBody>
          <a:bodyPr wrap="square" lIns="0" tIns="0" rIns="0" bIns="0" anchor="t"/>
          <a:lstStyle/>
          <a:p>
            <a:pPr algn="l">
              <a:buNone/>
            </a:pPr>
            <a:r>
              <a:rPr lang="en-US" sz="1400" b="1" dirty="0">
                <a:solidFill>
                  <a:srgbClr val="1257A8"/>
                </a:solidFill>
                <a:latin typeface="Segoe UI Semibold"/>
              </a:rPr>
              <a:t>Key Components</a:t>
            </a:r>
          </a:p>
        </p:txBody>
      </p:sp>
      <p:sp>
        <p:nvSpPr>
          <p:cNvPr id="606" name="KT"/>
          <p:cNvSpPr txBox="1"/>
          <p:nvPr/>
        </p:nvSpPr>
        <p:spPr>
          <a:xfrm>
            <a:off x="558800" y="3708400"/>
            <a:ext cx="4622800" cy="1524000"/>
          </a:xfrm>
          <a:prstGeom prst="rect">
            <a:avLst/>
          </a:prstGeom>
          <a:noFill/>
          <a:ln>
            <a:noFill/>
          </a:ln>
        </p:spPr>
        <p:txBody>
          <a:bodyPr wrap="square" lIns="0" tIns="0" rIns="0" bIns="0" anchor="t"/>
          <a:lstStyle/>
          <a:p>
            <a:pPr marL="171450" indent="-171450" algn="l">
              <a:lnSpc>
                <a:spcPts val="1800"/>
              </a:lnSpc>
              <a:spcAft>
                <a:spcPts val="100"/>
              </a:spcAft>
              <a:buFont typeface="Arial"/>
              <a:buChar char="•"/>
            </a:pPr>
            <a:r>
              <a:rPr lang="en-US" sz="1200" b="1" dirty="0">
                <a:solidFill>
                  <a:srgbClr val="0D1B3E"/>
                </a:solidFill>
                <a:latin typeface="Segoe UI Semibold"/>
              </a:rPr>
              <a:t>JWT Token Validation</a:t>
            </a:r>
            <a:r>
              <a:rPr lang="en-US" sz="1200" dirty="0">
                <a:solidFill>
                  <a:srgbClr val="444D5C"/>
                </a:solidFill>
                <a:latin typeface="Segoe UI"/>
              </a:rPr>
              <a:t> – Verify identity on every request</a:t>
            </a:r>
          </a:p>
          <a:p>
            <a:pPr marL="171450" indent="-171450" algn="l">
              <a:lnSpc>
                <a:spcPts val="1800"/>
              </a:lnSpc>
              <a:spcAft>
                <a:spcPts val="100"/>
              </a:spcAft>
              <a:buFont typeface="Arial"/>
              <a:buChar char="•"/>
            </a:pPr>
            <a:r>
              <a:rPr lang="en-US" sz="1200" b="1" dirty="0">
                <a:solidFill>
                  <a:srgbClr val="0D1B3E"/>
                </a:solidFill>
                <a:latin typeface="Segoe UI Semibold"/>
              </a:rPr>
              <a:t>RBAC Enforcement</a:t>
            </a:r>
            <a:r>
              <a:rPr lang="en-US" sz="1200" dirty="0">
                <a:solidFill>
                  <a:srgbClr val="444D5C"/>
                </a:solidFill>
                <a:latin typeface="Segoe UI"/>
              </a:rPr>
              <a:t> – Check role-based permissions</a:t>
            </a:r>
          </a:p>
          <a:p>
            <a:pPr marL="171450" indent="-171450" algn="l">
              <a:lnSpc>
                <a:spcPts val="1800"/>
              </a:lnSpc>
              <a:spcAft>
                <a:spcPts val="100"/>
              </a:spcAft>
              <a:buFont typeface="Arial"/>
              <a:buChar char="•"/>
            </a:pPr>
            <a:r>
              <a:rPr lang="en-US" sz="1200" b="1" dirty="0">
                <a:solidFill>
                  <a:srgbClr val="0D1B3E"/>
                </a:solidFill>
                <a:latin typeface="Segoe UI Semibold"/>
              </a:rPr>
              <a:t>Request Routing</a:t>
            </a:r>
            <a:r>
              <a:rPr lang="en-US" sz="1200" dirty="0">
                <a:solidFill>
                  <a:srgbClr val="444D5C"/>
                </a:solidFill>
                <a:latin typeface="Segoe UI"/>
              </a:rPr>
              <a:t> – Forward to internal services</a:t>
            </a:r>
          </a:p>
          <a:p>
            <a:pPr marL="171450" indent="-171450" algn="l">
              <a:lnSpc>
                <a:spcPts val="1800"/>
              </a:lnSpc>
              <a:spcAft>
                <a:spcPts val="100"/>
              </a:spcAft>
              <a:buFont typeface="Arial"/>
              <a:buChar char="•"/>
            </a:pPr>
            <a:r>
              <a:rPr lang="en-US" sz="1200" b="1" dirty="0">
                <a:solidFill>
                  <a:srgbClr val="0D1B3E"/>
                </a:solidFill>
                <a:latin typeface="Segoe UI Semibold"/>
              </a:rPr>
              <a:t>Rate Limiting</a:t>
            </a:r>
            <a:r>
              <a:rPr lang="en-US" sz="1200" dirty="0">
                <a:solidFill>
                  <a:srgbClr val="444D5C"/>
                </a:solidFill>
                <a:latin typeface="Segoe UI"/>
              </a:rPr>
              <a:t> – Protect against request abuse</a:t>
            </a:r>
          </a:p>
          <a:p>
            <a:pPr marL="171450" indent="-171450" algn="l">
              <a:lnSpc>
                <a:spcPts val="1800"/>
              </a:lnSpc>
              <a:buFont typeface="Arial"/>
              <a:buChar char="•"/>
            </a:pPr>
            <a:r>
              <a:rPr lang="en-US" sz="1200" b="1" dirty="0">
                <a:solidFill>
                  <a:srgbClr val="0D1B3E"/>
                </a:solidFill>
                <a:latin typeface="Segoe UI Semibold"/>
              </a:rPr>
              <a:t>Webhook Ingestion</a:t>
            </a:r>
            <a:r>
              <a:rPr lang="en-US" sz="1200" dirty="0">
                <a:solidFill>
                  <a:srgbClr val="444D5C"/>
                </a:solidFill>
                <a:latin typeface="Segoe UI"/>
              </a:rPr>
              <a:t> – Receive email server callbacks</a:t>
            </a:r>
          </a:p>
        </p:txBody>
      </p:sp>
      <p:sp>
        <p:nvSpPr>
          <p:cNvPr id="651" name="LISh"/>
          <p:cNvSpPr/>
          <p:nvPr/>
        </p:nvSpPr>
        <p:spPr>
          <a:xfrm>
            <a:off x="5511800" y="3378200"/>
            <a:ext cx="4419600" cy="1778000"/>
          </a:xfrm>
          <a:prstGeom prst="roundRect">
            <a:avLst>
              <a:gd name="adj" fmla="val 5000"/>
            </a:avLst>
          </a:prstGeom>
          <a:solidFill>
            <a:srgbClr val="E0E4EC">
              <a:alpha val="50000"/>
            </a:srgbClr>
          </a:solidFill>
          <a:ln>
            <a:noFill/>
          </a:ln>
        </p:spPr>
        <p:txBody>
          <a:bodyPr/>
          <a:lstStyle/>
          <a:p>
            <a:endParaRPr lang="en-US"/>
          </a:p>
        </p:txBody>
      </p:sp>
      <p:sp>
        <p:nvSpPr>
          <p:cNvPr id="610" name="LIBx"/>
          <p:cNvSpPr/>
          <p:nvPr/>
        </p:nvSpPr>
        <p:spPr>
          <a:xfrm>
            <a:off x="5486400" y="3352800"/>
            <a:ext cx="4419600" cy="1778000"/>
          </a:xfrm>
          <a:prstGeom prst="roundRect">
            <a:avLst>
              <a:gd name="adj" fmla="val 5000"/>
            </a:avLst>
          </a:prstGeom>
          <a:solidFill>
            <a:srgbClr val="FFFFFF"/>
          </a:solidFill>
          <a:ln w="9525">
            <a:solidFill>
              <a:srgbClr val="D8DDE6"/>
            </a:solidFill>
          </a:ln>
        </p:spPr>
        <p:txBody>
          <a:bodyPr/>
          <a:lstStyle/>
          <a:p>
            <a:endParaRPr lang="en-US"/>
          </a:p>
        </p:txBody>
      </p:sp>
      <p:sp>
        <p:nvSpPr>
          <p:cNvPr id="611" name="LIHd"/>
          <p:cNvSpPr/>
          <p:nvPr/>
        </p:nvSpPr>
        <p:spPr>
          <a:xfrm>
            <a:off x="5486400" y="3352800"/>
            <a:ext cx="4419600" cy="355600"/>
          </a:xfrm>
          <a:prstGeom prst="roundRect">
            <a:avLst>
              <a:gd name="adj" fmla="val 5000"/>
            </a:avLst>
          </a:prstGeom>
          <a:solidFill>
            <a:srgbClr val="1565C0"/>
          </a:solidFill>
          <a:ln w="0">
            <a:noFill/>
          </a:ln>
        </p:spPr>
        <p:txBody>
          <a:bodyPr wrap="square" lIns="127000" tIns="0" rIns="127000" bIns="0" anchor="ctr"/>
          <a:lstStyle/>
          <a:p>
            <a:pPr algn="ctr">
              <a:buNone/>
            </a:pPr>
            <a:r>
              <a:rPr lang="en-US" sz="1200" b="1" dirty="0">
                <a:solidFill>
                  <a:srgbClr val="FFFFFF"/>
                </a:solidFill>
                <a:latin typeface="Segoe UI Semibold"/>
              </a:rPr>
              <a:t>Layer Interactions</a:t>
            </a:r>
          </a:p>
        </p:txBody>
      </p:sp>
      <p:sp>
        <p:nvSpPr>
          <p:cNvPr id="612" name="LITx"/>
          <p:cNvSpPr txBox="1"/>
          <p:nvPr/>
        </p:nvSpPr>
        <p:spPr>
          <a:xfrm>
            <a:off x="5638800" y="3784600"/>
            <a:ext cx="4114800" cy="1270000"/>
          </a:xfrm>
          <a:prstGeom prst="rect">
            <a:avLst/>
          </a:prstGeom>
          <a:noFill/>
          <a:ln>
            <a:noFill/>
          </a:ln>
        </p:spPr>
        <p:txBody>
          <a:bodyPr wrap="square" lIns="0" tIns="0" rIns="0" bIns="0" anchor="t"/>
          <a:lstStyle/>
          <a:p>
            <a:pPr marL="114300" indent="-114300" algn="l">
              <a:lnSpc>
                <a:spcPts val="1800"/>
              </a:lnSpc>
              <a:spcAft>
                <a:spcPts val="50"/>
              </a:spcAft>
              <a:buFont typeface="Arial"/>
              <a:buChar char="▸"/>
            </a:pPr>
            <a:r>
              <a:rPr lang="en-US" sz="1200" dirty="0">
                <a:solidFill>
                  <a:srgbClr val="2D3648"/>
                </a:solidFill>
                <a:latin typeface="Segoe UI"/>
              </a:rPr>
              <a:t>Receives HTTP requests from Presentation Layer</a:t>
            </a:r>
          </a:p>
          <a:p>
            <a:pPr marL="114300" indent="-114300" algn="l">
              <a:lnSpc>
                <a:spcPts val="1800"/>
              </a:lnSpc>
              <a:spcAft>
                <a:spcPts val="50"/>
              </a:spcAft>
              <a:buFont typeface="Arial"/>
              <a:buChar char="▸"/>
            </a:pPr>
            <a:r>
              <a:rPr lang="en-US" sz="1200" dirty="0">
                <a:solidFill>
                  <a:srgbClr val="2D3648"/>
                </a:solidFill>
                <a:latin typeface="Segoe UI"/>
              </a:rPr>
              <a:t>Forwards authenticated requests to Orchestration</a:t>
            </a:r>
          </a:p>
          <a:p>
            <a:pPr marL="114300" indent="-114300" algn="l">
              <a:lnSpc>
                <a:spcPts val="1800"/>
              </a:lnSpc>
              <a:spcAft>
                <a:spcPts val="50"/>
              </a:spcAft>
              <a:buFont typeface="Arial"/>
              <a:buChar char="▸"/>
            </a:pPr>
            <a:r>
              <a:rPr lang="en-US" sz="1200" dirty="0">
                <a:solidFill>
                  <a:srgbClr val="2D3648"/>
                </a:solidFill>
                <a:latin typeface="Segoe UI"/>
              </a:rPr>
              <a:t>Handles email server webhook ingestion</a:t>
            </a:r>
          </a:p>
          <a:p>
            <a:pPr marL="114300" indent="-114300" algn="l">
              <a:lnSpc>
                <a:spcPts val="1800"/>
              </a:lnSpc>
              <a:buFont typeface="Arial"/>
              <a:buChar char="▸"/>
            </a:pPr>
            <a:r>
              <a:rPr lang="en-US" sz="1200" dirty="0">
                <a:solidFill>
                  <a:srgbClr val="2D3648"/>
                </a:solidFill>
                <a:latin typeface="Segoe UI"/>
              </a:rPr>
              <a:t>Routes to specific services based on endpoint</a:t>
            </a:r>
          </a:p>
        </p:txBody>
      </p:sp>
      <p:sp>
        <p:nvSpPr>
          <p:cNvPr id="613" name="FH"/>
          <p:cNvSpPr txBox="1"/>
          <p:nvPr/>
        </p:nvSpPr>
        <p:spPr>
          <a:xfrm>
            <a:off x="10109200" y="1270000"/>
            <a:ext cx="1778000" cy="279400"/>
          </a:xfrm>
          <a:prstGeom prst="rect">
            <a:avLst/>
          </a:prstGeom>
          <a:noFill/>
          <a:ln>
            <a:noFill/>
          </a:ln>
        </p:spPr>
        <p:txBody>
          <a:bodyPr wrap="square" lIns="0" tIns="0" rIns="0" bIns="0" anchor="t"/>
          <a:lstStyle/>
          <a:p>
            <a:pPr algn="ctr">
              <a:buNone/>
            </a:pPr>
            <a:r>
              <a:rPr lang="en-US" sz="1100" b="1" dirty="0">
                <a:solidFill>
                  <a:srgbClr val="5A6577"/>
                </a:solidFill>
                <a:latin typeface="Segoe UI"/>
              </a:rPr>
              <a:t>Architecture Flow</a:t>
            </a:r>
          </a:p>
        </p:txBody>
      </p:sp>
      <p:sp>
        <p:nvSpPr>
          <p:cNvPr id="614" name="F0"/>
          <p:cNvSpPr/>
          <p:nvPr/>
        </p:nvSpPr>
        <p:spPr>
          <a:xfrm>
            <a:off x="10109200" y="162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Presentation</a:t>
            </a:r>
          </a:p>
        </p:txBody>
      </p:sp>
      <p:sp>
        <p:nvSpPr>
          <p:cNvPr id="615" name="F1"/>
          <p:cNvSpPr/>
          <p:nvPr/>
        </p:nvSpPr>
        <p:spPr>
          <a:xfrm>
            <a:off x="10109200" y="2133600"/>
            <a:ext cx="1727200" cy="406400"/>
          </a:xfrm>
          <a:prstGeom prst="roundRect">
            <a:avLst>
              <a:gd name="adj" fmla="val 10000"/>
            </a:avLst>
          </a:prstGeom>
          <a:solidFill>
            <a:srgbClr val="1565C0"/>
          </a:solidFill>
          <a:ln w="9525">
            <a:solidFill>
              <a:srgbClr val="1565C0"/>
            </a:solidFill>
          </a:ln>
        </p:spPr>
        <p:txBody>
          <a:bodyPr wrap="square" lIns="101600" tIns="0" rIns="101600" bIns="0" anchor="ctr"/>
          <a:lstStyle/>
          <a:p>
            <a:pPr algn="ctr">
              <a:buNone/>
            </a:pPr>
            <a:r>
              <a:rPr lang="en-US" sz="1000" b="1" dirty="0">
                <a:solidFill>
                  <a:srgbClr val="FFFFFF"/>
                </a:solidFill>
                <a:latin typeface="Segoe UI Semibold"/>
              </a:rPr>
              <a:t>▶ API Gateway &amp; Auth</a:t>
            </a:r>
          </a:p>
        </p:txBody>
      </p:sp>
      <p:sp>
        <p:nvSpPr>
          <p:cNvPr id="616" name="F2"/>
          <p:cNvSpPr/>
          <p:nvPr/>
        </p:nvSpPr>
        <p:spPr>
          <a:xfrm>
            <a:off x="10109200" y="2641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Orchestration</a:t>
            </a:r>
          </a:p>
        </p:txBody>
      </p:sp>
      <p:sp>
        <p:nvSpPr>
          <p:cNvPr id="617" name="F3"/>
          <p:cNvSpPr/>
          <p:nvPr/>
        </p:nvSpPr>
        <p:spPr>
          <a:xfrm>
            <a:off x="10109200" y="3149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Security &amp; Gov.</a:t>
            </a:r>
          </a:p>
        </p:txBody>
      </p:sp>
      <p:sp>
        <p:nvSpPr>
          <p:cNvPr id="618" name="F4"/>
          <p:cNvSpPr/>
          <p:nvPr/>
        </p:nvSpPr>
        <p:spPr>
          <a:xfrm>
            <a:off x="10109200" y="3657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Agent Services</a:t>
            </a:r>
          </a:p>
        </p:txBody>
      </p:sp>
      <p:sp>
        <p:nvSpPr>
          <p:cNvPr id="619" name="F5"/>
          <p:cNvSpPr/>
          <p:nvPr/>
        </p:nvSpPr>
        <p:spPr>
          <a:xfrm>
            <a:off x="10109200" y="416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Integration</a:t>
            </a:r>
          </a:p>
        </p:txBody>
      </p:sp>
      <p:sp>
        <p:nvSpPr>
          <p:cNvPr id="620" name="F6"/>
          <p:cNvSpPr/>
          <p:nvPr/>
        </p:nvSpPr>
        <p:spPr>
          <a:xfrm>
            <a:off x="10109200" y="467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Data &amp; Storage</a:t>
            </a:r>
          </a:p>
        </p:txBody>
      </p:sp>
      <p:sp>
        <p:nvSpPr>
          <p:cNvPr id="621" name="Pill"/>
          <p:cNvSpPr/>
          <p:nvPr/>
        </p:nvSpPr>
        <p:spPr>
          <a:xfrm>
            <a:off x="10490200" y="355600"/>
            <a:ext cx="1016000" cy="355600"/>
          </a:xfrm>
          <a:prstGeom prst="roundRect">
            <a:avLst>
              <a:gd name="adj" fmla="val 16667"/>
            </a:avLst>
          </a:prstGeom>
          <a:solidFill>
            <a:srgbClr val="1565C0"/>
          </a:solidFill>
          <a:ln w="0">
            <a:noFill/>
          </a:ln>
        </p:spPr>
        <p:txBody>
          <a:bodyPr wrap="none" lIns="0" tIns="0" rIns="0" bIns="0" anchor="ctr" anchorCtr="1"/>
          <a:lstStyle/>
          <a:p>
            <a:pPr algn="ctr">
              <a:buNone/>
            </a:pPr>
            <a:r>
              <a:rPr lang="en-US" sz="1100" b="1" dirty="0">
                <a:solidFill>
                  <a:srgbClr val="FFFFFF"/>
                </a:solidFill>
                <a:latin typeface="Segoe UI Semibold"/>
              </a:rPr>
              <a:t>Layer 2</a:t>
            </a:r>
          </a:p>
        </p:txBody>
      </p:sp>
      <p:sp>
        <p:nvSpPr>
          <p:cNvPr id="622" name="Ftr"/>
          <p:cNvSpPr txBox="1"/>
          <p:nvPr/>
        </p:nvSpPr>
        <p:spPr>
          <a:xfrm>
            <a:off x="457200" y="6451600"/>
            <a:ext cx="5080000" cy="203200"/>
          </a:xfrm>
          <a:prstGeom prst="rect">
            <a:avLst/>
          </a:prstGeom>
          <a:noFill/>
          <a:ln>
            <a:noFill/>
          </a:ln>
        </p:spPr>
        <p:txBody>
          <a:bodyPr wrap="square" lIns="0" tIns="0" rIns="0" bIns="0" anchor="b"/>
          <a:lstStyle/>
          <a:p>
            <a:pPr algn="l">
              <a:buNone/>
            </a:pPr>
            <a:r>
              <a:rPr lang="en-US" sz="800" dirty="0">
                <a:solidFill>
                  <a:srgbClr val="9BA4B0"/>
                </a:solidFill>
                <a:latin typeface="Segoe UI"/>
              </a:rPr>
              <a:t>VQMS Architecture | Confidential</a:t>
            </a:r>
          </a:p>
        </p:txBody>
      </p:sp>
      <p:sp>
        <p:nvSpPr>
          <p:cNvPr id="652" name="OvAcc"/>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653" name="KCAcc"/>
          <p:cNvSpPr/>
          <p:nvPr/>
        </p:nvSpPr>
        <p:spPr>
          <a:xfrm>
            <a:off x="457200" y="3429000"/>
            <a:ext cx="50800" cy="203200"/>
          </a:xfrm>
          <a:prstGeom prst="roundRect">
            <a:avLst>
              <a:gd name="adj" fmla="val 16667"/>
            </a:avLst>
          </a:prstGeom>
          <a:solidFill>
            <a:srgbClr val="1565C0"/>
          </a:solidFill>
          <a:ln>
            <a:noFill/>
          </a:ln>
        </p:spPr>
        <p:txBody>
          <a:bodyPr/>
          <a:lstStyle/>
          <a:p>
            <a:endParaRPr lang="en-US"/>
          </a:p>
        </p:txBody>
      </p:sp>
      <p:sp>
        <p:nvSpPr>
          <p:cNvPr id="6" name="Rectangle: Rounded Corners 5">
            <a:extLst>
              <a:ext uri="{FF2B5EF4-FFF2-40B4-BE49-F238E27FC236}">
                <a16:creationId xmlns:a16="http://schemas.microsoft.com/office/drawing/2014/main" id="{3EAA83C1-6E87-4DDC-BFBA-BA85F44B3D36}"/>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7" name="TextBox 6">
            <a:extLst>
              <a:ext uri="{FF2B5EF4-FFF2-40B4-BE49-F238E27FC236}">
                <a16:creationId xmlns:a16="http://schemas.microsoft.com/office/drawing/2014/main" id="{26F51902-B795-4027-A8BF-066ACEDFBC54}"/>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graphicFrame>
        <p:nvGraphicFramePr>
          <p:cNvPr id="9" name="Table 8">
            <a:extLst>
              <a:ext uri="{FF2B5EF4-FFF2-40B4-BE49-F238E27FC236}">
                <a16:creationId xmlns:a16="http://schemas.microsoft.com/office/drawing/2014/main" id="{FE06A1D4-8315-4FCB-8E98-358CBC82017E}"/>
              </a:ext>
            </a:extLst>
          </p:cNvPr>
          <p:cNvGraphicFramePr>
            <a:graphicFrameLocks noGrp="1"/>
          </p:cNvGraphicFramePr>
          <p:nvPr>
            <p:extLst>
              <p:ext uri="{D42A27DB-BD31-4B8C-83A1-F6EECF244321}">
                <p14:modId xmlns:p14="http://schemas.microsoft.com/office/powerpoint/2010/main" val="3874371849"/>
              </p:ext>
            </p:extLst>
          </p:nvPr>
        </p:nvGraphicFramePr>
        <p:xfrm>
          <a:off x="5486400" y="1600200"/>
          <a:ext cx="4419600" cy="1625600"/>
        </p:xfrm>
        <a:graphic>
          <a:graphicData uri="http://schemas.openxmlformats.org/drawingml/2006/table">
            <a:tbl>
              <a:tblPr firstRow="1" bandRow="1">
                <a:tableStyleId>{5C22544A-7EE6-4342-B048-85BDC9FD1C3A}</a:tableStyleId>
              </a:tblPr>
              <a:tblGrid>
                <a:gridCol w="1414272">
                  <a:extLst>
                    <a:ext uri="{9D8B030D-6E8A-4147-A177-3AD203B41FA5}">
                      <a16:colId xmlns:a16="http://schemas.microsoft.com/office/drawing/2014/main" val="1327767635"/>
                    </a:ext>
                  </a:extLst>
                </a:gridCol>
                <a:gridCol w="1546860">
                  <a:extLst>
                    <a:ext uri="{9D8B030D-6E8A-4147-A177-3AD203B41FA5}">
                      <a16:colId xmlns:a16="http://schemas.microsoft.com/office/drawing/2014/main" val="3084551323"/>
                    </a:ext>
                  </a:extLst>
                </a:gridCol>
                <a:gridCol w="1458468">
                  <a:extLst>
                    <a:ext uri="{9D8B030D-6E8A-4147-A177-3AD203B41FA5}">
                      <a16:colId xmlns:a16="http://schemas.microsoft.com/office/drawing/2014/main" val="1531903495"/>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A3F6F"/>
                    </a:solidFill>
                  </a:tcPr>
                </a:tc>
                <a:tc>
                  <a:txBody>
                    <a:bodyPr/>
                    <a:lstStyle/>
                    <a:p>
                      <a:pPr algn="ctr"/>
                      <a:r>
                        <a:rPr lang="en-IN" sz="1000" b="1">
                          <a:solidFill>
                            <a:srgbClr val="FFFFFF"/>
                          </a:solidFill>
                          <a:latin typeface="Segoe UI Semibold"/>
                          <a:cs typeface="Segoe UI Semibold"/>
                        </a:rPr>
                        <a:t>Open Source</a:t>
                      </a:r>
                    </a:p>
                  </a:txBody>
                  <a:tcPr anchor="ctr">
                    <a:solidFill>
                      <a:srgbClr val="1A3F6F"/>
                    </a:solidFill>
                  </a:tcPr>
                </a:tc>
                <a:tc>
                  <a:txBody>
                    <a:bodyPr/>
                    <a:lstStyle/>
                    <a:p>
                      <a:pPr algn="ctr"/>
                      <a:r>
                        <a:rPr lang="en-IN" sz="1000" b="1">
                          <a:solidFill>
                            <a:srgbClr val="FFFFFF"/>
                          </a:solidFill>
                          <a:latin typeface="Segoe UI Semibold"/>
                          <a:cs typeface="Segoe UI Semibold"/>
                        </a:rPr>
                        <a:t>Purpose</a:t>
                      </a:r>
                    </a:p>
                  </a:txBody>
                  <a:tcPr anchor="ctr">
                    <a:solidFill>
                      <a:srgbClr val="1A3F6F"/>
                    </a:solidFill>
                  </a:tcPr>
                </a:tc>
                <a:extLst>
                  <a:ext uri="{0D108BD9-81ED-4DB2-BD59-A6C34878D82A}">
                    <a16:rowId xmlns:a16="http://schemas.microsoft.com/office/drawing/2014/main" val="2823401462"/>
                  </a:ext>
                </a:extLst>
              </a:tr>
              <a:tr h="330200">
                <a:tc>
                  <a:txBody>
                    <a:bodyPr/>
                    <a:lstStyle/>
                    <a:p>
                      <a:pPr algn="l"/>
                      <a:r>
                        <a:rPr lang="en-IN" sz="900">
                          <a:solidFill>
                            <a:srgbClr val="2D3648"/>
                          </a:solidFill>
                          <a:latin typeface="Segoe UI"/>
                          <a:cs typeface="Segoe UI"/>
                        </a:rPr>
                        <a:t>API Gateway</a:t>
                      </a:r>
                    </a:p>
                  </a:txBody>
                  <a:tcPr anchor="ctr">
                    <a:solidFill>
                      <a:srgbClr val="EEF2F7"/>
                    </a:solidFill>
                  </a:tcPr>
                </a:tc>
                <a:tc>
                  <a:txBody>
                    <a:bodyPr/>
                    <a:lstStyle/>
                    <a:p>
                      <a:pPr algn="l"/>
                      <a:r>
                        <a:rPr lang="en-IN" sz="900">
                          <a:solidFill>
                            <a:srgbClr val="2D3648"/>
                          </a:solidFill>
                          <a:latin typeface="Segoe UI"/>
                          <a:cs typeface="Segoe UI"/>
                        </a:rPr>
                        <a:t>Kong</a:t>
                      </a:r>
                    </a:p>
                  </a:txBody>
                  <a:tcPr anchor="ctr">
                    <a:solidFill>
                      <a:srgbClr val="EEF2F7"/>
                    </a:solidFill>
                  </a:tcPr>
                </a:tc>
                <a:tc>
                  <a:txBody>
                    <a:bodyPr/>
                    <a:lstStyle/>
                    <a:p>
                      <a:pPr algn="l"/>
                      <a:r>
                        <a:rPr lang="en-IN" sz="900">
                          <a:solidFill>
                            <a:srgbClr val="2D3648"/>
                          </a:solidFill>
                          <a:latin typeface="Segoe UI"/>
                          <a:cs typeface="Segoe UI"/>
                        </a:rPr>
                        <a:t>API Management</a:t>
                      </a:r>
                    </a:p>
                  </a:txBody>
                  <a:tcPr anchor="ctr">
                    <a:solidFill>
                      <a:srgbClr val="EEF2F7"/>
                    </a:solidFill>
                  </a:tcPr>
                </a:tc>
                <a:extLst>
                  <a:ext uri="{0D108BD9-81ED-4DB2-BD59-A6C34878D82A}">
                    <a16:rowId xmlns:a16="http://schemas.microsoft.com/office/drawing/2014/main" val="4062488807"/>
                  </a:ext>
                </a:extLst>
              </a:tr>
              <a:tr h="330200">
                <a:tc>
                  <a:txBody>
                    <a:bodyPr/>
                    <a:lstStyle/>
                    <a:p>
                      <a:pPr algn="l"/>
                      <a:r>
                        <a:rPr lang="en-IN" sz="900">
                          <a:solidFill>
                            <a:srgbClr val="2D3648"/>
                          </a:solidFill>
                          <a:latin typeface="Segoe UI"/>
                          <a:cs typeface="Segoe UI"/>
                        </a:rPr>
                        <a:t>Cognito</a:t>
                      </a:r>
                    </a:p>
                  </a:txBody>
                  <a:tcPr anchor="ctr">
                    <a:solidFill>
                      <a:srgbClr val="FFFFFF"/>
                    </a:solidFill>
                  </a:tcPr>
                </a:tc>
                <a:tc>
                  <a:txBody>
                    <a:bodyPr/>
                    <a:lstStyle/>
                    <a:p>
                      <a:pPr algn="l"/>
                      <a:r>
                        <a:rPr lang="en-IN" sz="900">
                          <a:solidFill>
                            <a:srgbClr val="2D3648"/>
                          </a:solidFill>
                          <a:latin typeface="Segoe UI"/>
                          <a:cs typeface="Segoe UI"/>
                        </a:rPr>
                        <a:t>Keycloak</a:t>
                      </a:r>
                    </a:p>
                  </a:txBody>
                  <a:tcPr anchor="ctr">
                    <a:solidFill>
                      <a:srgbClr val="FFFFFF"/>
                    </a:solidFill>
                  </a:tcPr>
                </a:tc>
                <a:tc>
                  <a:txBody>
                    <a:bodyPr/>
                    <a:lstStyle/>
                    <a:p>
                      <a:pPr algn="l"/>
                      <a:r>
                        <a:rPr lang="en-IN" sz="900">
                          <a:solidFill>
                            <a:srgbClr val="2D3648"/>
                          </a:solidFill>
                          <a:latin typeface="Segoe UI"/>
                          <a:cs typeface="Segoe UI"/>
                        </a:rPr>
                        <a:t>Identity &amp; Auth</a:t>
                      </a:r>
                    </a:p>
                  </a:txBody>
                  <a:tcPr anchor="ctr">
                    <a:solidFill>
                      <a:srgbClr val="FFFFFF"/>
                    </a:solidFill>
                  </a:tcPr>
                </a:tc>
                <a:extLst>
                  <a:ext uri="{0D108BD9-81ED-4DB2-BD59-A6C34878D82A}">
                    <a16:rowId xmlns:a16="http://schemas.microsoft.com/office/drawing/2014/main" val="1460413917"/>
                  </a:ext>
                </a:extLst>
              </a:tr>
              <a:tr h="330200">
                <a:tc>
                  <a:txBody>
                    <a:bodyPr/>
                    <a:lstStyle/>
                    <a:p>
                      <a:pPr algn="l"/>
                      <a:r>
                        <a:rPr lang="en-IN" sz="900">
                          <a:solidFill>
                            <a:srgbClr val="2D3648"/>
                          </a:solidFill>
                          <a:latin typeface="Segoe UI"/>
                          <a:cs typeface="Segoe UI"/>
                        </a:rPr>
                        <a:t>IAM / KMS</a:t>
                      </a:r>
                    </a:p>
                  </a:txBody>
                  <a:tcPr anchor="ctr">
                    <a:solidFill>
                      <a:srgbClr val="EEF2F7"/>
                    </a:solidFill>
                  </a:tcPr>
                </a:tc>
                <a:tc>
                  <a:txBody>
                    <a:bodyPr/>
                    <a:lstStyle/>
                    <a:p>
                      <a:pPr algn="l"/>
                      <a:r>
                        <a:rPr lang="en-IN" sz="900">
                          <a:solidFill>
                            <a:srgbClr val="2D3648"/>
                          </a:solidFill>
                          <a:latin typeface="Segoe UI"/>
                          <a:cs typeface="Segoe UI"/>
                        </a:rPr>
                        <a:t>HashiCorp Vault</a:t>
                      </a:r>
                    </a:p>
                  </a:txBody>
                  <a:tcPr anchor="ctr">
                    <a:solidFill>
                      <a:srgbClr val="EEF2F7"/>
                    </a:solidFill>
                  </a:tcPr>
                </a:tc>
                <a:tc>
                  <a:txBody>
                    <a:bodyPr/>
                    <a:lstStyle/>
                    <a:p>
                      <a:pPr algn="l"/>
                      <a:r>
                        <a:rPr lang="en-IN" sz="900">
                          <a:solidFill>
                            <a:srgbClr val="2D3648"/>
                          </a:solidFill>
                          <a:latin typeface="Segoe UI"/>
                          <a:cs typeface="Segoe UI"/>
                        </a:rPr>
                        <a:t>Secrets &amp; Keys</a:t>
                      </a:r>
                    </a:p>
                  </a:txBody>
                  <a:tcPr anchor="ctr">
                    <a:solidFill>
                      <a:srgbClr val="EEF2F7"/>
                    </a:solidFill>
                  </a:tcPr>
                </a:tc>
                <a:extLst>
                  <a:ext uri="{0D108BD9-81ED-4DB2-BD59-A6C34878D82A}">
                    <a16:rowId xmlns:a16="http://schemas.microsoft.com/office/drawing/2014/main" val="3215228352"/>
                  </a:ext>
                </a:extLst>
              </a:tr>
              <a:tr h="330200">
                <a:tc>
                  <a:txBody>
                    <a:bodyPr/>
                    <a:lstStyle/>
                    <a:p>
                      <a:pPr algn="l"/>
                      <a:r>
                        <a:rPr lang="en-IN" sz="900">
                          <a:solidFill>
                            <a:srgbClr val="2D3648"/>
                          </a:solidFill>
                          <a:latin typeface="Segoe UI"/>
                          <a:cs typeface="Segoe UI"/>
                        </a:rPr>
                        <a:t>WAF</a:t>
                      </a:r>
                    </a:p>
                  </a:txBody>
                  <a:tcPr anchor="ctr">
                    <a:solidFill>
                      <a:srgbClr val="FFFFFF"/>
                    </a:solidFill>
                  </a:tcPr>
                </a:tc>
                <a:tc>
                  <a:txBody>
                    <a:bodyPr/>
                    <a:lstStyle/>
                    <a:p>
                      <a:pPr algn="l"/>
                      <a:r>
                        <a:rPr lang="en-IN" sz="900">
                          <a:solidFill>
                            <a:srgbClr val="2D3648"/>
                          </a:solidFill>
                          <a:latin typeface="Segoe UI"/>
                          <a:cs typeface="Segoe UI"/>
                        </a:rPr>
                        <a:t>ModSecurity</a:t>
                      </a:r>
                    </a:p>
                  </a:txBody>
                  <a:tcPr anchor="ctr">
                    <a:solidFill>
                      <a:srgbClr val="FFFFFF"/>
                    </a:solidFill>
                  </a:tcPr>
                </a:tc>
                <a:tc>
                  <a:txBody>
                    <a:bodyPr/>
                    <a:lstStyle/>
                    <a:p>
                      <a:pPr algn="l"/>
                      <a:r>
                        <a:rPr lang="en-IN" sz="900">
                          <a:solidFill>
                            <a:srgbClr val="2D3648"/>
                          </a:solidFill>
                          <a:latin typeface="Segoe UI"/>
                          <a:cs typeface="Segoe UI"/>
                        </a:rPr>
                        <a:t>Web App Firewall</a:t>
                      </a:r>
                    </a:p>
                  </a:txBody>
                  <a:tcPr anchor="ctr">
                    <a:solidFill>
                      <a:srgbClr val="FFFFFF"/>
                    </a:solidFill>
                  </a:tcPr>
                </a:tc>
                <a:extLst>
                  <a:ext uri="{0D108BD9-81ED-4DB2-BD59-A6C34878D82A}">
                    <a16:rowId xmlns:a16="http://schemas.microsoft.com/office/drawing/2014/main" val="1787790988"/>
                  </a:ext>
                </a:extLst>
              </a:tr>
            </a:tbl>
          </a:graphicData>
        </a:graphic>
      </p:graphicFrame>
    </p:spTree>
    <p:extLst>
      <p:ext uri="{BB962C8B-B14F-4D97-AF65-F5344CB8AC3E}">
        <p14:creationId xmlns:p14="http://schemas.microsoft.com/office/powerpoint/2010/main" val="2891494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700" name="T"/>
          <p:cNvSpPr txBox="1"/>
          <p:nvPr/>
        </p:nvSpPr>
        <p:spPr>
          <a:xfrm>
            <a:off x="457200" y="355600"/>
            <a:ext cx="6350000" cy="457200"/>
          </a:xfrm>
          <a:prstGeom prst="rect">
            <a:avLst/>
          </a:prstGeom>
          <a:noFill/>
          <a:ln>
            <a:noFill/>
          </a:ln>
        </p:spPr>
        <p:txBody>
          <a:bodyPr wrap="square" lIns="0" tIns="0" rIns="0" bIns="0" anchor="b"/>
          <a:lstStyle/>
          <a:p>
            <a:pPr algn="l">
              <a:buNone/>
            </a:pPr>
            <a:r>
              <a:rPr lang="en-US" sz="2400" b="1" dirty="0">
                <a:solidFill>
                  <a:srgbClr val="0D1B3E"/>
                </a:solidFill>
                <a:latin typeface="Segoe UI Semibold"/>
              </a:rPr>
              <a:t>Orchestration Layer</a:t>
            </a:r>
          </a:p>
        </p:txBody>
      </p:sp>
      <p:sp>
        <p:nvSpPr>
          <p:cNvPr id="701" name="ST"/>
          <p:cNvSpPr txBox="1"/>
          <p:nvPr/>
        </p:nvSpPr>
        <p:spPr>
          <a:xfrm>
            <a:off x="457200" y="838200"/>
            <a:ext cx="6985000" cy="254000"/>
          </a:xfrm>
          <a:prstGeom prst="rect">
            <a:avLst/>
          </a:prstGeom>
          <a:noFill/>
          <a:ln>
            <a:noFill/>
          </a:ln>
        </p:spPr>
        <p:txBody>
          <a:bodyPr wrap="square" lIns="0" tIns="0" rIns="0" bIns="0" anchor="t"/>
          <a:lstStyle/>
          <a:p>
            <a:pPr algn="l">
              <a:buNone/>
            </a:pPr>
            <a:r>
              <a:rPr lang="en-US" sz="1400" b="1" dirty="0">
                <a:solidFill>
                  <a:srgbClr val="5A6577"/>
                </a:solidFill>
                <a:latin typeface="Segoe UI"/>
              </a:rPr>
              <a:t>AI-powered workflow planning and execution engine</a:t>
            </a:r>
          </a:p>
        </p:txBody>
      </p:sp>
      <p:cxnSp>
        <p:nvCxnSpPr>
          <p:cNvPr id="702" name="Sep"/>
          <p:cNvCxnSpPr/>
          <p:nvPr/>
        </p:nvCxnSpPr>
        <p:spPr>
          <a:xfrm>
            <a:off x="457200" y="1143000"/>
            <a:ext cx="9448800" cy="0"/>
          </a:xfrm>
          <a:prstGeom prst="line">
            <a:avLst/>
          </a:prstGeom>
          <a:ln w="12700">
            <a:solidFill>
              <a:srgbClr val="D0D8E8"/>
            </a:solidFill>
          </a:ln>
        </p:spPr>
      </p:cxnSp>
      <p:sp>
        <p:nvSpPr>
          <p:cNvPr id="703" name="OH"/>
          <p:cNvSpPr txBox="1"/>
          <p:nvPr/>
        </p:nvSpPr>
        <p:spPr>
          <a:xfrm>
            <a:off x="558800" y="1270000"/>
            <a:ext cx="1905000" cy="254000"/>
          </a:xfrm>
          <a:prstGeom prst="rect">
            <a:avLst/>
          </a:prstGeom>
          <a:noFill/>
          <a:ln>
            <a:noFill/>
          </a:ln>
        </p:spPr>
        <p:txBody>
          <a:bodyPr wrap="square" lIns="0" tIns="0" rIns="0" bIns="0" anchor="t"/>
          <a:lstStyle/>
          <a:p>
            <a:pPr algn="l">
              <a:buNone/>
            </a:pPr>
            <a:r>
              <a:rPr lang="en-US" sz="1400" b="1" dirty="0">
                <a:solidFill>
                  <a:srgbClr val="1257A8"/>
                </a:solidFill>
                <a:latin typeface="Segoe UI Semibold"/>
              </a:rPr>
              <a:t>Overview</a:t>
            </a:r>
          </a:p>
        </p:txBody>
      </p:sp>
      <p:sp>
        <p:nvSpPr>
          <p:cNvPr id="704" name="OT"/>
          <p:cNvSpPr txBox="1"/>
          <p:nvPr/>
        </p:nvSpPr>
        <p:spPr>
          <a:xfrm>
            <a:off x="558800" y="1574800"/>
            <a:ext cx="4622800" cy="1651000"/>
          </a:xfrm>
          <a:prstGeom prst="rect">
            <a:avLst/>
          </a:prstGeom>
          <a:noFill/>
          <a:ln>
            <a:noFill/>
          </a:ln>
        </p:spPr>
        <p:txBody>
          <a:bodyPr wrap="square" lIns="0" tIns="0" rIns="0" bIns="0" anchor="t"/>
          <a:lstStyle/>
          <a:p>
            <a:pPr algn="l">
              <a:lnSpc>
                <a:spcPts val="1700"/>
              </a:lnSpc>
              <a:buNone/>
            </a:pPr>
            <a:r>
              <a:rPr lang="en-US" sz="1200" dirty="0">
                <a:solidFill>
                  <a:srgbClr val="444D5C"/>
                </a:solidFill>
                <a:latin typeface="Segoe UI"/>
              </a:rPr>
              <a:t>The brain of the operation, and one of only three components that actually needs AI. The Workflow Orchestration Agent receives every inbound event — new emails, reply threads, SLA alerts, human corrections — and decides what happens next. It builds execution plans, dispatches work to agents and services in parallel, joins results, and replans when something changes mid-workflow. Routing and escalation logic got absorbed here because both turned out to be rules-based decisions the orchestrator handles during planning.</a:t>
            </a:r>
          </a:p>
        </p:txBody>
      </p:sp>
      <p:sp>
        <p:nvSpPr>
          <p:cNvPr id="705" name="KH"/>
          <p:cNvSpPr txBox="1"/>
          <p:nvPr/>
        </p:nvSpPr>
        <p:spPr>
          <a:xfrm>
            <a:off x="558800" y="3403600"/>
            <a:ext cx="2540000" cy="254000"/>
          </a:xfrm>
          <a:prstGeom prst="rect">
            <a:avLst/>
          </a:prstGeom>
          <a:noFill/>
          <a:ln>
            <a:noFill/>
          </a:ln>
        </p:spPr>
        <p:txBody>
          <a:bodyPr wrap="square" lIns="0" tIns="0" rIns="0" bIns="0" anchor="t"/>
          <a:lstStyle/>
          <a:p>
            <a:pPr algn="l">
              <a:buNone/>
            </a:pPr>
            <a:r>
              <a:rPr lang="en-US" sz="1400" b="1" dirty="0">
                <a:solidFill>
                  <a:srgbClr val="1257A8"/>
                </a:solidFill>
                <a:latin typeface="Segoe UI Semibold"/>
              </a:rPr>
              <a:t>Key Components</a:t>
            </a:r>
          </a:p>
        </p:txBody>
      </p:sp>
      <p:sp>
        <p:nvSpPr>
          <p:cNvPr id="706" name="KT"/>
          <p:cNvSpPr txBox="1"/>
          <p:nvPr/>
        </p:nvSpPr>
        <p:spPr>
          <a:xfrm>
            <a:off x="558800" y="3708400"/>
            <a:ext cx="4622800" cy="1778000"/>
          </a:xfrm>
          <a:prstGeom prst="rect">
            <a:avLst/>
          </a:prstGeom>
          <a:noFill/>
          <a:ln>
            <a:noFill/>
          </a:ln>
        </p:spPr>
        <p:txBody>
          <a:bodyPr wrap="square" lIns="0" tIns="0" rIns="0" bIns="0" anchor="t"/>
          <a:lstStyle/>
          <a:p>
            <a:pPr marL="171450" indent="-171450" algn="l">
              <a:lnSpc>
                <a:spcPts val="1800"/>
              </a:lnSpc>
              <a:spcAft>
                <a:spcPts val="100"/>
              </a:spcAft>
              <a:buFont typeface="Arial"/>
              <a:buChar char="•"/>
            </a:pPr>
            <a:r>
              <a:rPr lang="en-US" sz="1200" b="1" dirty="0">
                <a:solidFill>
                  <a:srgbClr val="0D1B3E"/>
                </a:solidFill>
                <a:latin typeface="Segoe UI Semibold"/>
              </a:rPr>
              <a:t>Dynamic Execution Planning</a:t>
            </a:r>
            <a:r>
              <a:rPr lang="en-US" sz="1200" dirty="0">
                <a:solidFill>
                  <a:srgbClr val="444D5C"/>
                </a:solidFill>
                <a:latin typeface="Segoe UI"/>
              </a:rPr>
              <a:t> – Builds and adapts workflow plans</a:t>
            </a:r>
          </a:p>
          <a:p>
            <a:pPr marL="171450" indent="-171450" algn="l">
              <a:lnSpc>
                <a:spcPts val="1800"/>
              </a:lnSpc>
              <a:spcAft>
                <a:spcPts val="100"/>
              </a:spcAft>
              <a:buFont typeface="Arial"/>
              <a:buChar char="•"/>
            </a:pPr>
            <a:r>
              <a:rPr lang="en-US" sz="1200" b="1" dirty="0">
                <a:solidFill>
                  <a:srgbClr val="0D1B3E"/>
                </a:solidFill>
                <a:latin typeface="Segoe UI Semibold"/>
              </a:rPr>
              <a:t>Parallel Dispatch &amp; Join</a:t>
            </a:r>
            <a:r>
              <a:rPr lang="en-US" sz="1200" dirty="0">
                <a:solidFill>
                  <a:srgbClr val="444D5C"/>
                </a:solidFill>
                <a:latin typeface="Segoe UI"/>
              </a:rPr>
              <a:t> – Runs tasks simultaneously</a:t>
            </a:r>
          </a:p>
          <a:p>
            <a:pPr marL="171450" indent="-171450" algn="l">
              <a:lnSpc>
                <a:spcPts val="1800"/>
              </a:lnSpc>
              <a:spcAft>
                <a:spcPts val="100"/>
              </a:spcAft>
              <a:buFont typeface="Arial"/>
              <a:buChar char="•"/>
            </a:pPr>
            <a:r>
              <a:rPr lang="en-US" sz="1200" b="1" dirty="0">
                <a:solidFill>
                  <a:srgbClr val="0D1B3E"/>
                </a:solidFill>
                <a:latin typeface="Segoe UI Semibold"/>
              </a:rPr>
              <a:t>Routing Rules</a:t>
            </a:r>
            <a:r>
              <a:rPr lang="en-US" sz="1200" dirty="0">
                <a:solidFill>
                  <a:srgbClr val="444D5C"/>
                </a:solidFill>
                <a:latin typeface="Segoe UI"/>
              </a:rPr>
              <a:t> – Intent-to-team mapping, vendor tier priority</a:t>
            </a:r>
          </a:p>
          <a:p>
            <a:pPr marL="171450" indent="-171450" algn="l">
              <a:lnSpc>
                <a:spcPts val="1800"/>
              </a:lnSpc>
              <a:spcAft>
                <a:spcPts val="100"/>
              </a:spcAft>
              <a:buFont typeface="Arial"/>
              <a:buChar char="•"/>
            </a:pPr>
            <a:r>
              <a:rPr lang="en-US" sz="1200" b="1" dirty="0">
                <a:solidFill>
                  <a:srgbClr val="0D1B3E"/>
                </a:solidFill>
                <a:latin typeface="Segoe UI Semibold"/>
              </a:rPr>
              <a:t>Escalation Evaluation</a:t>
            </a:r>
            <a:r>
              <a:rPr lang="en-US" sz="1200" dirty="0">
                <a:solidFill>
                  <a:srgbClr val="444D5C"/>
                </a:solidFill>
                <a:latin typeface="Segoe UI"/>
              </a:rPr>
              <a:t> – SLA% + tier + inactivity + sentiment</a:t>
            </a:r>
          </a:p>
          <a:p>
            <a:pPr marL="171450" indent="-171450" algn="l">
              <a:lnSpc>
                <a:spcPts val="1800"/>
              </a:lnSpc>
              <a:buFont typeface="Arial"/>
              <a:buChar char="•"/>
            </a:pPr>
            <a:r>
              <a:rPr lang="en-US" sz="1200" b="1" dirty="0">
                <a:solidFill>
                  <a:srgbClr val="0D1B3E"/>
                </a:solidFill>
                <a:latin typeface="Segoe UI Semibold"/>
              </a:rPr>
              <a:t>Replanning</a:t>
            </a:r>
            <a:r>
              <a:rPr lang="en-US" sz="1200" dirty="0">
                <a:solidFill>
                  <a:srgbClr val="444D5C"/>
                </a:solidFill>
                <a:latin typeface="Segoe UI"/>
              </a:rPr>
              <a:t> – Adjusts when new info changes the picture</a:t>
            </a:r>
          </a:p>
        </p:txBody>
      </p:sp>
      <p:sp>
        <p:nvSpPr>
          <p:cNvPr id="751" name="LISh"/>
          <p:cNvSpPr/>
          <p:nvPr/>
        </p:nvSpPr>
        <p:spPr>
          <a:xfrm>
            <a:off x="5511800" y="3048000"/>
            <a:ext cx="4419600" cy="1778000"/>
          </a:xfrm>
          <a:prstGeom prst="roundRect">
            <a:avLst>
              <a:gd name="adj" fmla="val 5000"/>
            </a:avLst>
          </a:prstGeom>
          <a:solidFill>
            <a:srgbClr val="E0E4EC">
              <a:alpha val="50000"/>
            </a:srgbClr>
          </a:solidFill>
          <a:ln>
            <a:noFill/>
          </a:ln>
        </p:spPr>
        <p:txBody>
          <a:bodyPr/>
          <a:lstStyle/>
          <a:p>
            <a:endParaRPr lang="en-US"/>
          </a:p>
        </p:txBody>
      </p:sp>
      <p:sp>
        <p:nvSpPr>
          <p:cNvPr id="710" name="LIBx"/>
          <p:cNvSpPr/>
          <p:nvPr/>
        </p:nvSpPr>
        <p:spPr>
          <a:xfrm>
            <a:off x="5486400" y="3022600"/>
            <a:ext cx="4419600" cy="1778000"/>
          </a:xfrm>
          <a:prstGeom prst="roundRect">
            <a:avLst>
              <a:gd name="adj" fmla="val 5000"/>
            </a:avLst>
          </a:prstGeom>
          <a:solidFill>
            <a:srgbClr val="FFFFFF"/>
          </a:solidFill>
          <a:ln w="9525">
            <a:solidFill>
              <a:srgbClr val="D8DDE6"/>
            </a:solidFill>
          </a:ln>
        </p:spPr>
        <p:txBody>
          <a:bodyPr/>
          <a:lstStyle/>
          <a:p>
            <a:endParaRPr lang="en-US"/>
          </a:p>
        </p:txBody>
      </p:sp>
      <p:sp>
        <p:nvSpPr>
          <p:cNvPr id="711" name="LIHd"/>
          <p:cNvSpPr/>
          <p:nvPr/>
        </p:nvSpPr>
        <p:spPr>
          <a:xfrm>
            <a:off x="5486400" y="3022600"/>
            <a:ext cx="4419600" cy="355600"/>
          </a:xfrm>
          <a:prstGeom prst="roundRect">
            <a:avLst>
              <a:gd name="adj" fmla="val 5000"/>
            </a:avLst>
          </a:prstGeom>
          <a:solidFill>
            <a:srgbClr val="1565C0"/>
          </a:solidFill>
          <a:ln w="0">
            <a:noFill/>
          </a:ln>
        </p:spPr>
        <p:txBody>
          <a:bodyPr wrap="square" lIns="127000" tIns="0" rIns="127000" bIns="0" anchor="ctr"/>
          <a:lstStyle/>
          <a:p>
            <a:pPr algn="ctr">
              <a:buNone/>
            </a:pPr>
            <a:r>
              <a:rPr lang="en-US" sz="1200" b="1" dirty="0">
                <a:solidFill>
                  <a:srgbClr val="FFFFFF"/>
                </a:solidFill>
                <a:latin typeface="Segoe UI Semibold"/>
              </a:rPr>
              <a:t>Layer Interactions</a:t>
            </a:r>
          </a:p>
        </p:txBody>
      </p:sp>
      <p:sp>
        <p:nvSpPr>
          <p:cNvPr id="712" name="LITx"/>
          <p:cNvSpPr txBox="1"/>
          <p:nvPr/>
        </p:nvSpPr>
        <p:spPr>
          <a:xfrm>
            <a:off x="5638800" y="3454400"/>
            <a:ext cx="4114800" cy="1270000"/>
          </a:xfrm>
          <a:prstGeom prst="rect">
            <a:avLst/>
          </a:prstGeom>
          <a:noFill/>
          <a:ln>
            <a:noFill/>
          </a:ln>
        </p:spPr>
        <p:txBody>
          <a:bodyPr wrap="square" lIns="0" tIns="0" rIns="0" bIns="0" anchor="t"/>
          <a:lstStyle/>
          <a:p>
            <a:pPr marL="114300" indent="-114300" algn="l">
              <a:lnSpc>
                <a:spcPts val="1800"/>
              </a:lnSpc>
              <a:spcAft>
                <a:spcPts val="50"/>
              </a:spcAft>
              <a:buFont typeface="Arial"/>
              <a:buChar char="▸"/>
            </a:pPr>
            <a:r>
              <a:rPr lang="en-US" sz="1200" dirty="0">
                <a:solidFill>
                  <a:srgbClr val="2D3648"/>
                </a:solidFill>
                <a:latin typeface="Segoe UI"/>
              </a:rPr>
              <a:t>Receives requests from API Gateway (L2)</a:t>
            </a:r>
          </a:p>
          <a:p>
            <a:pPr marL="114300" indent="-114300" algn="l">
              <a:lnSpc>
                <a:spcPts val="1800"/>
              </a:lnSpc>
              <a:spcAft>
                <a:spcPts val="50"/>
              </a:spcAft>
              <a:buFont typeface="Arial"/>
              <a:buChar char="▸"/>
            </a:pPr>
            <a:r>
              <a:rPr lang="en-US" sz="1200" dirty="0">
                <a:solidFill>
                  <a:srgbClr val="2D3648"/>
                </a:solidFill>
                <a:latin typeface="Segoe UI"/>
              </a:rPr>
              <a:t>Dispatches to Agent Services (L5), Integration (L6)</a:t>
            </a:r>
          </a:p>
          <a:p>
            <a:pPr marL="114300" indent="-114300" algn="l">
              <a:lnSpc>
                <a:spcPts val="1800"/>
              </a:lnSpc>
              <a:spcAft>
                <a:spcPts val="50"/>
              </a:spcAft>
              <a:buFont typeface="Arial"/>
              <a:buChar char="▸"/>
            </a:pPr>
            <a:r>
              <a:rPr lang="en-US" sz="1200" dirty="0">
                <a:solidFill>
                  <a:srgbClr val="2D3648"/>
                </a:solidFill>
                <a:latin typeface="Segoe UI"/>
              </a:rPr>
              <a:t>Reads/writes Memory &amp; Context (L7)</a:t>
            </a:r>
          </a:p>
          <a:p>
            <a:pPr marL="114300" indent="-114300" algn="l">
              <a:lnSpc>
                <a:spcPts val="1800"/>
              </a:lnSpc>
              <a:spcAft>
                <a:spcPts val="50"/>
              </a:spcAft>
              <a:buFont typeface="Arial"/>
              <a:buChar char="▸"/>
            </a:pPr>
            <a:r>
              <a:rPr lang="en-US" sz="1200" dirty="0">
                <a:solidFill>
                  <a:srgbClr val="2D3648"/>
                </a:solidFill>
                <a:latin typeface="Segoe UI"/>
              </a:rPr>
              <a:t>Receives alerts from Monitoring service</a:t>
            </a:r>
          </a:p>
          <a:p>
            <a:pPr marL="114300" indent="-114300" algn="l">
              <a:lnSpc>
                <a:spcPts val="1800"/>
              </a:lnSpc>
              <a:buFont typeface="Arial"/>
              <a:buChar char="▸"/>
            </a:pPr>
            <a:r>
              <a:rPr lang="en-US" sz="1200" dirty="0">
                <a:solidFill>
                  <a:srgbClr val="2D3648"/>
                </a:solidFill>
                <a:latin typeface="Segoe UI"/>
              </a:rPr>
              <a:t>Enforces Quality Gate before any external action</a:t>
            </a:r>
          </a:p>
        </p:txBody>
      </p:sp>
      <p:sp>
        <p:nvSpPr>
          <p:cNvPr id="713" name="FH"/>
          <p:cNvSpPr txBox="1"/>
          <p:nvPr/>
        </p:nvSpPr>
        <p:spPr>
          <a:xfrm>
            <a:off x="10109200" y="1270000"/>
            <a:ext cx="1778000" cy="279400"/>
          </a:xfrm>
          <a:prstGeom prst="rect">
            <a:avLst/>
          </a:prstGeom>
          <a:noFill/>
          <a:ln>
            <a:noFill/>
          </a:ln>
        </p:spPr>
        <p:txBody>
          <a:bodyPr wrap="square" lIns="0" tIns="0" rIns="0" bIns="0" anchor="t"/>
          <a:lstStyle/>
          <a:p>
            <a:pPr algn="ctr">
              <a:buNone/>
            </a:pPr>
            <a:r>
              <a:rPr lang="en-US" sz="1100" b="1" dirty="0">
                <a:solidFill>
                  <a:srgbClr val="5A6577"/>
                </a:solidFill>
                <a:latin typeface="Segoe UI"/>
              </a:rPr>
              <a:t>Architecture Flow</a:t>
            </a:r>
          </a:p>
        </p:txBody>
      </p:sp>
      <p:sp>
        <p:nvSpPr>
          <p:cNvPr id="714" name="F0"/>
          <p:cNvSpPr/>
          <p:nvPr/>
        </p:nvSpPr>
        <p:spPr>
          <a:xfrm>
            <a:off x="10109200" y="162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Presentation</a:t>
            </a:r>
          </a:p>
        </p:txBody>
      </p:sp>
      <p:sp>
        <p:nvSpPr>
          <p:cNvPr id="715" name="F1"/>
          <p:cNvSpPr/>
          <p:nvPr/>
        </p:nvSpPr>
        <p:spPr>
          <a:xfrm>
            <a:off x="10109200" y="213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API Gateway &amp; Auth</a:t>
            </a:r>
          </a:p>
        </p:txBody>
      </p:sp>
      <p:sp>
        <p:nvSpPr>
          <p:cNvPr id="716" name="F2"/>
          <p:cNvSpPr/>
          <p:nvPr/>
        </p:nvSpPr>
        <p:spPr>
          <a:xfrm>
            <a:off x="10109200" y="2641600"/>
            <a:ext cx="1727200" cy="406400"/>
          </a:xfrm>
          <a:prstGeom prst="roundRect">
            <a:avLst>
              <a:gd name="adj" fmla="val 10000"/>
            </a:avLst>
          </a:prstGeom>
          <a:solidFill>
            <a:srgbClr val="1565C0"/>
          </a:solidFill>
          <a:ln w="9525">
            <a:solidFill>
              <a:srgbClr val="1565C0"/>
            </a:solidFill>
          </a:ln>
        </p:spPr>
        <p:txBody>
          <a:bodyPr wrap="square" lIns="101600" tIns="0" rIns="101600" bIns="0" anchor="ctr"/>
          <a:lstStyle/>
          <a:p>
            <a:pPr algn="ctr">
              <a:buNone/>
            </a:pPr>
            <a:r>
              <a:rPr lang="en-US" sz="1000" b="1" dirty="0">
                <a:solidFill>
                  <a:srgbClr val="FFFFFF"/>
                </a:solidFill>
                <a:latin typeface="Segoe UI Semibold"/>
              </a:rPr>
              <a:t>▶ Orchestration</a:t>
            </a:r>
          </a:p>
        </p:txBody>
      </p:sp>
      <p:sp>
        <p:nvSpPr>
          <p:cNvPr id="717" name="F3"/>
          <p:cNvSpPr/>
          <p:nvPr/>
        </p:nvSpPr>
        <p:spPr>
          <a:xfrm>
            <a:off x="10109200" y="3149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Security &amp; Gov.</a:t>
            </a:r>
          </a:p>
        </p:txBody>
      </p:sp>
      <p:sp>
        <p:nvSpPr>
          <p:cNvPr id="718" name="F4"/>
          <p:cNvSpPr/>
          <p:nvPr/>
        </p:nvSpPr>
        <p:spPr>
          <a:xfrm>
            <a:off x="10109200" y="3657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Agent Services</a:t>
            </a:r>
          </a:p>
        </p:txBody>
      </p:sp>
      <p:sp>
        <p:nvSpPr>
          <p:cNvPr id="719" name="F5"/>
          <p:cNvSpPr/>
          <p:nvPr/>
        </p:nvSpPr>
        <p:spPr>
          <a:xfrm>
            <a:off x="10109200" y="416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Integration</a:t>
            </a:r>
          </a:p>
        </p:txBody>
      </p:sp>
      <p:sp>
        <p:nvSpPr>
          <p:cNvPr id="720" name="F6"/>
          <p:cNvSpPr/>
          <p:nvPr/>
        </p:nvSpPr>
        <p:spPr>
          <a:xfrm>
            <a:off x="10109200" y="467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Data &amp; Storage</a:t>
            </a:r>
          </a:p>
        </p:txBody>
      </p:sp>
      <p:sp>
        <p:nvSpPr>
          <p:cNvPr id="721" name="Pill"/>
          <p:cNvSpPr/>
          <p:nvPr/>
        </p:nvSpPr>
        <p:spPr>
          <a:xfrm>
            <a:off x="10490200" y="355600"/>
            <a:ext cx="1016000" cy="355600"/>
          </a:xfrm>
          <a:prstGeom prst="roundRect">
            <a:avLst>
              <a:gd name="adj" fmla="val 16667"/>
            </a:avLst>
          </a:prstGeom>
          <a:solidFill>
            <a:srgbClr val="1565C0"/>
          </a:solidFill>
          <a:ln w="0">
            <a:noFill/>
          </a:ln>
        </p:spPr>
        <p:txBody>
          <a:bodyPr wrap="none" lIns="0" tIns="0" rIns="0" bIns="0" anchor="ctr" anchorCtr="1"/>
          <a:lstStyle/>
          <a:p>
            <a:pPr algn="ctr">
              <a:buNone/>
            </a:pPr>
            <a:r>
              <a:rPr lang="en-US" sz="1100" b="1" dirty="0">
                <a:solidFill>
                  <a:srgbClr val="FFFFFF"/>
                </a:solidFill>
                <a:latin typeface="Segoe UI Semibold"/>
              </a:rPr>
              <a:t>Layer 3</a:t>
            </a:r>
          </a:p>
        </p:txBody>
      </p:sp>
      <p:sp>
        <p:nvSpPr>
          <p:cNvPr id="722" name="Ftr"/>
          <p:cNvSpPr txBox="1"/>
          <p:nvPr/>
        </p:nvSpPr>
        <p:spPr>
          <a:xfrm>
            <a:off x="457200" y="6451600"/>
            <a:ext cx="5080000" cy="203200"/>
          </a:xfrm>
          <a:prstGeom prst="rect">
            <a:avLst/>
          </a:prstGeom>
          <a:noFill/>
          <a:ln>
            <a:noFill/>
          </a:ln>
        </p:spPr>
        <p:txBody>
          <a:bodyPr wrap="square" lIns="0" tIns="0" rIns="0" bIns="0" anchor="b"/>
          <a:lstStyle/>
          <a:p>
            <a:pPr algn="l">
              <a:buNone/>
            </a:pPr>
            <a:r>
              <a:rPr lang="en-US" sz="800" dirty="0">
                <a:solidFill>
                  <a:srgbClr val="9BA4B0"/>
                </a:solidFill>
                <a:latin typeface="Segoe UI"/>
              </a:rPr>
              <a:t>VQMS Architecture | Confidential</a:t>
            </a:r>
          </a:p>
        </p:txBody>
      </p:sp>
      <p:sp>
        <p:nvSpPr>
          <p:cNvPr id="752" name="OvA"/>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753" name="KCA"/>
          <p:cNvSpPr/>
          <p:nvPr/>
        </p:nvSpPr>
        <p:spPr>
          <a:xfrm>
            <a:off x="457200" y="3429000"/>
            <a:ext cx="50800" cy="203200"/>
          </a:xfrm>
          <a:prstGeom prst="roundRect">
            <a:avLst>
              <a:gd name="adj" fmla="val 16667"/>
            </a:avLst>
          </a:prstGeom>
          <a:solidFill>
            <a:srgbClr val="1565C0"/>
          </a:solidFill>
          <a:ln>
            <a:noFill/>
          </a:ln>
        </p:spPr>
        <p:txBody>
          <a:bodyPr/>
          <a:lstStyle/>
          <a:p>
            <a:endParaRPr lang="en-US"/>
          </a:p>
        </p:txBody>
      </p:sp>
      <p:sp>
        <p:nvSpPr>
          <p:cNvPr id="6" name="Rectangle: Rounded Corners 5">
            <a:extLst>
              <a:ext uri="{FF2B5EF4-FFF2-40B4-BE49-F238E27FC236}">
                <a16:creationId xmlns:a16="http://schemas.microsoft.com/office/drawing/2014/main" id="{A551A375-D864-4E39-A757-8F8388D1BD46}"/>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7" name="TextBox 6">
            <a:extLst>
              <a:ext uri="{FF2B5EF4-FFF2-40B4-BE49-F238E27FC236}">
                <a16:creationId xmlns:a16="http://schemas.microsoft.com/office/drawing/2014/main" id="{AEF577A6-81AD-4ED2-A6B4-72942F403F8B}"/>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graphicFrame>
        <p:nvGraphicFramePr>
          <p:cNvPr id="9" name="Table 8">
            <a:extLst>
              <a:ext uri="{FF2B5EF4-FFF2-40B4-BE49-F238E27FC236}">
                <a16:creationId xmlns:a16="http://schemas.microsoft.com/office/drawing/2014/main" id="{B1340CE3-2A55-4422-84D5-19F01DE5E7B0}"/>
              </a:ext>
            </a:extLst>
          </p:cNvPr>
          <p:cNvGraphicFramePr>
            <a:graphicFrameLocks noGrp="1"/>
          </p:cNvGraphicFramePr>
          <p:nvPr>
            <p:extLst>
              <p:ext uri="{D42A27DB-BD31-4B8C-83A1-F6EECF244321}">
                <p14:modId xmlns:p14="http://schemas.microsoft.com/office/powerpoint/2010/main" val="1360207373"/>
              </p:ext>
            </p:extLst>
          </p:nvPr>
        </p:nvGraphicFramePr>
        <p:xfrm>
          <a:off x="5486400" y="1600200"/>
          <a:ext cx="4419600" cy="1295400"/>
        </p:xfrm>
        <a:graphic>
          <a:graphicData uri="http://schemas.openxmlformats.org/drawingml/2006/table">
            <a:tbl>
              <a:tblPr firstRow="1" bandRow="1">
                <a:tableStyleId>{5C22544A-7EE6-4342-B048-85BDC9FD1C3A}</a:tableStyleId>
              </a:tblPr>
              <a:tblGrid>
                <a:gridCol w="1546860">
                  <a:extLst>
                    <a:ext uri="{9D8B030D-6E8A-4147-A177-3AD203B41FA5}">
                      <a16:colId xmlns:a16="http://schemas.microsoft.com/office/drawing/2014/main" val="2033347029"/>
                    </a:ext>
                  </a:extLst>
                </a:gridCol>
                <a:gridCol w="1458468">
                  <a:extLst>
                    <a:ext uri="{9D8B030D-6E8A-4147-A177-3AD203B41FA5}">
                      <a16:colId xmlns:a16="http://schemas.microsoft.com/office/drawing/2014/main" val="287811156"/>
                    </a:ext>
                  </a:extLst>
                </a:gridCol>
                <a:gridCol w="1414272">
                  <a:extLst>
                    <a:ext uri="{9D8B030D-6E8A-4147-A177-3AD203B41FA5}">
                      <a16:colId xmlns:a16="http://schemas.microsoft.com/office/drawing/2014/main" val="941961972"/>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A3F6F"/>
                    </a:solidFill>
                  </a:tcPr>
                </a:tc>
                <a:tc>
                  <a:txBody>
                    <a:bodyPr/>
                    <a:lstStyle/>
                    <a:p>
                      <a:pPr algn="ctr"/>
                      <a:r>
                        <a:rPr lang="en-IN" sz="1000" b="1">
                          <a:solidFill>
                            <a:srgbClr val="FFFFFF"/>
                          </a:solidFill>
                          <a:latin typeface="Segoe UI Semibold"/>
                          <a:cs typeface="Segoe UI Semibold"/>
                        </a:rPr>
                        <a:t>Open Source</a:t>
                      </a:r>
                    </a:p>
                  </a:txBody>
                  <a:tcPr anchor="ctr">
                    <a:solidFill>
                      <a:srgbClr val="1A3F6F"/>
                    </a:solidFill>
                  </a:tcPr>
                </a:tc>
                <a:tc>
                  <a:txBody>
                    <a:bodyPr/>
                    <a:lstStyle/>
                    <a:p>
                      <a:pPr algn="ctr"/>
                      <a:r>
                        <a:rPr lang="en-IN" sz="1000" b="1">
                          <a:solidFill>
                            <a:srgbClr val="FFFFFF"/>
                          </a:solidFill>
                          <a:latin typeface="Segoe UI Semibold"/>
                          <a:cs typeface="Segoe UI Semibold"/>
                        </a:rPr>
                        <a:t>Purpose</a:t>
                      </a:r>
                    </a:p>
                  </a:txBody>
                  <a:tcPr anchor="ctr">
                    <a:solidFill>
                      <a:srgbClr val="1A3F6F"/>
                    </a:solidFill>
                  </a:tcPr>
                </a:tc>
                <a:extLst>
                  <a:ext uri="{0D108BD9-81ED-4DB2-BD59-A6C34878D82A}">
                    <a16:rowId xmlns:a16="http://schemas.microsoft.com/office/drawing/2014/main" val="827462910"/>
                  </a:ext>
                </a:extLst>
              </a:tr>
              <a:tr h="330200">
                <a:tc>
                  <a:txBody>
                    <a:bodyPr/>
                    <a:lstStyle/>
                    <a:p>
                      <a:pPr algn="l"/>
                      <a:r>
                        <a:rPr lang="en-IN" sz="900">
                          <a:solidFill>
                            <a:srgbClr val="2D3648"/>
                          </a:solidFill>
                          <a:latin typeface="Segoe UI"/>
                          <a:cs typeface="Segoe UI"/>
                        </a:rPr>
                        <a:t>Step Functions</a:t>
                      </a:r>
                    </a:p>
                  </a:txBody>
                  <a:tcPr anchor="ctr">
                    <a:solidFill>
                      <a:srgbClr val="EEF2F7"/>
                    </a:solidFill>
                  </a:tcPr>
                </a:tc>
                <a:tc>
                  <a:txBody>
                    <a:bodyPr/>
                    <a:lstStyle/>
                    <a:p>
                      <a:pPr algn="l"/>
                      <a:r>
                        <a:rPr lang="en-IN" sz="900">
                          <a:solidFill>
                            <a:srgbClr val="2D3648"/>
                          </a:solidFill>
                          <a:latin typeface="Segoe UI"/>
                          <a:cs typeface="Segoe UI"/>
                        </a:rPr>
                        <a:t>Temporal</a:t>
                      </a:r>
                    </a:p>
                  </a:txBody>
                  <a:tcPr anchor="ctr">
                    <a:solidFill>
                      <a:srgbClr val="EEF2F7"/>
                    </a:solidFill>
                  </a:tcPr>
                </a:tc>
                <a:tc>
                  <a:txBody>
                    <a:bodyPr/>
                    <a:lstStyle/>
                    <a:p>
                      <a:pPr algn="l"/>
                      <a:r>
                        <a:rPr lang="en-IN" sz="900">
                          <a:solidFill>
                            <a:srgbClr val="2D3648"/>
                          </a:solidFill>
                          <a:latin typeface="Segoe UI"/>
                          <a:cs typeface="Segoe UI"/>
                        </a:rPr>
                        <a:t>Workflow Durability</a:t>
                      </a:r>
                    </a:p>
                  </a:txBody>
                  <a:tcPr anchor="ctr">
                    <a:solidFill>
                      <a:srgbClr val="EEF2F7"/>
                    </a:solidFill>
                  </a:tcPr>
                </a:tc>
                <a:extLst>
                  <a:ext uri="{0D108BD9-81ED-4DB2-BD59-A6C34878D82A}">
                    <a16:rowId xmlns:a16="http://schemas.microsoft.com/office/drawing/2014/main" val="3924319429"/>
                  </a:ext>
                </a:extLst>
              </a:tr>
              <a:tr h="330200">
                <a:tc>
                  <a:txBody>
                    <a:bodyPr/>
                    <a:lstStyle/>
                    <a:p>
                      <a:pPr algn="l"/>
                      <a:r>
                        <a:rPr lang="en-IN" sz="900">
                          <a:solidFill>
                            <a:srgbClr val="2D3648"/>
                          </a:solidFill>
                          <a:latin typeface="Segoe UI"/>
                          <a:cs typeface="Segoe UI"/>
                        </a:rPr>
                        <a:t>SQS FIFO + EventBridge</a:t>
                      </a:r>
                    </a:p>
                  </a:txBody>
                  <a:tcPr anchor="ctr">
                    <a:solidFill>
                      <a:srgbClr val="FFFFFF"/>
                    </a:solidFill>
                  </a:tcPr>
                </a:tc>
                <a:tc>
                  <a:txBody>
                    <a:bodyPr/>
                    <a:lstStyle/>
                    <a:p>
                      <a:pPr algn="l"/>
                      <a:r>
                        <a:rPr lang="en-IN" sz="900">
                          <a:solidFill>
                            <a:srgbClr val="2D3648"/>
                          </a:solidFill>
                          <a:latin typeface="Segoe UI"/>
                          <a:cs typeface="Segoe UI"/>
                        </a:rPr>
                        <a:t>RabbitMQ / Kafka</a:t>
                      </a:r>
                    </a:p>
                  </a:txBody>
                  <a:tcPr anchor="ctr">
                    <a:solidFill>
                      <a:srgbClr val="FFFFFF"/>
                    </a:solidFill>
                  </a:tcPr>
                </a:tc>
                <a:tc>
                  <a:txBody>
                    <a:bodyPr/>
                    <a:lstStyle/>
                    <a:p>
                      <a:pPr algn="l"/>
                      <a:r>
                        <a:rPr lang="en-IN" sz="900">
                          <a:solidFill>
                            <a:srgbClr val="2D3648"/>
                          </a:solidFill>
                          <a:latin typeface="Segoe UI"/>
                          <a:cs typeface="Segoe UI"/>
                        </a:rPr>
                        <a:t>Async Messaging</a:t>
                      </a:r>
                    </a:p>
                  </a:txBody>
                  <a:tcPr anchor="ctr">
                    <a:solidFill>
                      <a:srgbClr val="FFFFFF"/>
                    </a:solidFill>
                  </a:tcPr>
                </a:tc>
                <a:extLst>
                  <a:ext uri="{0D108BD9-81ED-4DB2-BD59-A6C34878D82A}">
                    <a16:rowId xmlns:a16="http://schemas.microsoft.com/office/drawing/2014/main" val="3390409199"/>
                  </a:ext>
                </a:extLst>
              </a:tr>
              <a:tr h="330200">
                <a:tc>
                  <a:txBody>
                    <a:bodyPr/>
                    <a:lstStyle/>
                    <a:p>
                      <a:pPr algn="l"/>
                      <a:r>
                        <a:rPr lang="en-IN" sz="900">
                          <a:solidFill>
                            <a:srgbClr val="2D3648"/>
                          </a:solidFill>
                          <a:latin typeface="Segoe UI"/>
                          <a:cs typeface="Segoe UI"/>
                        </a:rPr>
                        <a:t>Lambda</a:t>
                      </a:r>
                    </a:p>
                  </a:txBody>
                  <a:tcPr anchor="ctr">
                    <a:solidFill>
                      <a:srgbClr val="EEF2F7"/>
                    </a:solidFill>
                  </a:tcPr>
                </a:tc>
                <a:tc>
                  <a:txBody>
                    <a:bodyPr/>
                    <a:lstStyle/>
                    <a:p>
                      <a:pPr algn="l"/>
                      <a:r>
                        <a:rPr lang="en-IN" sz="900">
                          <a:solidFill>
                            <a:srgbClr val="2D3648"/>
                          </a:solidFill>
                          <a:latin typeface="Segoe UI"/>
                          <a:cs typeface="Segoe UI"/>
                        </a:rPr>
                        <a:t>Prefect</a:t>
                      </a:r>
                    </a:p>
                  </a:txBody>
                  <a:tcPr anchor="ctr">
                    <a:solidFill>
                      <a:srgbClr val="EEF2F7"/>
                    </a:solidFill>
                  </a:tcPr>
                </a:tc>
                <a:tc>
                  <a:txBody>
                    <a:bodyPr/>
                    <a:lstStyle/>
                    <a:p>
                      <a:pPr algn="l"/>
                      <a:r>
                        <a:rPr lang="en-IN" sz="900">
                          <a:solidFill>
                            <a:srgbClr val="2D3648"/>
                          </a:solidFill>
                          <a:latin typeface="Segoe UI"/>
                          <a:cs typeface="Segoe UI"/>
                        </a:rPr>
                        <a:t>Task Orchestration</a:t>
                      </a:r>
                    </a:p>
                  </a:txBody>
                  <a:tcPr anchor="ctr">
                    <a:solidFill>
                      <a:srgbClr val="EEF2F7"/>
                    </a:solidFill>
                  </a:tcPr>
                </a:tc>
                <a:extLst>
                  <a:ext uri="{0D108BD9-81ED-4DB2-BD59-A6C34878D82A}">
                    <a16:rowId xmlns:a16="http://schemas.microsoft.com/office/drawing/2014/main" val="925739206"/>
                  </a:ext>
                </a:extLst>
              </a:tr>
            </a:tbl>
          </a:graphicData>
        </a:graphic>
      </p:graphicFrame>
    </p:spTree>
    <p:extLst>
      <p:ext uri="{BB962C8B-B14F-4D97-AF65-F5344CB8AC3E}">
        <p14:creationId xmlns:p14="http://schemas.microsoft.com/office/powerpoint/2010/main" val="275350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800" name="T"/>
          <p:cNvSpPr txBox="1"/>
          <p:nvPr/>
        </p:nvSpPr>
        <p:spPr>
          <a:xfrm>
            <a:off x="457200" y="355600"/>
            <a:ext cx="6985000" cy="457200"/>
          </a:xfrm>
          <a:prstGeom prst="rect">
            <a:avLst/>
          </a:prstGeom>
          <a:noFill/>
          <a:ln>
            <a:noFill/>
          </a:ln>
        </p:spPr>
        <p:txBody>
          <a:bodyPr wrap="square" lIns="0" tIns="0" rIns="0" bIns="0" anchor="b"/>
          <a:lstStyle/>
          <a:p>
            <a:pPr algn="l">
              <a:buNone/>
            </a:pPr>
            <a:r>
              <a:rPr lang="en-US" sz="2400" b="1" dirty="0">
                <a:solidFill>
                  <a:srgbClr val="0D1B3E"/>
                </a:solidFill>
                <a:latin typeface="Segoe UI Semibold"/>
              </a:rPr>
              <a:t>Security &amp; Governance</a:t>
            </a:r>
          </a:p>
        </p:txBody>
      </p:sp>
      <p:sp>
        <p:nvSpPr>
          <p:cNvPr id="801" name="ST"/>
          <p:cNvSpPr txBox="1"/>
          <p:nvPr/>
        </p:nvSpPr>
        <p:spPr>
          <a:xfrm>
            <a:off x="457200" y="838200"/>
            <a:ext cx="6985000" cy="254000"/>
          </a:xfrm>
          <a:prstGeom prst="rect">
            <a:avLst/>
          </a:prstGeom>
          <a:noFill/>
          <a:ln>
            <a:noFill/>
          </a:ln>
        </p:spPr>
        <p:txBody>
          <a:bodyPr wrap="square" lIns="0" tIns="0" rIns="0" bIns="0" anchor="t"/>
          <a:lstStyle/>
          <a:p>
            <a:pPr algn="l">
              <a:buNone/>
            </a:pPr>
            <a:r>
              <a:rPr lang="en-US" sz="1400" b="1" dirty="0">
                <a:solidFill>
                  <a:srgbClr val="5A6577"/>
                </a:solidFill>
                <a:latin typeface="Segoe UI"/>
              </a:rPr>
              <a:t>Quality control gate across all outbound actions</a:t>
            </a:r>
          </a:p>
        </p:txBody>
      </p:sp>
      <p:cxnSp>
        <p:nvCxnSpPr>
          <p:cNvPr id="802" name="Sep"/>
          <p:cNvCxnSpPr/>
          <p:nvPr/>
        </p:nvCxnSpPr>
        <p:spPr>
          <a:xfrm>
            <a:off x="457200" y="1143000"/>
            <a:ext cx="9448800" cy="0"/>
          </a:xfrm>
          <a:prstGeom prst="line">
            <a:avLst/>
          </a:prstGeom>
          <a:ln w="12700">
            <a:solidFill>
              <a:srgbClr val="D0D8E8"/>
            </a:solidFill>
          </a:ln>
        </p:spPr>
      </p:cxnSp>
      <p:sp>
        <p:nvSpPr>
          <p:cNvPr id="803" name="OH"/>
          <p:cNvSpPr txBox="1"/>
          <p:nvPr/>
        </p:nvSpPr>
        <p:spPr>
          <a:xfrm>
            <a:off x="558800" y="1270000"/>
            <a:ext cx="1905000" cy="254000"/>
          </a:xfrm>
          <a:prstGeom prst="rect">
            <a:avLst/>
          </a:prstGeom>
          <a:noFill/>
          <a:ln>
            <a:noFill/>
          </a:ln>
        </p:spPr>
        <p:txBody>
          <a:bodyPr wrap="square" lIns="0" tIns="0" rIns="0" bIns="0" anchor="t"/>
          <a:lstStyle/>
          <a:p>
            <a:pPr algn="l">
              <a:buNone/>
            </a:pPr>
            <a:r>
              <a:rPr lang="en-US" sz="1400" b="1" dirty="0">
                <a:solidFill>
                  <a:srgbClr val="1257A8"/>
                </a:solidFill>
                <a:latin typeface="Segoe UI Semibold"/>
              </a:rPr>
              <a:t>Overview</a:t>
            </a:r>
          </a:p>
        </p:txBody>
      </p:sp>
      <p:sp>
        <p:nvSpPr>
          <p:cNvPr id="804" name="OT"/>
          <p:cNvSpPr txBox="1"/>
          <p:nvPr/>
        </p:nvSpPr>
        <p:spPr>
          <a:xfrm>
            <a:off x="558800" y="1574800"/>
            <a:ext cx="4622800" cy="1651000"/>
          </a:xfrm>
          <a:prstGeom prst="rect">
            <a:avLst/>
          </a:prstGeom>
          <a:noFill/>
          <a:ln>
            <a:noFill/>
          </a:ln>
        </p:spPr>
        <p:txBody>
          <a:bodyPr wrap="square" lIns="0" tIns="0" rIns="0" bIns="0" anchor="t"/>
          <a:lstStyle/>
          <a:p>
            <a:pPr algn="l">
              <a:lnSpc>
                <a:spcPts val="1700"/>
              </a:lnSpc>
              <a:buNone/>
            </a:pPr>
            <a:r>
              <a:rPr lang="en-US" sz="1200" dirty="0">
                <a:solidFill>
                  <a:srgbClr val="444D5C"/>
                </a:solidFill>
                <a:latin typeface="Segoe UI"/>
              </a:rPr>
              <a:t>This layer cuts across everything else. It's not a single box in the architecture — it's a set of checks that run before any external action happens. The main component is the Quality &amp; Governance Gate, and it's mostly rule-based with selective LLM spot-checks for content accuracy. Every outbound email passes through this gate. It returns one of three verdicts: pass (auto-send), fail (blocked), or review-required (routed to the human review queue).</a:t>
            </a:r>
          </a:p>
        </p:txBody>
      </p:sp>
      <p:sp>
        <p:nvSpPr>
          <p:cNvPr id="805" name="KH"/>
          <p:cNvSpPr txBox="1"/>
          <p:nvPr/>
        </p:nvSpPr>
        <p:spPr>
          <a:xfrm>
            <a:off x="558800" y="3403600"/>
            <a:ext cx="2540000" cy="254000"/>
          </a:xfrm>
          <a:prstGeom prst="rect">
            <a:avLst/>
          </a:prstGeom>
          <a:noFill/>
          <a:ln>
            <a:noFill/>
          </a:ln>
        </p:spPr>
        <p:txBody>
          <a:bodyPr wrap="square" lIns="0" tIns="0" rIns="0" bIns="0" anchor="t"/>
          <a:lstStyle/>
          <a:p>
            <a:pPr algn="l">
              <a:buNone/>
            </a:pPr>
            <a:r>
              <a:rPr lang="en-US" sz="1400" b="1" dirty="0">
                <a:solidFill>
                  <a:srgbClr val="1257A8"/>
                </a:solidFill>
                <a:latin typeface="Segoe UI Semibold"/>
              </a:rPr>
              <a:t>Key Components</a:t>
            </a:r>
          </a:p>
        </p:txBody>
      </p:sp>
      <p:sp>
        <p:nvSpPr>
          <p:cNvPr id="806" name="KT"/>
          <p:cNvSpPr txBox="1"/>
          <p:nvPr/>
        </p:nvSpPr>
        <p:spPr>
          <a:xfrm>
            <a:off x="558800" y="3708400"/>
            <a:ext cx="4622800" cy="1778000"/>
          </a:xfrm>
          <a:prstGeom prst="rect">
            <a:avLst/>
          </a:prstGeom>
          <a:noFill/>
          <a:ln>
            <a:noFill/>
          </a:ln>
        </p:spPr>
        <p:txBody>
          <a:bodyPr wrap="square" lIns="0" tIns="0" rIns="0" bIns="0" anchor="t"/>
          <a:lstStyle/>
          <a:p>
            <a:pPr marL="171450" indent="-171450" algn="l">
              <a:lnSpc>
                <a:spcPts val="1800"/>
              </a:lnSpc>
              <a:spcAft>
                <a:spcPts val="100"/>
              </a:spcAft>
              <a:buFont typeface="Arial"/>
              <a:buChar char="•"/>
            </a:pPr>
            <a:r>
              <a:rPr lang="en-US" sz="1200" b="1" dirty="0">
                <a:solidFill>
                  <a:srgbClr val="0D1B3E"/>
                </a:solidFill>
                <a:latin typeface="Segoe UI Semibold"/>
              </a:rPr>
              <a:t>Ticket Number Validation</a:t>
            </a:r>
            <a:r>
              <a:rPr lang="en-US" sz="1200" dirty="0">
                <a:solidFill>
                  <a:srgbClr val="444D5C"/>
                </a:solidFill>
                <a:latin typeface="Segoe UI"/>
              </a:rPr>
              <a:t> – Does the ticket # match?</a:t>
            </a:r>
          </a:p>
          <a:p>
            <a:pPr marL="171450" indent="-171450" algn="l">
              <a:lnSpc>
                <a:spcPts val="1800"/>
              </a:lnSpc>
              <a:spcAft>
                <a:spcPts val="100"/>
              </a:spcAft>
              <a:buFont typeface="Arial"/>
              <a:buChar char="•"/>
            </a:pPr>
            <a:r>
              <a:rPr lang="en-US" sz="1200" b="1" dirty="0">
                <a:solidFill>
                  <a:srgbClr val="0D1B3E"/>
                </a:solidFill>
                <a:latin typeface="Segoe UI Semibold"/>
              </a:rPr>
              <a:t>SLA Wording Accuracy</a:t>
            </a:r>
            <a:r>
              <a:rPr lang="en-US" sz="1200" dirty="0">
                <a:solidFill>
                  <a:srgbClr val="444D5C"/>
                </a:solidFill>
                <a:latin typeface="Segoe UI"/>
              </a:rPr>
              <a:t> – Are timelines correct?</a:t>
            </a:r>
          </a:p>
          <a:p>
            <a:pPr marL="171450" indent="-171450" algn="l">
              <a:lnSpc>
                <a:spcPts val="1800"/>
              </a:lnSpc>
              <a:spcAft>
                <a:spcPts val="100"/>
              </a:spcAft>
              <a:buFont typeface="Arial"/>
              <a:buChar char="•"/>
            </a:pPr>
            <a:r>
              <a:rPr lang="en-US" sz="1200" b="1" dirty="0">
                <a:solidFill>
                  <a:srgbClr val="0D1B3E"/>
                </a:solidFill>
                <a:latin typeface="Segoe UI Semibold"/>
              </a:rPr>
              <a:t>Template Compliance</a:t>
            </a:r>
            <a:r>
              <a:rPr lang="en-US" sz="1200" dirty="0">
                <a:solidFill>
                  <a:srgbClr val="444D5C"/>
                </a:solidFill>
                <a:latin typeface="Segoe UI"/>
              </a:rPr>
              <a:t> – Approved email format enforced</a:t>
            </a:r>
          </a:p>
          <a:p>
            <a:pPr marL="171450" indent="-171450" algn="l">
              <a:lnSpc>
                <a:spcPts val="1800"/>
              </a:lnSpc>
              <a:spcAft>
                <a:spcPts val="100"/>
              </a:spcAft>
              <a:buFont typeface="Arial"/>
              <a:buChar char="•"/>
            </a:pPr>
            <a:r>
              <a:rPr lang="en-US" sz="1200" b="1" dirty="0">
                <a:solidFill>
                  <a:srgbClr val="0D1B3E"/>
                </a:solidFill>
                <a:latin typeface="Segoe UI Semibold"/>
              </a:rPr>
              <a:t>PII Detection</a:t>
            </a:r>
            <a:r>
              <a:rPr lang="en-US" sz="1200" dirty="0">
                <a:solidFill>
                  <a:srgbClr val="444D5C"/>
                </a:solidFill>
                <a:latin typeface="Segoe UI"/>
              </a:rPr>
              <a:t> – Block sensitive data leakage</a:t>
            </a:r>
          </a:p>
          <a:p>
            <a:pPr marL="171450" indent="-171450" algn="l">
              <a:lnSpc>
                <a:spcPts val="1800"/>
              </a:lnSpc>
              <a:buFont typeface="Arial"/>
              <a:buChar char="•"/>
            </a:pPr>
            <a:r>
              <a:rPr lang="en-US" sz="1200" b="1" dirty="0">
                <a:solidFill>
                  <a:srgbClr val="0D1B3E"/>
                </a:solidFill>
                <a:latin typeface="Segoe UI Semibold"/>
              </a:rPr>
              <a:t>Governance Policy</a:t>
            </a:r>
            <a:r>
              <a:rPr lang="en-US" sz="1200" dirty="0">
                <a:solidFill>
                  <a:srgbClr val="444D5C"/>
                </a:solidFill>
                <a:latin typeface="Segoe UI"/>
              </a:rPr>
              <a:t> – Auto-send vs. human review decisions</a:t>
            </a:r>
          </a:p>
        </p:txBody>
      </p:sp>
      <p:sp>
        <p:nvSpPr>
          <p:cNvPr id="851" name="LISh"/>
          <p:cNvSpPr/>
          <p:nvPr/>
        </p:nvSpPr>
        <p:spPr>
          <a:xfrm>
            <a:off x="5511800" y="3048000"/>
            <a:ext cx="4419600" cy="1778000"/>
          </a:xfrm>
          <a:prstGeom prst="roundRect">
            <a:avLst>
              <a:gd name="adj" fmla="val 5000"/>
            </a:avLst>
          </a:prstGeom>
          <a:solidFill>
            <a:srgbClr val="E0E4EC">
              <a:alpha val="50000"/>
            </a:srgbClr>
          </a:solidFill>
          <a:ln>
            <a:noFill/>
          </a:ln>
        </p:spPr>
        <p:txBody>
          <a:bodyPr/>
          <a:lstStyle/>
          <a:p>
            <a:endParaRPr lang="en-US"/>
          </a:p>
        </p:txBody>
      </p:sp>
      <p:sp>
        <p:nvSpPr>
          <p:cNvPr id="810" name="LIBx"/>
          <p:cNvSpPr/>
          <p:nvPr/>
        </p:nvSpPr>
        <p:spPr>
          <a:xfrm>
            <a:off x="5486400" y="3022600"/>
            <a:ext cx="4419600" cy="1778000"/>
          </a:xfrm>
          <a:prstGeom prst="roundRect">
            <a:avLst>
              <a:gd name="adj" fmla="val 5000"/>
            </a:avLst>
          </a:prstGeom>
          <a:solidFill>
            <a:srgbClr val="FFFFFF"/>
          </a:solidFill>
          <a:ln w="9525">
            <a:solidFill>
              <a:srgbClr val="D8DDE6"/>
            </a:solidFill>
          </a:ln>
        </p:spPr>
        <p:txBody>
          <a:bodyPr/>
          <a:lstStyle/>
          <a:p>
            <a:endParaRPr lang="en-US"/>
          </a:p>
        </p:txBody>
      </p:sp>
      <p:sp>
        <p:nvSpPr>
          <p:cNvPr id="811" name="LIHd"/>
          <p:cNvSpPr/>
          <p:nvPr/>
        </p:nvSpPr>
        <p:spPr>
          <a:xfrm>
            <a:off x="5486400" y="3022600"/>
            <a:ext cx="4419600" cy="355600"/>
          </a:xfrm>
          <a:prstGeom prst="roundRect">
            <a:avLst>
              <a:gd name="adj" fmla="val 5000"/>
            </a:avLst>
          </a:prstGeom>
          <a:solidFill>
            <a:srgbClr val="1565C0"/>
          </a:solidFill>
          <a:ln w="0">
            <a:noFill/>
          </a:ln>
        </p:spPr>
        <p:txBody>
          <a:bodyPr wrap="square" lIns="127000" tIns="0" rIns="127000" bIns="0" anchor="ctr"/>
          <a:lstStyle/>
          <a:p>
            <a:pPr algn="ctr">
              <a:buNone/>
            </a:pPr>
            <a:r>
              <a:rPr lang="en-US" sz="1200" b="1" dirty="0">
                <a:solidFill>
                  <a:srgbClr val="FFFFFF"/>
                </a:solidFill>
                <a:latin typeface="Segoe UI Semibold"/>
              </a:rPr>
              <a:t>Layer Interactions</a:t>
            </a:r>
          </a:p>
        </p:txBody>
      </p:sp>
      <p:sp>
        <p:nvSpPr>
          <p:cNvPr id="812" name="LITx"/>
          <p:cNvSpPr txBox="1"/>
          <p:nvPr/>
        </p:nvSpPr>
        <p:spPr>
          <a:xfrm>
            <a:off x="5638800" y="3454400"/>
            <a:ext cx="4114800" cy="1270000"/>
          </a:xfrm>
          <a:prstGeom prst="rect">
            <a:avLst/>
          </a:prstGeom>
          <a:noFill/>
          <a:ln>
            <a:noFill/>
          </a:ln>
        </p:spPr>
        <p:txBody>
          <a:bodyPr wrap="square" lIns="0" tIns="0" rIns="0" bIns="0" anchor="t"/>
          <a:lstStyle/>
          <a:p>
            <a:pPr marL="114300" indent="-114300" algn="l">
              <a:lnSpc>
                <a:spcPts val="1800"/>
              </a:lnSpc>
              <a:spcAft>
                <a:spcPts val="50"/>
              </a:spcAft>
              <a:buFont typeface="Arial"/>
              <a:buChar char="▸"/>
            </a:pPr>
            <a:r>
              <a:rPr lang="en-US" sz="1200" dirty="0">
                <a:solidFill>
                  <a:srgbClr val="2D3648"/>
                </a:solidFill>
                <a:latin typeface="Segoe UI"/>
              </a:rPr>
              <a:t>Sits between Drafting Agent (L5) and outside world</a:t>
            </a:r>
          </a:p>
          <a:p>
            <a:pPr marL="114300" indent="-114300" algn="l">
              <a:lnSpc>
                <a:spcPts val="1800"/>
              </a:lnSpc>
              <a:spcAft>
                <a:spcPts val="50"/>
              </a:spcAft>
              <a:buFont typeface="Arial"/>
              <a:buChar char="▸"/>
            </a:pPr>
            <a:r>
              <a:rPr lang="en-US" sz="1200" dirty="0">
                <a:solidFill>
                  <a:srgbClr val="2D3648"/>
                </a:solidFill>
                <a:latin typeface="Segoe UI"/>
              </a:rPr>
              <a:t>Every outbound email passes through this gate</a:t>
            </a:r>
          </a:p>
          <a:p>
            <a:pPr marL="114300" indent="-114300" algn="l">
              <a:lnSpc>
                <a:spcPts val="1800"/>
              </a:lnSpc>
              <a:spcAft>
                <a:spcPts val="50"/>
              </a:spcAft>
              <a:buFont typeface="Arial"/>
              <a:buChar char="▸"/>
            </a:pPr>
            <a:r>
              <a:rPr lang="en-US" sz="1200" dirty="0">
                <a:solidFill>
                  <a:srgbClr val="2D3648"/>
                </a:solidFill>
                <a:latin typeface="Segoe UI"/>
              </a:rPr>
              <a:t>Returns: pass / fail / review-required</a:t>
            </a:r>
          </a:p>
          <a:p>
            <a:pPr marL="114300" indent="-114300" algn="l">
              <a:lnSpc>
                <a:spcPts val="1800"/>
              </a:lnSpc>
              <a:buFont typeface="Arial"/>
              <a:buChar char="▸"/>
            </a:pPr>
            <a:r>
              <a:rPr lang="en-US" sz="1200" dirty="0">
                <a:solidFill>
                  <a:srgbClr val="2D3648"/>
                </a:solidFill>
                <a:latin typeface="Segoe UI"/>
              </a:rPr>
              <a:t>IAM, RBAC, encryption, audit touch every layer</a:t>
            </a:r>
          </a:p>
        </p:txBody>
      </p:sp>
      <p:sp>
        <p:nvSpPr>
          <p:cNvPr id="813" name="FH"/>
          <p:cNvSpPr txBox="1"/>
          <p:nvPr/>
        </p:nvSpPr>
        <p:spPr>
          <a:xfrm>
            <a:off x="10109200" y="1270000"/>
            <a:ext cx="1778000" cy="279400"/>
          </a:xfrm>
          <a:prstGeom prst="rect">
            <a:avLst/>
          </a:prstGeom>
          <a:noFill/>
          <a:ln>
            <a:noFill/>
          </a:ln>
        </p:spPr>
        <p:txBody>
          <a:bodyPr wrap="square" lIns="0" tIns="0" rIns="0" bIns="0" anchor="t"/>
          <a:lstStyle/>
          <a:p>
            <a:pPr algn="ctr">
              <a:buNone/>
            </a:pPr>
            <a:r>
              <a:rPr lang="en-US" sz="1100" b="1" dirty="0">
                <a:solidFill>
                  <a:srgbClr val="5A6577"/>
                </a:solidFill>
                <a:latin typeface="Segoe UI"/>
              </a:rPr>
              <a:t>Architecture Flow</a:t>
            </a:r>
          </a:p>
        </p:txBody>
      </p:sp>
      <p:sp>
        <p:nvSpPr>
          <p:cNvPr id="814" name="F0"/>
          <p:cNvSpPr/>
          <p:nvPr/>
        </p:nvSpPr>
        <p:spPr>
          <a:xfrm>
            <a:off x="10109200" y="162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Presentation</a:t>
            </a:r>
          </a:p>
        </p:txBody>
      </p:sp>
      <p:sp>
        <p:nvSpPr>
          <p:cNvPr id="815" name="F1"/>
          <p:cNvSpPr/>
          <p:nvPr/>
        </p:nvSpPr>
        <p:spPr>
          <a:xfrm>
            <a:off x="10109200" y="213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API Gateway &amp; Auth</a:t>
            </a:r>
          </a:p>
        </p:txBody>
      </p:sp>
      <p:sp>
        <p:nvSpPr>
          <p:cNvPr id="816" name="F2"/>
          <p:cNvSpPr/>
          <p:nvPr/>
        </p:nvSpPr>
        <p:spPr>
          <a:xfrm>
            <a:off x="10109200" y="2641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Orchestration</a:t>
            </a:r>
          </a:p>
        </p:txBody>
      </p:sp>
      <p:sp>
        <p:nvSpPr>
          <p:cNvPr id="817" name="F3"/>
          <p:cNvSpPr/>
          <p:nvPr/>
        </p:nvSpPr>
        <p:spPr>
          <a:xfrm>
            <a:off x="10109200" y="3149600"/>
            <a:ext cx="1727200" cy="406400"/>
          </a:xfrm>
          <a:prstGeom prst="roundRect">
            <a:avLst>
              <a:gd name="adj" fmla="val 10000"/>
            </a:avLst>
          </a:prstGeom>
          <a:solidFill>
            <a:srgbClr val="1565C0"/>
          </a:solidFill>
          <a:ln w="9525">
            <a:solidFill>
              <a:srgbClr val="1565C0"/>
            </a:solidFill>
          </a:ln>
        </p:spPr>
        <p:txBody>
          <a:bodyPr wrap="square" lIns="101600" tIns="0" rIns="101600" bIns="0" anchor="ctr"/>
          <a:lstStyle/>
          <a:p>
            <a:pPr algn="ctr">
              <a:buNone/>
            </a:pPr>
            <a:r>
              <a:rPr lang="en-US" sz="1000" b="1" dirty="0">
                <a:solidFill>
                  <a:srgbClr val="FFFFFF"/>
                </a:solidFill>
                <a:latin typeface="Segoe UI Semibold"/>
              </a:rPr>
              <a:t>▶ Security &amp; Gov.</a:t>
            </a:r>
          </a:p>
        </p:txBody>
      </p:sp>
      <p:sp>
        <p:nvSpPr>
          <p:cNvPr id="818" name="F4"/>
          <p:cNvSpPr/>
          <p:nvPr/>
        </p:nvSpPr>
        <p:spPr>
          <a:xfrm>
            <a:off x="10109200" y="3657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Agent Services</a:t>
            </a:r>
          </a:p>
        </p:txBody>
      </p:sp>
      <p:sp>
        <p:nvSpPr>
          <p:cNvPr id="819" name="F5"/>
          <p:cNvSpPr/>
          <p:nvPr/>
        </p:nvSpPr>
        <p:spPr>
          <a:xfrm>
            <a:off x="10109200" y="4165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Integration</a:t>
            </a:r>
          </a:p>
        </p:txBody>
      </p:sp>
      <p:sp>
        <p:nvSpPr>
          <p:cNvPr id="820" name="F6"/>
          <p:cNvSpPr/>
          <p:nvPr/>
        </p:nvSpPr>
        <p:spPr>
          <a:xfrm>
            <a:off x="10109200" y="4673600"/>
            <a:ext cx="1727200" cy="406400"/>
          </a:xfrm>
          <a:prstGeom prst="roundRect">
            <a:avLst>
              <a:gd name="adj" fmla="val 10000"/>
            </a:avLst>
          </a:prstGeom>
          <a:solidFill>
            <a:srgbClr val="FFFFFF"/>
          </a:solidFill>
          <a:ln w="9525">
            <a:solidFill>
              <a:srgbClr val="D8DDE6"/>
            </a:solidFill>
          </a:ln>
        </p:spPr>
        <p:txBody>
          <a:bodyPr wrap="square" lIns="101600" tIns="0" rIns="101600" bIns="0" anchor="ctr"/>
          <a:lstStyle/>
          <a:p>
            <a:pPr algn="ctr">
              <a:buNone/>
            </a:pPr>
            <a:r>
              <a:rPr lang="en-US" sz="1000" dirty="0">
                <a:solidFill>
                  <a:srgbClr val="888888"/>
                </a:solidFill>
                <a:latin typeface="Segoe UI"/>
              </a:rPr>
              <a:t>Data &amp; Storage</a:t>
            </a:r>
          </a:p>
        </p:txBody>
      </p:sp>
      <p:sp>
        <p:nvSpPr>
          <p:cNvPr id="821" name="Pill"/>
          <p:cNvSpPr/>
          <p:nvPr/>
        </p:nvSpPr>
        <p:spPr>
          <a:xfrm>
            <a:off x="10490200" y="355600"/>
            <a:ext cx="1016000" cy="355600"/>
          </a:xfrm>
          <a:prstGeom prst="roundRect">
            <a:avLst>
              <a:gd name="adj" fmla="val 16667"/>
            </a:avLst>
          </a:prstGeom>
          <a:solidFill>
            <a:srgbClr val="1565C0"/>
          </a:solidFill>
          <a:ln w="0">
            <a:noFill/>
          </a:ln>
        </p:spPr>
        <p:txBody>
          <a:bodyPr wrap="none" lIns="0" tIns="0" rIns="0" bIns="0" anchor="ctr" anchorCtr="1"/>
          <a:lstStyle/>
          <a:p>
            <a:pPr algn="ctr">
              <a:buNone/>
            </a:pPr>
            <a:r>
              <a:rPr lang="en-US" sz="1100" b="1" dirty="0">
                <a:solidFill>
                  <a:srgbClr val="FFFFFF"/>
                </a:solidFill>
                <a:latin typeface="Segoe UI Semibold"/>
              </a:rPr>
              <a:t>Layer 4</a:t>
            </a:r>
          </a:p>
        </p:txBody>
      </p:sp>
      <p:sp>
        <p:nvSpPr>
          <p:cNvPr id="822" name="Ftr"/>
          <p:cNvSpPr txBox="1"/>
          <p:nvPr/>
        </p:nvSpPr>
        <p:spPr>
          <a:xfrm>
            <a:off x="457200" y="6451600"/>
            <a:ext cx="5080000" cy="203200"/>
          </a:xfrm>
          <a:prstGeom prst="rect">
            <a:avLst/>
          </a:prstGeom>
          <a:noFill/>
          <a:ln>
            <a:noFill/>
          </a:ln>
        </p:spPr>
        <p:txBody>
          <a:bodyPr wrap="square" lIns="0" tIns="0" rIns="0" bIns="0" anchor="b"/>
          <a:lstStyle/>
          <a:p>
            <a:pPr algn="l">
              <a:buNone/>
            </a:pPr>
            <a:r>
              <a:rPr lang="en-US" sz="800" dirty="0">
                <a:solidFill>
                  <a:srgbClr val="9BA4B0"/>
                </a:solidFill>
                <a:latin typeface="Segoe UI"/>
              </a:rPr>
              <a:t>VQMS Architecture | Confidential</a:t>
            </a:r>
          </a:p>
        </p:txBody>
      </p:sp>
      <p:sp>
        <p:nvSpPr>
          <p:cNvPr id="852" name="OvA"/>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853" name="KCA"/>
          <p:cNvSpPr/>
          <p:nvPr/>
        </p:nvSpPr>
        <p:spPr>
          <a:xfrm>
            <a:off x="457200" y="3429000"/>
            <a:ext cx="50800" cy="203200"/>
          </a:xfrm>
          <a:prstGeom prst="roundRect">
            <a:avLst>
              <a:gd name="adj" fmla="val 16667"/>
            </a:avLst>
          </a:prstGeom>
          <a:solidFill>
            <a:srgbClr val="1565C0"/>
          </a:solidFill>
          <a:ln>
            <a:noFill/>
          </a:ln>
        </p:spPr>
        <p:txBody>
          <a:bodyPr/>
          <a:lstStyle/>
          <a:p>
            <a:endParaRPr lang="en-US"/>
          </a:p>
        </p:txBody>
      </p:sp>
      <p:sp>
        <p:nvSpPr>
          <p:cNvPr id="6" name="Rectangle: Rounded Corners 5">
            <a:extLst>
              <a:ext uri="{FF2B5EF4-FFF2-40B4-BE49-F238E27FC236}">
                <a16:creationId xmlns:a16="http://schemas.microsoft.com/office/drawing/2014/main" id="{22994748-6E55-4244-BE7E-67DA4BC4BFD6}"/>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7" name="TextBox 6">
            <a:extLst>
              <a:ext uri="{FF2B5EF4-FFF2-40B4-BE49-F238E27FC236}">
                <a16:creationId xmlns:a16="http://schemas.microsoft.com/office/drawing/2014/main" id="{4E035B30-0A60-4E09-9897-7C303F65A91D}"/>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graphicFrame>
        <p:nvGraphicFramePr>
          <p:cNvPr id="9" name="Table 8">
            <a:extLst>
              <a:ext uri="{FF2B5EF4-FFF2-40B4-BE49-F238E27FC236}">
                <a16:creationId xmlns:a16="http://schemas.microsoft.com/office/drawing/2014/main" id="{B7EC390D-3C86-435F-BAC2-72645E48B305}"/>
              </a:ext>
            </a:extLst>
          </p:cNvPr>
          <p:cNvGraphicFramePr>
            <a:graphicFrameLocks noGrp="1"/>
          </p:cNvGraphicFramePr>
          <p:nvPr>
            <p:extLst>
              <p:ext uri="{D42A27DB-BD31-4B8C-83A1-F6EECF244321}">
                <p14:modId xmlns:p14="http://schemas.microsoft.com/office/powerpoint/2010/main" val="1378740308"/>
              </p:ext>
            </p:extLst>
          </p:nvPr>
        </p:nvGraphicFramePr>
        <p:xfrm>
          <a:off x="5486400" y="1600200"/>
          <a:ext cx="4419600" cy="1295400"/>
        </p:xfrm>
        <a:graphic>
          <a:graphicData uri="http://schemas.openxmlformats.org/drawingml/2006/table">
            <a:tbl>
              <a:tblPr firstRow="1" bandRow="1">
                <a:tableStyleId>{5C22544A-7EE6-4342-B048-85BDC9FD1C3A}</a:tableStyleId>
              </a:tblPr>
              <a:tblGrid>
                <a:gridCol w="1414272">
                  <a:extLst>
                    <a:ext uri="{9D8B030D-6E8A-4147-A177-3AD203B41FA5}">
                      <a16:colId xmlns:a16="http://schemas.microsoft.com/office/drawing/2014/main" val="1823620633"/>
                    </a:ext>
                  </a:extLst>
                </a:gridCol>
                <a:gridCol w="1546860">
                  <a:extLst>
                    <a:ext uri="{9D8B030D-6E8A-4147-A177-3AD203B41FA5}">
                      <a16:colId xmlns:a16="http://schemas.microsoft.com/office/drawing/2014/main" val="2269919100"/>
                    </a:ext>
                  </a:extLst>
                </a:gridCol>
                <a:gridCol w="1458468">
                  <a:extLst>
                    <a:ext uri="{9D8B030D-6E8A-4147-A177-3AD203B41FA5}">
                      <a16:colId xmlns:a16="http://schemas.microsoft.com/office/drawing/2014/main" val="3241371459"/>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A3F6F"/>
                    </a:solidFill>
                  </a:tcPr>
                </a:tc>
                <a:tc>
                  <a:txBody>
                    <a:bodyPr/>
                    <a:lstStyle/>
                    <a:p>
                      <a:pPr algn="ctr"/>
                      <a:r>
                        <a:rPr lang="en-IN" sz="1000" b="1">
                          <a:solidFill>
                            <a:srgbClr val="FFFFFF"/>
                          </a:solidFill>
                          <a:latin typeface="Segoe UI Semibold"/>
                          <a:cs typeface="Segoe UI Semibold"/>
                        </a:rPr>
                        <a:t>Open Source</a:t>
                      </a:r>
                    </a:p>
                  </a:txBody>
                  <a:tcPr anchor="ctr">
                    <a:solidFill>
                      <a:srgbClr val="1A3F6F"/>
                    </a:solidFill>
                  </a:tcPr>
                </a:tc>
                <a:tc>
                  <a:txBody>
                    <a:bodyPr/>
                    <a:lstStyle/>
                    <a:p>
                      <a:pPr algn="ctr"/>
                      <a:r>
                        <a:rPr lang="en-IN" sz="1000" b="1">
                          <a:solidFill>
                            <a:srgbClr val="FFFFFF"/>
                          </a:solidFill>
                          <a:latin typeface="Segoe UI Semibold"/>
                          <a:cs typeface="Segoe UI Semibold"/>
                        </a:rPr>
                        <a:t>Purpose</a:t>
                      </a:r>
                    </a:p>
                  </a:txBody>
                  <a:tcPr anchor="ctr">
                    <a:solidFill>
                      <a:srgbClr val="1A3F6F"/>
                    </a:solidFill>
                  </a:tcPr>
                </a:tc>
                <a:extLst>
                  <a:ext uri="{0D108BD9-81ED-4DB2-BD59-A6C34878D82A}">
                    <a16:rowId xmlns:a16="http://schemas.microsoft.com/office/drawing/2014/main" val="1568238574"/>
                  </a:ext>
                </a:extLst>
              </a:tr>
              <a:tr h="330200">
                <a:tc>
                  <a:txBody>
                    <a:bodyPr/>
                    <a:lstStyle/>
                    <a:p>
                      <a:pPr algn="l"/>
                      <a:r>
                        <a:rPr lang="en-IN" sz="900">
                          <a:solidFill>
                            <a:srgbClr val="2D3648"/>
                          </a:solidFill>
                          <a:latin typeface="Segoe UI"/>
                          <a:cs typeface="Segoe UI"/>
                        </a:rPr>
                        <a:t>Comprehend</a:t>
                      </a:r>
                    </a:p>
                  </a:txBody>
                  <a:tcPr anchor="ctr">
                    <a:solidFill>
                      <a:srgbClr val="EEF2F7"/>
                    </a:solidFill>
                  </a:tcPr>
                </a:tc>
                <a:tc>
                  <a:txBody>
                    <a:bodyPr/>
                    <a:lstStyle/>
                    <a:p>
                      <a:pPr algn="l"/>
                      <a:r>
                        <a:rPr lang="en-IN" sz="900">
                          <a:solidFill>
                            <a:srgbClr val="2D3648"/>
                          </a:solidFill>
                          <a:latin typeface="Segoe UI"/>
                          <a:cs typeface="Segoe UI"/>
                        </a:rPr>
                        <a:t>Presidio</a:t>
                      </a:r>
                    </a:p>
                  </a:txBody>
                  <a:tcPr anchor="ctr">
                    <a:solidFill>
                      <a:srgbClr val="EEF2F7"/>
                    </a:solidFill>
                  </a:tcPr>
                </a:tc>
                <a:tc>
                  <a:txBody>
                    <a:bodyPr/>
                    <a:lstStyle/>
                    <a:p>
                      <a:pPr algn="l"/>
                      <a:r>
                        <a:rPr lang="en-IN" sz="900">
                          <a:solidFill>
                            <a:srgbClr val="2D3648"/>
                          </a:solidFill>
                          <a:latin typeface="Segoe UI"/>
                          <a:cs typeface="Segoe UI"/>
                        </a:rPr>
                        <a:t>PII Detection</a:t>
                      </a:r>
                    </a:p>
                  </a:txBody>
                  <a:tcPr anchor="ctr">
                    <a:solidFill>
                      <a:srgbClr val="EEF2F7"/>
                    </a:solidFill>
                  </a:tcPr>
                </a:tc>
                <a:extLst>
                  <a:ext uri="{0D108BD9-81ED-4DB2-BD59-A6C34878D82A}">
                    <a16:rowId xmlns:a16="http://schemas.microsoft.com/office/drawing/2014/main" val="2451828542"/>
                  </a:ext>
                </a:extLst>
              </a:tr>
              <a:tr h="330200">
                <a:tc>
                  <a:txBody>
                    <a:bodyPr/>
                    <a:lstStyle/>
                    <a:p>
                      <a:pPr algn="l"/>
                      <a:r>
                        <a:rPr lang="en-IN" sz="900">
                          <a:solidFill>
                            <a:srgbClr val="2D3648"/>
                          </a:solidFill>
                          <a:latin typeface="Segoe UI"/>
                          <a:cs typeface="Segoe UI"/>
                        </a:rPr>
                        <a:t>CloudWatch</a:t>
                      </a:r>
                    </a:p>
                  </a:txBody>
                  <a:tcPr anchor="ctr">
                    <a:solidFill>
                      <a:srgbClr val="FFFFFF"/>
                    </a:solidFill>
                  </a:tcPr>
                </a:tc>
                <a:tc>
                  <a:txBody>
                    <a:bodyPr/>
                    <a:lstStyle/>
                    <a:p>
                      <a:pPr algn="l"/>
                      <a:r>
                        <a:rPr lang="en-IN" sz="900">
                          <a:solidFill>
                            <a:srgbClr val="2D3648"/>
                          </a:solidFill>
                          <a:latin typeface="Segoe UI"/>
                          <a:cs typeface="Segoe UI"/>
                        </a:rPr>
                        <a:t>ELK Stack</a:t>
                      </a:r>
                    </a:p>
                  </a:txBody>
                  <a:tcPr anchor="ctr">
                    <a:solidFill>
                      <a:srgbClr val="FFFFFF"/>
                    </a:solidFill>
                  </a:tcPr>
                </a:tc>
                <a:tc>
                  <a:txBody>
                    <a:bodyPr/>
                    <a:lstStyle/>
                    <a:p>
                      <a:pPr algn="l"/>
                      <a:r>
                        <a:rPr lang="en-IN" sz="900">
                          <a:solidFill>
                            <a:srgbClr val="2D3648"/>
                          </a:solidFill>
                          <a:latin typeface="Segoe UI"/>
                          <a:cs typeface="Segoe UI"/>
                        </a:rPr>
                        <a:t>Audit Logging</a:t>
                      </a:r>
                    </a:p>
                  </a:txBody>
                  <a:tcPr anchor="ctr">
                    <a:solidFill>
                      <a:srgbClr val="FFFFFF"/>
                    </a:solidFill>
                  </a:tcPr>
                </a:tc>
                <a:extLst>
                  <a:ext uri="{0D108BD9-81ED-4DB2-BD59-A6C34878D82A}">
                    <a16:rowId xmlns:a16="http://schemas.microsoft.com/office/drawing/2014/main" val="2762411616"/>
                  </a:ext>
                </a:extLst>
              </a:tr>
              <a:tr h="330200">
                <a:tc>
                  <a:txBody>
                    <a:bodyPr/>
                    <a:lstStyle/>
                    <a:p>
                      <a:pPr algn="l"/>
                      <a:r>
                        <a:rPr lang="en-IN" sz="900">
                          <a:solidFill>
                            <a:srgbClr val="2D3648"/>
                          </a:solidFill>
                          <a:latin typeface="Segoe UI"/>
                          <a:cs typeface="Segoe UI"/>
                        </a:rPr>
                        <a:t>IAM / KMS</a:t>
                      </a:r>
                    </a:p>
                  </a:txBody>
                  <a:tcPr anchor="ctr">
                    <a:solidFill>
                      <a:srgbClr val="EEF2F7"/>
                    </a:solidFill>
                  </a:tcPr>
                </a:tc>
                <a:tc>
                  <a:txBody>
                    <a:bodyPr/>
                    <a:lstStyle/>
                    <a:p>
                      <a:pPr algn="l"/>
                      <a:r>
                        <a:rPr lang="en-IN" sz="900">
                          <a:solidFill>
                            <a:srgbClr val="2D3648"/>
                          </a:solidFill>
                          <a:latin typeface="Segoe UI"/>
                          <a:cs typeface="Segoe UI"/>
                        </a:rPr>
                        <a:t>OPA / Casbin</a:t>
                      </a:r>
                    </a:p>
                  </a:txBody>
                  <a:tcPr anchor="ctr">
                    <a:solidFill>
                      <a:srgbClr val="EEF2F7"/>
                    </a:solidFill>
                  </a:tcPr>
                </a:tc>
                <a:tc>
                  <a:txBody>
                    <a:bodyPr/>
                    <a:lstStyle/>
                    <a:p>
                      <a:pPr algn="l"/>
                      <a:r>
                        <a:rPr lang="en-IN" sz="900">
                          <a:solidFill>
                            <a:srgbClr val="2D3648"/>
                          </a:solidFill>
                          <a:latin typeface="Segoe UI"/>
                          <a:cs typeface="Segoe UI"/>
                        </a:rPr>
                        <a:t>Policy Enforcement</a:t>
                      </a:r>
                    </a:p>
                  </a:txBody>
                  <a:tcPr anchor="ctr">
                    <a:solidFill>
                      <a:srgbClr val="EEF2F7"/>
                    </a:solidFill>
                  </a:tcPr>
                </a:tc>
                <a:extLst>
                  <a:ext uri="{0D108BD9-81ED-4DB2-BD59-A6C34878D82A}">
                    <a16:rowId xmlns:a16="http://schemas.microsoft.com/office/drawing/2014/main" val="2179287138"/>
                  </a:ext>
                </a:extLst>
              </a:tr>
            </a:tbl>
          </a:graphicData>
        </a:graphic>
      </p:graphicFrame>
    </p:spTree>
    <p:extLst>
      <p:ext uri="{BB962C8B-B14F-4D97-AF65-F5344CB8AC3E}">
        <p14:creationId xmlns:p14="http://schemas.microsoft.com/office/powerpoint/2010/main" val="2523085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2" name="T">
            <a:extLst>
              <a:ext uri="{FF2B5EF4-FFF2-40B4-BE49-F238E27FC236}">
                <a16:creationId xmlns:a16="http://schemas.microsoft.com/office/drawing/2014/main" id="{3F1C5775-7F92-4B9E-920F-61469FB1CDA1}"/>
              </a:ext>
            </a:extLst>
          </p:cNvPr>
          <p:cNvSpPr txBox="1"/>
          <p:nvPr/>
        </p:nvSpPr>
        <p:spPr>
          <a:xfrm>
            <a:off x="457200" y="355600"/>
            <a:ext cx="6985000" cy="457200"/>
          </a:xfrm>
          <a:prstGeom prst="rect">
            <a:avLst/>
          </a:prstGeom>
          <a:noFill/>
          <a:ln>
            <a:noFill/>
          </a:ln>
        </p:spPr>
        <p:txBody>
          <a:bodyPr vertOverflow="overflow" vert="horz" wrap="square" rtlCol="0" anchor="t">
            <a:noAutofit/>
          </a:bodyPr>
          <a:lstStyle/>
          <a:p>
            <a:pPr algn="l"/>
            <a:r>
              <a:rPr lang="en-IN" sz="2400" b="1">
                <a:solidFill>
                  <a:srgbClr val="0D1B3E"/>
                </a:solidFill>
                <a:latin typeface="Segoe UI"/>
                <a:cs typeface="Segoe UI"/>
              </a:rPr>
              <a:t>Agent Services Layer</a:t>
            </a:r>
          </a:p>
        </p:txBody>
      </p:sp>
      <p:sp>
        <p:nvSpPr>
          <p:cNvPr id="3" name="ST">
            <a:extLst>
              <a:ext uri="{FF2B5EF4-FFF2-40B4-BE49-F238E27FC236}">
                <a16:creationId xmlns:a16="http://schemas.microsoft.com/office/drawing/2014/main" id="{673DC9CF-2DEE-42D9-B2CE-6D1BDA15A603}"/>
              </a:ext>
            </a:extLst>
          </p:cNvPr>
          <p:cNvSpPr txBox="1"/>
          <p:nvPr/>
        </p:nvSpPr>
        <p:spPr>
          <a:xfrm>
            <a:off x="457200" y="838200"/>
            <a:ext cx="6985000" cy="254000"/>
          </a:xfrm>
          <a:prstGeom prst="rect">
            <a:avLst/>
          </a:prstGeom>
          <a:noFill/>
          <a:ln>
            <a:noFill/>
          </a:ln>
        </p:spPr>
        <p:txBody>
          <a:bodyPr vertOverflow="overflow" vert="horz" wrap="square" rtlCol="0" anchor="t">
            <a:noAutofit/>
          </a:bodyPr>
          <a:lstStyle/>
          <a:p>
            <a:pPr algn="l"/>
            <a:r>
              <a:rPr lang="en-US" sz="1400">
                <a:solidFill>
                  <a:srgbClr val="5A6577"/>
                </a:solidFill>
                <a:latin typeface="Segoe UI"/>
                <a:cs typeface="Segoe UI"/>
              </a:rPr>
              <a:t>AI-powered agents for analysis, drafting, and resolution</a:t>
            </a:r>
            <a:endParaRPr lang="en-IN" sz="1400">
              <a:solidFill>
                <a:srgbClr val="5A6577"/>
              </a:solidFill>
              <a:latin typeface="Segoe UI"/>
              <a:cs typeface="Segoe UI"/>
            </a:endParaRPr>
          </a:p>
        </p:txBody>
      </p:sp>
      <p:cxnSp>
        <p:nvCxnSpPr>
          <p:cNvPr id="4" name="Sep">
            <a:extLst>
              <a:ext uri="{FF2B5EF4-FFF2-40B4-BE49-F238E27FC236}">
                <a16:creationId xmlns:a16="http://schemas.microsoft.com/office/drawing/2014/main" id="{E3DB8306-C30A-47B6-9F87-FEE66668F120}"/>
              </a:ext>
            </a:extLst>
          </p:cNvPr>
          <p:cNvCxnSpPr/>
          <p:nvPr/>
        </p:nvCxnSpPr>
        <p:spPr>
          <a:xfrm>
            <a:off x="457200" y="1143000"/>
            <a:ext cx="9448800" cy="0"/>
          </a:xfrm>
          <a:prstGeom prst="straightConnector1">
            <a:avLst/>
          </a:prstGeom>
          <a:ln w="12700" cap="flat" cmpd="sng" algn="ctr">
            <a:solidFill>
              <a:srgbClr val="D0D8E8"/>
            </a:solidFill>
          </a:ln>
        </p:spPr>
        <p:style>
          <a:lnRef idx="2">
            <a:schemeClr val="accent1"/>
          </a:lnRef>
          <a:fillRef idx="0">
            <a:schemeClr val="accent1"/>
          </a:fillRef>
          <a:effectRef idx="1">
            <a:schemeClr val="accent1"/>
          </a:effectRef>
          <a:fontRef idx="minor">
            <a:schemeClr val="tx1"/>
          </a:fontRef>
        </p:style>
      </p:cxnSp>
      <p:sp>
        <p:nvSpPr>
          <p:cNvPr id="5" name="OH">
            <a:extLst>
              <a:ext uri="{FF2B5EF4-FFF2-40B4-BE49-F238E27FC236}">
                <a16:creationId xmlns:a16="http://schemas.microsoft.com/office/drawing/2014/main" id="{5527CA9F-6A75-4E0C-ABED-F9C0F73429E7}"/>
              </a:ext>
            </a:extLst>
          </p:cNvPr>
          <p:cNvSpPr txBox="1"/>
          <p:nvPr/>
        </p:nvSpPr>
        <p:spPr>
          <a:xfrm>
            <a:off x="558800" y="1270000"/>
            <a:ext cx="1905000" cy="254000"/>
          </a:xfrm>
          <a:prstGeom prst="rect">
            <a:avLst/>
          </a:prstGeom>
          <a:noFill/>
          <a:ln>
            <a:noFill/>
          </a:ln>
        </p:spPr>
        <p:txBody>
          <a:bodyPr vertOverflow="overflow" vert="horz" wrap="square" rtlCol="0" anchor="t">
            <a:noAutofit/>
          </a:bodyPr>
          <a:lstStyle/>
          <a:p>
            <a:pPr algn="l">
              <a:buNone/>
            </a:pPr>
            <a:r>
              <a:rPr lang="en-US" sz="1400" b="1" dirty="0">
                <a:solidFill>
                  <a:srgbClr val="1257A8"/>
                </a:solidFill>
                <a:latin typeface="Segoe UI Semibold"/>
              </a:rPr>
              <a:t>Overview</a:t>
            </a:r>
          </a:p>
        </p:txBody>
      </p:sp>
      <p:sp>
        <p:nvSpPr>
          <p:cNvPr id="6" name="OT">
            <a:extLst>
              <a:ext uri="{FF2B5EF4-FFF2-40B4-BE49-F238E27FC236}">
                <a16:creationId xmlns:a16="http://schemas.microsoft.com/office/drawing/2014/main" id="{668F1FFF-FD78-4A92-8FE0-B8D47F00DB08}"/>
              </a:ext>
            </a:extLst>
          </p:cNvPr>
          <p:cNvSpPr txBox="1"/>
          <p:nvPr/>
        </p:nvSpPr>
        <p:spPr>
          <a:xfrm>
            <a:off x="558800" y="1549400"/>
            <a:ext cx="4622800" cy="1841500"/>
          </a:xfrm>
          <a:prstGeom prst="rect">
            <a:avLst/>
          </a:prstGeom>
          <a:noFill/>
          <a:ln>
            <a:noFill/>
          </a:ln>
        </p:spPr>
        <p:txBody>
          <a:bodyPr vertOverflow="overflow" vert="horz" wrap="square" rtlCol="0" anchor="t">
            <a:noAutofit/>
          </a:bodyPr>
          <a:lstStyle/>
          <a:p>
            <a:pPr>
              <a:lnSpc>
                <a:spcPts val="1600"/>
              </a:lnSpc>
              <a:buNone/>
            </a:pPr>
            <a:r>
              <a:rPr lang="en-US" sz="1200" dirty="0">
                <a:solidFill>
                  <a:srgbClr val="444D5C"/>
                </a:solidFill>
                <a:latin typeface="Segoe UI"/>
              </a:rPr>
              <a:t>The Agent Services Layer is where the AI lives. It contains specialized agents — each designed for a specific task like analyzing emails, drafting responses, or guiding resolution. Agents are dispatched by the Orchestration Layer and operate independently. Each agent connects to the LLM Gateway, which handles model selection, prompt management, and provider routing. Agents read from shared memory but never call each other directly.</a:t>
            </a:r>
          </a:p>
        </p:txBody>
      </p:sp>
      <p:sp>
        <p:nvSpPr>
          <p:cNvPr id="7" name="KH">
            <a:extLst>
              <a:ext uri="{FF2B5EF4-FFF2-40B4-BE49-F238E27FC236}">
                <a16:creationId xmlns:a16="http://schemas.microsoft.com/office/drawing/2014/main" id="{BB0D190D-08BA-4F54-B261-8F3E992D585E}"/>
              </a:ext>
            </a:extLst>
          </p:cNvPr>
          <p:cNvSpPr txBox="1"/>
          <p:nvPr/>
        </p:nvSpPr>
        <p:spPr>
          <a:xfrm>
            <a:off x="558800" y="3606800"/>
            <a:ext cx="2540000" cy="254000"/>
          </a:xfrm>
          <a:prstGeom prst="rect">
            <a:avLst/>
          </a:prstGeom>
          <a:noFill/>
          <a:ln>
            <a:noFill/>
          </a:ln>
        </p:spPr>
        <p:txBody>
          <a:bodyPr vertOverflow="overflow" vert="horz" wrap="square" rtlCol="0" anchor="t">
            <a:noAutofit/>
          </a:bodyPr>
          <a:lstStyle/>
          <a:p>
            <a:pPr algn="l">
              <a:buNone/>
            </a:pPr>
            <a:r>
              <a:rPr lang="en-US" sz="1400" b="1" dirty="0">
                <a:solidFill>
                  <a:srgbClr val="1257A8"/>
                </a:solidFill>
                <a:latin typeface="Segoe UI Semibold"/>
              </a:rPr>
              <a:t>Key Components</a:t>
            </a:r>
          </a:p>
        </p:txBody>
      </p:sp>
      <p:sp>
        <p:nvSpPr>
          <p:cNvPr id="8" name="Pill">
            <a:extLst>
              <a:ext uri="{FF2B5EF4-FFF2-40B4-BE49-F238E27FC236}">
                <a16:creationId xmlns:a16="http://schemas.microsoft.com/office/drawing/2014/main" id="{A7984479-B467-4BA7-8D3E-789AF41545F0}"/>
              </a:ext>
            </a:extLst>
          </p:cNvPr>
          <p:cNvSpPr/>
          <p:nvPr/>
        </p:nvSpPr>
        <p:spPr>
          <a:xfrm>
            <a:off x="10490200" y="355600"/>
            <a:ext cx="1016000" cy="355600"/>
          </a:xfrm>
          <a:prstGeom prst="roundRect">
            <a:avLst>
              <a:gd name="adj" fmla="val 16667"/>
            </a:avLst>
          </a:prstGeom>
          <a:solidFill>
            <a:srgbClr val="1565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latin typeface="Segoe UI"/>
                <a:cs typeface="Segoe UI"/>
              </a:rPr>
              <a:t>Layer 5</a:t>
            </a:r>
          </a:p>
        </p:txBody>
      </p:sp>
      <p:sp>
        <p:nvSpPr>
          <p:cNvPr id="9" name="Ftr">
            <a:extLst>
              <a:ext uri="{FF2B5EF4-FFF2-40B4-BE49-F238E27FC236}">
                <a16:creationId xmlns:a16="http://schemas.microsoft.com/office/drawing/2014/main" id="{38D7F413-6F68-4209-A809-01525CA72040}"/>
              </a:ext>
            </a:extLst>
          </p:cNvPr>
          <p:cNvSpPr txBox="1"/>
          <p:nvPr/>
        </p:nvSpPr>
        <p:spPr>
          <a:xfrm>
            <a:off x="457200" y="6451600"/>
            <a:ext cx="5080000" cy="203200"/>
          </a:xfrm>
          <a:prstGeom prst="rect">
            <a:avLst/>
          </a:prstGeom>
          <a:noFill/>
          <a:ln>
            <a:noFill/>
          </a:ln>
        </p:spPr>
        <p:txBody>
          <a:bodyPr vertOverflow="overflow" vert="horz" wrap="square" rtlCol="0" anchor="t">
            <a:noAutofit/>
          </a:bodyPr>
          <a:lstStyle/>
          <a:p>
            <a:pPr algn="l"/>
            <a:r>
              <a:rPr lang="en-IN" sz="800">
                <a:solidFill>
                  <a:srgbClr val="9BA4B0"/>
                </a:solidFill>
                <a:latin typeface="Segoe UI"/>
                <a:cs typeface="Segoe UI"/>
              </a:rPr>
              <a:t>© Hexaware Technologies. Confidential Briefing</a:t>
            </a:r>
          </a:p>
        </p:txBody>
      </p:sp>
      <p:sp>
        <p:nvSpPr>
          <p:cNvPr id="10" name="KT">
            <a:extLst>
              <a:ext uri="{FF2B5EF4-FFF2-40B4-BE49-F238E27FC236}">
                <a16:creationId xmlns:a16="http://schemas.microsoft.com/office/drawing/2014/main" id="{6949B3FF-C065-4893-BAB7-04FD45256443}"/>
              </a:ext>
            </a:extLst>
          </p:cNvPr>
          <p:cNvSpPr txBox="1"/>
          <p:nvPr/>
        </p:nvSpPr>
        <p:spPr>
          <a:xfrm>
            <a:off x="558800" y="3886200"/>
            <a:ext cx="4622800" cy="1569660"/>
          </a:xfrm>
          <a:prstGeom prst="rect">
            <a:avLst/>
          </a:prstGeom>
          <a:noFill/>
          <a:ln>
            <a:noFill/>
          </a:ln>
        </p:spPr>
        <p:txBody>
          <a:bodyPr vertOverflow="overflow" vert="horz" wrap="square" rtlCol="0" anchor="t">
            <a:spAutoFit/>
          </a:bodyPr>
          <a:lstStyle/>
          <a:p>
            <a:pPr marL="171450" indent="-171450">
              <a:buFont typeface="Arial"/>
              <a:buChar char="•"/>
            </a:pPr>
            <a:r>
              <a:rPr lang="en-US" sz="1200" b="1" dirty="0">
                <a:solidFill>
                  <a:srgbClr val="0D1B3E"/>
                </a:solidFill>
                <a:latin typeface="Segoe UI Semibold"/>
              </a:rPr>
              <a:t>Email Analysis Agent</a:t>
            </a:r>
            <a:r>
              <a:rPr lang="en-US" sz="1200" dirty="0">
                <a:solidFill>
                  <a:srgbClr val="444D5C"/>
                </a:solidFill>
                <a:latin typeface="Segoe UI"/>
              </a:rPr>
              <a:t> — Intent classification, entity extraction, urgency, sentiment, confidence scoring, multi-issue detection</a:t>
            </a:r>
          </a:p>
          <a:p>
            <a:pPr marL="171450" indent="-171450">
              <a:buFont typeface="Arial"/>
              <a:buChar char="•"/>
            </a:pPr>
            <a:r>
              <a:rPr lang="en-US" sz="1200" b="1" dirty="0">
                <a:solidFill>
                  <a:srgbClr val="0D1B3E"/>
                </a:solidFill>
                <a:latin typeface="Segoe UI Semibold"/>
              </a:rPr>
              <a:t>Communication Drafting Agent</a:t>
            </a:r>
            <a:r>
              <a:rPr lang="en-US" sz="1200" dirty="0">
                <a:solidFill>
                  <a:srgbClr val="444D5C"/>
                </a:solidFill>
                <a:latin typeface="Segoe UI"/>
              </a:rPr>
              <a:t> — Generates context-aware vendor communications using templates and tone rules</a:t>
            </a:r>
          </a:p>
          <a:p>
            <a:pPr marL="171450" indent="-171450">
              <a:buFont typeface="Arial"/>
              <a:buChar char="•"/>
            </a:pPr>
            <a:r>
              <a:rPr lang="en-US" sz="1200" b="1" dirty="0">
                <a:solidFill>
                  <a:srgbClr val="0D1B3E"/>
                </a:solidFill>
                <a:latin typeface="Segoe UI Semibold"/>
              </a:rPr>
              <a:t>Resolver Agent</a:t>
            </a:r>
            <a:r>
              <a:rPr lang="en-US" sz="1200" dirty="0">
                <a:solidFill>
                  <a:srgbClr val="7A8599"/>
                </a:solidFill>
                <a:latin typeface="Segoe UI"/>
              </a:rPr>
              <a:t> (Optional — Phase 2)</a:t>
            </a:r>
            <a:r>
              <a:rPr lang="en-US" sz="1200" dirty="0">
                <a:solidFill>
                  <a:srgbClr val="444D5C"/>
                </a:solidFill>
                <a:latin typeface="Segoe UI"/>
              </a:rPr>
              <a:t> — Vector search for similar cases, KB retrieval, context packages for resolvers</a:t>
            </a:r>
          </a:p>
          <a:p>
            <a:pPr marL="171450" indent="-171450">
              <a:buFont typeface="Arial"/>
              <a:buChar char="•"/>
            </a:pPr>
            <a:r>
              <a:rPr lang="en-US" sz="1200" b="1" dirty="0">
                <a:solidFill>
                  <a:srgbClr val="0D1B3E"/>
                </a:solidFill>
                <a:latin typeface="Segoe UI Semibold"/>
              </a:rPr>
              <a:t>LLM Gateway</a:t>
            </a:r>
            <a:r>
              <a:rPr lang="en-US" sz="1200" dirty="0">
                <a:solidFill>
                  <a:srgbClr val="444D5C"/>
                </a:solidFill>
                <a:latin typeface="Segoe UI"/>
              </a:rPr>
              <a:t> — Central router for model selection, prompt management, and provider failover</a:t>
            </a:r>
          </a:p>
        </p:txBody>
      </p:sp>
      <p:sp>
        <p:nvSpPr>
          <p:cNvPr id="51" name="LISh"/>
          <p:cNvSpPr/>
          <p:nvPr/>
        </p:nvSpPr>
        <p:spPr>
          <a:xfrm>
            <a:off x="5511800" y="3378200"/>
            <a:ext cx="4419600" cy="1905000"/>
          </a:xfrm>
          <a:prstGeom prst="roundRect">
            <a:avLst>
              <a:gd name="adj" fmla="val 5000"/>
            </a:avLst>
          </a:prstGeom>
          <a:solidFill>
            <a:srgbClr val="E0E4EC">
              <a:alpha val="50000"/>
            </a:srgbClr>
          </a:solidFill>
          <a:ln>
            <a:noFill/>
          </a:ln>
        </p:spPr>
        <p:txBody>
          <a:bodyPr/>
          <a:lstStyle/>
          <a:p>
            <a:endParaRPr lang="en-US"/>
          </a:p>
        </p:txBody>
      </p:sp>
      <p:sp>
        <p:nvSpPr>
          <p:cNvPr id="14" name="LIBx">
            <a:extLst>
              <a:ext uri="{FF2B5EF4-FFF2-40B4-BE49-F238E27FC236}">
                <a16:creationId xmlns:a16="http://schemas.microsoft.com/office/drawing/2014/main" id="{73736710-C694-4363-935B-92CEB830DEA4}"/>
              </a:ext>
            </a:extLst>
          </p:cNvPr>
          <p:cNvSpPr/>
          <p:nvPr/>
        </p:nvSpPr>
        <p:spPr>
          <a:xfrm>
            <a:off x="5486400" y="3352800"/>
            <a:ext cx="4419600" cy="1905000"/>
          </a:xfrm>
          <a:prstGeom prst="roundRect">
            <a:avLst>
              <a:gd name="adj" fmla="val 5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LIHd">
            <a:extLst>
              <a:ext uri="{FF2B5EF4-FFF2-40B4-BE49-F238E27FC236}">
                <a16:creationId xmlns:a16="http://schemas.microsoft.com/office/drawing/2014/main" id="{EB0E4427-3BE4-4ED1-A7C7-F417214919D5}"/>
              </a:ext>
            </a:extLst>
          </p:cNvPr>
          <p:cNvSpPr/>
          <p:nvPr/>
        </p:nvSpPr>
        <p:spPr>
          <a:xfrm>
            <a:off x="5486400" y="3352800"/>
            <a:ext cx="4419600" cy="355600"/>
          </a:xfrm>
          <a:prstGeom prst="roundRect">
            <a:avLst>
              <a:gd name="adj" fmla="val 5000"/>
            </a:avLst>
          </a:prstGeom>
          <a:solidFill>
            <a:srgbClr val="1565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latin typeface="Segoe UI"/>
                <a:cs typeface="Segoe UI"/>
              </a:rPr>
              <a:t>Layer Interactions</a:t>
            </a:r>
          </a:p>
        </p:txBody>
      </p:sp>
      <p:sp>
        <p:nvSpPr>
          <p:cNvPr id="16" name="LITx">
            <a:extLst>
              <a:ext uri="{FF2B5EF4-FFF2-40B4-BE49-F238E27FC236}">
                <a16:creationId xmlns:a16="http://schemas.microsoft.com/office/drawing/2014/main" id="{A21E174A-AF4B-4E5B-AB8A-2B0E7631CCBF}"/>
              </a:ext>
            </a:extLst>
          </p:cNvPr>
          <p:cNvSpPr txBox="1"/>
          <p:nvPr/>
        </p:nvSpPr>
        <p:spPr>
          <a:xfrm>
            <a:off x="5638800" y="3759200"/>
            <a:ext cx="4114800" cy="1422400"/>
          </a:xfrm>
          <a:prstGeom prst="rect">
            <a:avLst/>
          </a:prstGeom>
          <a:noFill/>
          <a:ln>
            <a:noFill/>
          </a:ln>
        </p:spPr>
        <p:txBody>
          <a:bodyPr vertOverflow="overflow" vert="horz" wrap="square" rtlCol="0" anchor="t">
            <a:noAutofit/>
          </a:bodyPr>
          <a:lstStyle/>
          <a:p>
            <a:pPr marL="171450" indent="-171450">
              <a:buFont typeface="Arial"/>
              <a:buChar char="▸"/>
            </a:pPr>
            <a:r>
              <a:rPr lang="en-US" sz="1200" dirty="0">
                <a:solidFill>
                  <a:srgbClr val="2D3648"/>
                </a:solidFill>
                <a:latin typeface="Segoe UI"/>
              </a:rPr>
              <a:t>Dispatched by the Orchestration Layer with task-specific context</a:t>
            </a:r>
          </a:p>
          <a:p>
            <a:pPr marL="171450" indent="-171450">
              <a:buFont typeface="Arial"/>
              <a:buChar char="▸"/>
            </a:pPr>
            <a:r>
              <a:rPr lang="en-US" sz="1200" dirty="0">
                <a:solidFill>
                  <a:srgbClr val="2D3648"/>
                </a:solidFill>
                <a:latin typeface="Segoe UI"/>
              </a:rPr>
              <a:t>Reads from Memory &amp; Context Service for case history</a:t>
            </a:r>
          </a:p>
          <a:p>
            <a:pPr marL="171450" indent="-171450">
              <a:buFont typeface="Arial"/>
              <a:buChar char="▸"/>
            </a:pPr>
            <a:r>
              <a:rPr lang="en-US" sz="1200" dirty="0">
                <a:solidFill>
                  <a:srgbClr val="2D3648"/>
                </a:solidFill>
                <a:latin typeface="Segoe UI"/>
              </a:rPr>
              <a:t>Outputs pass through Security &amp; Governance before delivery</a:t>
            </a:r>
          </a:p>
          <a:p>
            <a:pPr marL="171450" indent="-171450">
              <a:buFont typeface="Arial"/>
              <a:buChar char="▸"/>
            </a:pPr>
            <a:r>
              <a:rPr lang="en-US" sz="1200" dirty="0">
                <a:solidFill>
                  <a:srgbClr val="2D3648"/>
                </a:solidFill>
                <a:latin typeface="Segoe UI"/>
              </a:rPr>
              <a:t>Agents never call each other — all coordination via Orchestrator</a:t>
            </a:r>
          </a:p>
        </p:txBody>
      </p:sp>
      <p:sp>
        <p:nvSpPr>
          <p:cNvPr id="17" name="FH">
            <a:extLst>
              <a:ext uri="{FF2B5EF4-FFF2-40B4-BE49-F238E27FC236}">
                <a16:creationId xmlns:a16="http://schemas.microsoft.com/office/drawing/2014/main" id="{EA9D06D6-C76F-430F-ADC9-9BDD602B9517}"/>
              </a:ext>
            </a:extLst>
          </p:cNvPr>
          <p:cNvSpPr txBox="1"/>
          <p:nvPr/>
        </p:nvSpPr>
        <p:spPr>
          <a:xfrm>
            <a:off x="10109200" y="1270000"/>
            <a:ext cx="1778000" cy="279400"/>
          </a:xfrm>
          <a:prstGeom prst="rect">
            <a:avLst/>
          </a:prstGeom>
          <a:noFill/>
          <a:ln>
            <a:noFill/>
          </a:ln>
        </p:spPr>
        <p:txBody>
          <a:bodyPr vertOverflow="overflow" vert="horz" wrap="square" rtlCol="0" anchor="t">
            <a:noAutofit/>
          </a:bodyPr>
          <a:lstStyle/>
          <a:p>
            <a:pPr algn="l"/>
            <a:r>
              <a:rPr lang="en-IN" sz="1100" b="1">
                <a:solidFill>
                  <a:srgbClr val="5A6577"/>
                </a:solidFill>
                <a:latin typeface="Segoe UI"/>
                <a:cs typeface="Segoe UI"/>
              </a:rPr>
              <a:t>Architecture Flow</a:t>
            </a:r>
          </a:p>
        </p:txBody>
      </p:sp>
      <p:sp>
        <p:nvSpPr>
          <p:cNvPr id="18" name="F0">
            <a:extLst>
              <a:ext uri="{FF2B5EF4-FFF2-40B4-BE49-F238E27FC236}">
                <a16:creationId xmlns:a16="http://schemas.microsoft.com/office/drawing/2014/main" id="{3088BAFD-DD0E-43B0-9458-0DF04AC72748}"/>
              </a:ext>
            </a:extLst>
          </p:cNvPr>
          <p:cNvSpPr/>
          <p:nvPr/>
        </p:nvSpPr>
        <p:spPr>
          <a:xfrm>
            <a:off x="10109200" y="1625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Presentation</a:t>
            </a:r>
          </a:p>
        </p:txBody>
      </p:sp>
      <p:sp>
        <p:nvSpPr>
          <p:cNvPr id="19" name="F1">
            <a:extLst>
              <a:ext uri="{FF2B5EF4-FFF2-40B4-BE49-F238E27FC236}">
                <a16:creationId xmlns:a16="http://schemas.microsoft.com/office/drawing/2014/main" id="{6A456810-FFD4-4AB5-9B98-67BDBD27B9C2}"/>
              </a:ext>
            </a:extLst>
          </p:cNvPr>
          <p:cNvSpPr/>
          <p:nvPr/>
        </p:nvSpPr>
        <p:spPr>
          <a:xfrm>
            <a:off x="10109200" y="2133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API Gateway &amp; Auth</a:t>
            </a:r>
          </a:p>
        </p:txBody>
      </p:sp>
      <p:sp>
        <p:nvSpPr>
          <p:cNvPr id="20" name="F2">
            <a:extLst>
              <a:ext uri="{FF2B5EF4-FFF2-40B4-BE49-F238E27FC236}">
                <a16:creationId xmlns:a16="http://schemas.microsoft.com/office/drawing/2014/main" id="{F832F664-8FE2-41A5-BD8F-4F400641172E}"/>
              </a:ext>
            </a:extLst>
          </p:cNvPr>
          <p:cNvSpPr/>
          <p:nvPr/>
        </p:nvSpPr>
        <p:spPr>
          <a:xfrm>
            <a:off x="10109200" y="2641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Orchestration</a:t>
            </a:r>
          </a:p>
        </p:txBody>
      </p:sp>
      <p:sp>
        <p:nvSpPr>
          <p:cNvPr id="21" name="F3">
            <a:extLst>
              <a:ext uri="{FF2B5EF4-FFF2-40B4-BE49-F238E27FC236}">
                <a16:creationId xmlns:a16="http://schemas.microsoft.com/office/drawing/2014/main" id="{65ECA530-C97D-460B-99B8-C5EBA8C76FEB}"/>
              </a:ext>
            </a:extLst>
          </p:cNvPr>
          <p:cNvSpPr/>
          <p:nvPr/>
        </p:nvSpPr>
        <p:spPr>
          <a:xfrm>
            <a:off x="10109200" y="3149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Security &amp; Gov.</a:t>
            </a:r>
          </a:p>
        </p:txBody>
      </p:sp>
      <p:sp>
        <p:nvSpPr>
          <p:cNvPr id="22" name="F4">
            <a:extLst>
              <a:ext uri="{FF2B5EF4-FFF2-40B4-BE49-F238E27FC236}">
                <a16:creationId xmlns:a16="http://schemas.microsoft.com/office/drawing/2014/main" id="{2D4FDD5C-6229-4E7F-BCB9-B74110D14701}"/>
              </a:ext>
            </a:extLst>
          </p:cNvPr>
          <p:cNvSpPr/>
          <p:nvPr/>
        </p:nvSpPr>
        <p:spPr>
          <a:xfrm>
            <a:off x="10109200" y="3657600"/>
            <a:ext cx="1727200" cy="406400"/>
          </a:xfrm>
          <a:prstGeom prst="roundRect">
            <a:avLst>
              <a:gd name="adj" fmla="val 10000"/>
            </a:avLst>
          </a:prstGeom>
          <a:solidFill>
            <a:srgbClr val="1565C0"/>
          </a:solidFill>
          <a:ln w="9525" cap="flat" cmpd="sng" algn="ctr">
            <a:solidFill>
              <a:srgbClr val="1565C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b="1">
                <a:solidFill>
                  <a:srgbClr val="FFFFFF"/>
                </a:solidFill>
                <a:latin typeface="Segoe UI"/>
                <a:cs typeface="Segoe UI"/>
              </a:rPr>
              <a:t>▶  Agent Services</a:t>
            </a:r>
          </a:p>
        </p:txBody>
      </p:sp>
      <p:sp>
        <p:nvSpPr>
          <p:cNvPr id="23" name="F5">
            <a:extLst>
              <a:ext uri="{FF2B5EF4-FFF2-40B4-BE49-F238E27FC236}">
                <a16:creationId xmlns:a16="http://schemas.microsoft.com/office/drawing/2014/main" id="{08FA31FA-9B51-43B3-80CE-0EAE939D9F7D}"/>
              </a:ext>
            </a:extLst>
          </p:cNvPr>
          <p:cNvSpPr/>
          <p:nvPr/>
        </p:nvSpPr>
        <p:spPr>
          <a:xfrm>
            <a:off x="10109200" y="4165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Integration</a:t>
            </a:r>
          </a:p>
        </p:txBody>
      </p:sp>
      <p:sp>
        <p:nvSpPr>
          <p:cNvPr id="24" name="F6">
            <a:extLst>
              <a:ext uri="{FF2B5EF4-FFF2-40B4-BE49-F238E27FC236}">
                <a16:creationId xmlns:a16="http://schemas.microsoft.com/office/drawing/2014/main" id="{A190114A-DA3E-42E3-9235-D166B0137F81}"/>
              </a:ext>
            </a:extLst>
          </p:cNvPr>
          <p:cNvSpPr/>
          <p:nvPr/>
        </p:nvSpPr>
        <p:spPr>
          <a:xfrm>
            <a:off x="10109200" y="4673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Data &amp; Storage</a:t>
            </a:r>
          </a:p>
        </p:txBody>
      </p:sp>
      <p:sp>
        <p:nvSpPr>
          <p:cNvPr id="52" name="OvA"/>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53" name="KCA"/>
          <p:cNvSpPr/>
          <p:nvPr/>
        </p:nvSpPr>
        <p:spPr>
          <a:xfrm>
            <a:off x="457200" y="3632200"/>
            <a:ext cx="50800" cy="203200"/>
          </a:xfrm>
          <a:prstGeom prst="roundRect">
            <a:avLst>
              <a:gd name="adj" fmla="val 16667"/>
            </a:avLst>
          </a:prstGeom>
          <a:solidFill>
            <a:srgbClr val="1565C0"/>
          </a:solidFill>
          <a:ln>
            <a:noFill/>
          </a:ln>
        </p:spPr>
        <p:txBody>
          <a:bodyPr/>
          <a:lstStyle/>
          <a:p>
            <a:endParaRPr lang="en-US"/>
          </a:p>
        </p:txBody>
      </p:sp>
      <p:sp>
        <p:nvSpPr>
          <p:cNvPr id="29" name="Rectangle: Rounded Corners 28">
            <a:extLst>
              <a:ext uri="{FF2B5EF4-FFF2-40B4-BE49-F238E27FC236}">
                <a16:creationId xmlns:a16="http://schemas.microsoft.com/office/drawing/2014/main" id="{1B31F38C-C0C2-4736-955D-DAC56DECD5FA}"/>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0" name="TextBox 29">
            <a:extLst>
              <a:ext uri="{FF2B5EF4-FFF2-40B4-BE49-F238E27FC236}">
                <a16:creationId xmlns:a16="http://schemas.microsoft.com/office/drawing/2014/main" id="{553F5B84-BC0E-41F4-B1D8-3A61CBFCA2B1}"/>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graphicFrame>
        <p:nvGraphicFramePr>
          <p:cNvPr id="32" name="Table 31">
            <a:extLst>
              <a:ext uri="{FF2B5EF4-FFF2-40B4-BE49-F238E27FC236}">
                <a16:creationId xmlns:a16="http://schemas.microsoft.com/office/drawing/2014/main" id="{622C9576-E40D-493C-BC2F-0B2F37EDA898}"/>
              </a:ext>
            </a:extLst>
          </p:cNvPr>
          <p:cNvGraphicFramePr>
            <a:graphicFrameLocks noGrp="1"/>
          </p:cNvGraphicFramePr>
          <p:nvPr>
            <p:extLst>
              <p:ext uri="{D42A27DB-BD31-4B8C-83A1-F6EECF244321}">
                <p14:modId xmlns:p14="http://schemas.microsoft.com/office/powerpoint/2010/main" val="1633050909"/>
              </p:ext>
            </p:extLst>
          </p:nvPr>
        </p:nvGraphicFramePr>
        <p:xfrm>
          <a:off x="5486400" y="1600200"/>
          <a:ext cx="4419600" cy="1625600"/>
        </p:xfrm>
        <a:graphic>
          <a:graphicData uri="http://schemas.openxmlformats.org/drawingml/2006/table">
            <a:tbl>
              <a:tblPr firstRow="1" bandRow="1">
                <a:tableStyleId>{5C22544A-7EE6-4342-B048-85BDC9FD1C3A}</a:tableStyleId>
              </a:tblPr>
              <a:tblGrid>
                <a:gridCol w="1458468">
                  <a:extLst>
                    <a:ext uri="{9D8B030D-6E8A-4147-A177-3AD203B41FA5}">
                      <a16:colId xmlns:a16="http://schemas.microsoft.com/office/drawing/2014/main" val="1289584188"/>
                    </a:ext>
                  </a:extLst>
                </a:gridCol>
                <a:gridCol w="1635252">
                  <a:extLst>
                    <a:ext uri="{9D8B030D-6E8A-4147-A177-3AD203B41FA5}">
                      <a16:colId xmlns:a16="http://schemas.microsoft.com/office/drawing/2014/main" val="937518618"/>
                    </a:ext>
                  </a:extLst>
                </a:gridCol>
                <a:gridCol w="1325880">
                  <a:extLst>
                    <a:ext uri="{9D8B030D-6E8A-4147-A177-3AD203B41FA5}">
                      <a16:colId xmlns:a16="http://schemas.microsoft.com/office/drawing/2014/main" val="3863442695"/>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A3F6F"/>
                    </a:solidFill>
                  </a:tcPr>
                </a:tc>
                <a:tc>
                  <a:txBody>
                    <a:bodyPr/>
                    <a:lstStyle/>
                    <a:p>
                      <a:pPr algn="ctr"/>
                      <a:r>
                        <a:rPr lang="en-IN" sz="1000" b="1">
                          <a:solidFill>
                            <a:srgbClr val="FFFFFF"/>
                          </a:solidFill>
                          <a:latin typeface="Segoe UI Semibold"/>
                          <a:cs typeface="Segoe UI Semibold"/>
                        </a:rPr>
                        <a:t>Open Source</a:t>
                      </a:r>
                    </a:p>
                  </a:txBody>
                  <a:tcPr anchor="ctr">
                    <a:solidFill>
                      <a:srgbClr val="1A3F6F"/>
                    </a:solidFill>
                  </a:tcPr>
                </a:tc>
                <a:tc>
                  <a:txBody>
                    <a:bodyPr/>
                    <a:lstStyle/>
                    <a:p>
                      <a:pPr algn="ctr"/>
                      <a:r>
                        <a:rPr lang="en-IN" sz="1000" b="1">
                          <a:solidFill>
                            <a:srgbClr val="FFFFFF"/>
                          </a:solidFill>
                          <a:latin typeface="Segoe UI Semibold"/>
                          <a:cs typeface="Segoe UI Semibold"/>
                        </a:rPr>
                        <a:t>Purpose</a:t>
                      </a:r>
                    </a:p>
                  </a:txBody>
                  <a:tcPr anchor="ctr">
                    <a:solidFill>
                      <a:srgbClr val="1A3F6F"/>
                    </a:solidFill>
                  </a:tcPr>
                </a:tc>
                <a:extLst>
                  <a:ext uri="{0D108BD9-81ED-4DB2-BD59-A6C34878D82A}">
                    <a16:rowId xmlns:a16="http://schemas.microsoft.com/office/drawing/2014/main" val="462882369"/>
                  </a:ext>
                </a:extLst>
              </a:tr>
              <a:tr h="330200">
                <a:tc>
                  <a:txBody>
                    <a:bodyPr/>
                    <a:lstStyle/>
                    <a:p>
                      <a:pPr algn="l"/>
                      <a:r>
                        <a:rPr lang="en-IN" sz="900">
                          <a:solidFill>
                            <a:srgbClr val="2D3648"/>
                          </a:solidFill>
                          <a:latin typeface="Segoe UI"/>
                          <a:cs typeface="Segoe UI"/>
                        </a:rPr>
                        <a:t>Amazon Bedrock</a:t>
                      </a:r>
                    </a:p>
                  </a:txBody>
                  <a:tcPr anchor="ctr">
                    <a:solidFill>
                      <a:srgbClr val="EEF2F7"/>
                    </a:solidFill>
                  </a:tcPr>
                </a:tc>
                <a:tc>
                  <a:txBody>
                    <a:bodyPr/>
                    <a:lstStyle/>
                    <a:p>
                      <a:pPr algn="l"/>
                      <a:r>
                        <a:rPr lang="en-IN" sz="900">
                          <a:solidFill>
                            <a:srgbClr val="2D3648"/>
                          </a:solidFill>
                          <a:latin typeface="Segoe UI"/>
                          <a:cs typeface="Segoe UI"/>
                        </a:rPr>
                        <a:t>LiteLLM</a:t>
                      </a:r>
                    </a:p>
                  </a:txBody>
                  <a:tcPr anchor="ctr">
                    <a:solidFill>
                      <a:srgbClr val="EEF2F7"/>
                    </a:solidFill>
                  </a:tcPr>
                </a:tc>
                <a:tc>
                  <a:txBody>
                    <a:bodyPr/>
                    <a:lstStyle/>
                    <a:p>
                      <a:pPr algn="l"/>
                      <a:r>
                        <a:rPr lang="en-IN" sz="900">
                          <a:solidFill>
                            <a:srgbClr val="2D3648"/>
                          </a:solidFill>
                          <a:latin typeface="Segoe UI"/>
                          <a:cs typeface="Segoe UI"/>
                        </a:rPr>
                        <a:t>LLM Gateway</a:t>
                      </a:r>
                    </a:p>
                  </a:txBody>
                  <a:tcPr anchor="ctr">
                    <a:solidFill>
                      <a:srgbClr val="EEF2F7"/>
                    </a:solidFill>
                  </a:tcPr>
                </a:tc>
                <a:extLst>
                  <a:ext uri="{0D108BD9-81ED-4DB2-BD59-A6C34878D82A}">
                    <a16:rowId xmlns:a16="http://schemas.microsoft.com/office/drawing/2014/main" val="670839467"/>
                  </a:ext>
                </a:extLst>
              </a:tr>
              <a:tr h="330200">
                <a:tc>
                  <a:txBody>
                    <a:bodyPr/>
                    <a:lstStyle/>
                    <a:p>
                      <a:pPr algn="l"/>
                      <a:r>
                        <a:rPr lang="en-IN" sz="900">
                          <a:solidFill>
                            <a:srgbClr val="2D3648"/>
                          </a:solidFill>
                          <a:latin typeface="Segoe UI"/>
                          <a:cs typeface="Segoe UI"/>
                        </a:rPr>
                        <a:t>Titan Embeddings</a:t>
                      </a:r>
                    </a:p>
                  </a:txBody>
                  <a:tcPr anchor="ctr">
                    <a:solidFill>
                      <a:srgbClr val="FFFFFF"/>
                    </a:solidFill>
                  </a:tcPr>
                </a:tc>
                <a:tc>
                  <a:txBody>
                    <a:bodyPr/>
                    <a:lstStyle/>
                    <a:p>
                      <a:pPr algn="l"/>
                      <a:r>
                        <a:rPr lang="en-IN" sz="900">
                          <a:solidFill>
                            <a:srgbClr val="2D3648"/>
                          </a:solidFill>
                          <a:latin typeface="Segoe UI"/>
                          <a:cs typeface="Segoe UI"/>
                        </a:rPr>
                        <a:t>Sentence Transformers</a:t>
                      </a:r>
                    </a:p>
                  </a:txBody>
                  <a:tcPr anchor="ctr">
                    <a:solidFill>
                      <a:srgbClr val="FFFFFF"/>
                    </a:solidFill>
                  </a:tcPr>
                </a:tc>
                <a:tc>
                  <a:txBody>
                    <a:bodyPr/>
                    <a:lstStyle/>
                    <a:p>
                      <a:pPr algn="l"/>
                      <a:r>
                        <a:rPr lang="en-IN" sz="900">
                          <a:solidFill>
                            <a:srgbClr val="2D3648"/>
                          </a:solidFill>
                          <a:latin typeface="Segoe UI"/>
                          <a:cs typeface="Segoe UI"/>
                        </a:rPr>
                        <a:t>Vector Embeddings</a:t>
                      </a:r>
                    </a:p>
                  </a:txBody>
                  <a:tcPr anchor="ctr">
                    <a:solidFill>
                      <a:srgbClr val="FFFFFF"/>
                    </a:solidFill>
                  </a:tcPr>
                </a:tc>
                <a:extLst>
                  <a:ext uri="{0D108BD9-81ED-4DB2-BD59-A6C34878D82A}">
                    <a16:rowId xmlns:a16="http://schemas.microsoft.com/office/drawing/2014/main" val="2273114808"/>
                  </a:ext>
                </a:extLst>
              </a:tr>
              <a:tr h="330200">
                <a:tc>
                  <a:txBody>
                    <a:bodyPr/>
                    <a:lstStyle/>
                    <a:p>
                      <a:pPr algn="l"/>
                      <a:r>
                        <a:rPr lang="en-IN" sz="900">
                          <a:solidFill>
                            <a:srgbClr val="2D3648"/>
                          </a:solidFill>
                          <a:latin typeface="Segoe UI"/>
                          <a:cs typeface="Segoe UI"/>
                        </a:rPr>
                        <a:t>—</a:t>
                      </a:r>
                    </a:p>
                  </a:txBody>
                  <a:tcPr anchor="ctr">
                    <a:solidFill>
                      <a:srgbClr val="EEF2F7"/>
                    </a:solidFill>
                  </a:tcPr>
                </a:tc>
                <a:tc>
                  <a:txBody>
                    <a:bodyPr/>
                    <a:lstStyle/>
                    <a:p>
                      <a:pPr algn="l"/>
                      <a:r>
                        <a:rPr lang="en-IN" sz="900">
                          <a:solidFill>
                            <a:srgbClr val="2D3648"/>
                          </a:solidFill>
                          <a:latin typeface="Segoe UI"/>
                          <a:cs typeface="Segoe UI"/>
                        </a:rPr>
                        <a:t>LangChain</a:t>
                      </a:r>
                    </a:p>
                  </a:txBody>
                  <a:tcPr anchor="ctr">
                    <a:solidFill>
                      <a:srgbClr val="EEF2F7"/>
                    </a:solidFill>
                  </a:tcPr>
                </a:tc>
                <a:tc>
                  <a:txBody>
                    <a:bodyPr/>
                    <a:lstStyle/>
                    <a:p>
                      <a:pPr algn="l"/>
                      <a:r>
                        <a:rPr lang="en-IN" sz="900">
                          <a:solidFill>
                            <a:srgbClr val="2D3648"/>
                          </a:solidFill>
                          <a:latin typeface="Segoe UI"/>
                          <a:cs typeface="Segoe UI"/>
                        </a:rPr>
                        <a:t>Agent Framework</a:t>
                      </a:r>
                    </a:p>
                  </a:txBody>
                  <a:tcPr anchor="ctr">
                    <a:solidFill>
                      <a:srgbClr val="EEF2F7"/>
                    </a:solidFill>
                  </a:tcPr>
                </a:tc>
                <a:extLst>
                  <a:ext uri="{0D108BD9-81ED-4DB2-BD59-A6C34878D82A}">
                    <a16:rowId xmlns:a16="http://schemas.microsoft.com/office/drawing/2014/main" val="2376520735"/>
                  </a:ext>
                </a:extLst>
              </a:tr>
              <a:tr h="330200">
                <a:tc>
                  <a:txBody>
                    <a:bodyPr/>
                    <a:lstStyle/>
                    <a:p>
                      <a:pPr algn="l"/>
                      <a:r>
                        <a:rPr lang="en-IN" sz="900">
                          <a:solidFill>
                            <a:srgbClr val="2D3648"/>
                          </a:solidFill>
                          <a:latin typeface="Segoe UI"/>
                          <a:cs typeface="Segoe UI"/>
                        </a:rPr>
                        <a:t>—</a:t>
                      </a:r>
                    </a:p>
                  </a:txBody>
                  <a:tcPr anchor="ctr">
                    <a:solidFill>
                      <a:srgbClr val="FFFFFF"/>
                    </a:solidFill>
                  </a:tcPr>
                </a:tc>
                <a:tc>
                  <a:txBody>
                    <a:bodyPr/>
                    <a:lstStyle/>
                    <a:p>
                      <a:pPr algn="l"/>
                      <a:r>
                        <a:rPr lang="en-IN" sz="900">
                          <a:solidFill>
                            <a:srgbClr val="2D3648"/>
                          </a:solidFill>
                          <a:latin typeface="Segoe UI"/>
                          <a:cs typeface="Segoe UI"/>
                        </a:rPr>
                        <a:t>LangSmith / Langfuse</a:t>
                      </a:r>
                    </a:p>
                  </a:txBody>
                  <a:tcPr anchor="ctr">
                    <a:solidFill>
                      <a:srgbClr val="FFFFFF"/>
                    </a:solidFill>
                  </a:tcPr>
                </a:tc>
                <a:tc>
                  <a:txBody>
                    <a:bodyPr/>
                    <a:lstStyle/>
                    <a:p>
                      <a:pPr algn="l"/>
                      <a:r>
                        <a:rPr lang="en-IN" sz="900">
                          <a:solidFill>
                            <a:srgbClr val="2D3648"/>
                          </a:solidFill>
                          <a:latin typeface="Segoe UI"/>
                          <a:cs typeface="Segoe UI"/>
                        </a:rPr>
                        <a:t>LLM Observability</a:t>
                      </a:r>
                    </a:p>
                  </a:txBody>
                  <a:tcPr anchor="ctr">
                    <a:solidFill>
                      <a:srgbClr val="FFFFFF"/>
                    </a:solidFill>
                  </a:tcPr>
                </a:tc>
                <a:extLst>
                  <a:ext uri="{0D108BD9-81ED-4DB2-BD59-A6C34878D82A}">
                    <a16:rowId xmlns:a16="http://schemas.microsoft.com/office/drawing/2014/main" val="2748089000"/>
                  </a:ext>
                </a:extLst>
              </a:tr>
            </a:tbl>
          </a:graphicData>
        </a:graphic>
      </p:graphicFrame>
    </p:spTree>
    <p:extLst>
      <p:ext uri="{BB962C8B-B14F-4D97-AF65-F5344CB8AC3E}">
        <p14:creationId xmlns:p14="http://schemas.microsoft.com/office/powerpoint/2010/main" val="2041598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2" name="T">
            <a:extLst>
              <a:ext uri="{FF2B5EF4-FFF2-40B4-BE49-F238E27FC236}">
                <a16:creationId xmlns:a16="http://schemas.microsoft.com/office/drawing/2014/main" id="{65A515BC-714D-4CB7-9623-938FAEAB8E63}"/>
              </a:ext>
            </a:extLst>
          </p:cNvPr>
          <p:cNvSpPr txBox="1"/>
          <p:nvPr/>
        </p:nvSpPr>
        <p:spPr>
          <a:xfrm>
            <a:off x="457200" y="355600"/>
            <a:ext cx="6985000" cy="457200"/>
          </a:xfrm>
          <a:prstGeom prst="rect">
            <a:avLst/>
          </a:prstGeom>
          <a:noFill/>
          <a:ln>
            <a:noFill/>
          </a:ln>
        </p:spPr>
        <p:txBody>
          <a:bodyPr vertOverflow="overflow" vert="horz" wrap="square" rtlCol="0" anchor="t">
            <a:noAutofit/>
          </a:bodyPr>
          <a:lstStyle/>
          <a:p>
            <a:pPr algn="l"/>
            <a:r>
              <a:rPr lang="en-IN" sz="2400" b="1">
                <a:solidFill>
                  <a:srgbClr val="0D1B3E"/>
                </a:solidFill>
                <a:latin typeface="Segoe UI"/>
                <a:cs typeface="Segoe UI"/>
              </a:rPr>
              <a:t>Integration Layer</a:t>
            </a:r>
          </a:p>
        </p:txBody>
      </p:sp>
      <p:sp>
        <p:nvSpPr>
          <p:cNvPr id="3" name="ST">
            <a:extLst>
              <a:ext uri="{FF2B5EF4-FFF2-40B4-BE49-F238E27FC236}">
                <a16:creationId xmlns:a16="http://schemas.microsoft.com/office/drawing/2014/main" id="{6B15CB94-6B25-4203-AA71-DA26E7676E40}"/>
              </a:ext>
            </a:extLst>
          </p:cNvPr>
          <p:cNvSpPr txBox="1"/>
          <p:nvPr/>
        </p:nvSpPr>
        <p:spPr>
          <a:xfrm>
            <a:off x="457200" y="838200"/>
            <a:ext cx="6985000" cy="254000"/>
          </a:xfrm>
          <a:prstGeom prst="rect">
            <a:avLst/>
          </a:prstGeom>
          <a:noFill/>
          <a:ln>
            <a:noFill/>
          </a:ln>
        </p:spPr>
        <p:txBody>
          <a:bodyPr vertOverflow="overflow" vert="horz" wrap="square" rtlCol="0" anchor="t">
            <a:noAutofit/>
          </a:bodyPr>
          <a:lstStyle/>
          <a:p>
            <a:pPr algn="l"/>
            <a:r>
              <a:rPr lang="en-US" sz="1400">
                <a:solidFill>
                  <a:srgbClr val="5A6577"/>
                </a:solidFill>
                <a:latin typeface="Segoe UI"/>
                <a:cs typeface="Segoe UI"/>
              </a:rPr>
              <a:t>Non-agent services connecting VQMS to external platforms</a:t>
            </a:r>
            <a:endParaRPr lang="en-IN" sz="1400">
              <a:solidFill>
                <a:srgbClr val="5A6577"/>
              </a:solidFill>
              <a:latin typeface="Segoe UI"/>
              <a:cs typeface="Segoe UI"/>
            </a:endParaRPr>
          </a:p>
        </p:txBody>
      </p:sp>
      <p:cxnSp>
        <p:nvCxnSpPr>
          <p:cNvPr id="4" name="Sep">
            <a:extLst>
              <a:ext uri="{FF2B5EF4-FFF2-40B4-BE49-F238E27FC236}">
                <a16:creationId xmlns:a16="http://schemas.microsoft.com/office/drawing/2014/main" id="{9A75EBEC-D6B9-4F7B-99CB-625BE35D16C1}"/>
              </a:ext>
            </a:extLst>
          </p:cNvPr>
          <p:cNvCxnSpPr/>
          <p:nvPr/>
        </p:nvCxnSpPr>
        <p:spPr>
          <a:xfrm>
            <a:off x="457200" y="1143000"/>
            <a:ext cx="9448800" cy="0"/>
          </a:xfrm>
          <a:prstGeom prst="straightConnector1">
            <a:avLst/>
          </a:prstGeom>
          <a:ln w="12700" cap="flat" cmpd="sng" algn="ctr">
            <a:solidFill>
              <a:srgbClr val="D0D8E8"/>
            </a:solidFill>
          </a:ln>
        </p:spPr>
        <p:style>
          <a:lnRef idx="2">
            <a:schemeClr val="accent1"/>
          </a:lnRef>
          <a:fillRef idx="0">
            <a:schemeClr val="accent1"/>
          </a:fillRef>
          <a:effectRef idx="1">
            <a:schemeClr val="accent1"/>
          </a:effectRef>
          <a:fontRef idx="minor">
            <a:schemeClr val="tx1"/>
          </a:fontRef>
        </p:style>
      </p:cxnSp>
      <p:sp>
        <p:nvSpPr>
          <p:cNvPr id="5" name="OH">
            <a:extLst>
              <a:ext uri="{FF2B5EF4-FFF2-40B4-BE49-F238E27FC236}">
                <a16:creationId xmlns:a16="http://schemas.microsoft.com/office/drawing/2014/main" id="{91607073-18B2-47F0-8F2F-41C444256F86}"/>
              </a:ext>
            </a:extLst>
          </p:cNvPr>
          <p:cNvSpPr txBox="1"/>
          <p:nvPr/>
        </p:nvSpPr>
        <p:spPr>
          <a:xfrm>
            <a:off x="558800" y="1270000"/>
            <a:ext cx="1905000" cy="254000"/>
          </a:xfrm>
          <a:prstGeom prst="rect">
            <a:avLst/>
          </a:prstGeom>
          <a:noFill/>
          <a:ln>
            <a:noFill/>
          </a:ln>
        </p:spPr>
        <p:txBody>
          <a:bodyPr vertOverflow="overflow" vert="horz" wrap="square" rtlCol="0" anchor="t">
            <a:noAutofit/>
          </a:bodyPr>
          <a:lstStyle/>
          <a:p>
            <a:pPr algn="l"/>
            <a:r>
              <a:rPr lang="en-IN" sz="1400" b="1">
                <a:solidFill>
                  <a:srgbClr val="1257A8"/>
                </a:solidFill>
                <a:latin typeface="Segoe UI"/>
                <a:cs typeface="Segoe UI"/>
              </a:rPr>
              <a:t>Overview</a:t>
            </a:r>
          </a:p>
        </p:txBody>
      </p:sp>
      <p:sp>
        <p:nvSpPr>
          <p:cNvPr id="6" name="OT">
            <a:extLst>
              <a:ext uri="{FF2B5EF4-FFF2-40B4-BE49-F238E27FC236}">
                <a16:creationId xmlns:a16="http://schemas.microsoft.com/office/drawing/2014/main" id="{66446E8E-3BAC-4C31-A521-2E691B37E22F}"/>
              </a:ext>
            </a:extLst>
          </p:cNvPr>
          <p:cNvSpPr txBox="1"/>
          <p:nvPr/>
        </p:nvSpPr>
        <p:spPr>
          <a:xfrm>
            <a:off x="558800" y="1549400"/>
            <a:ext cx="4622800" cy="1841500"/>
          </a:xfrm>
          <a:prstGeom prst="rect">
            <a:avLst/>
          </a:prstGeom>
          <a:noFill/>
          <a:ln>
            <a:noFill/>
          </a:ln>
        </p:spPr>
        <p:txBody>
          <a:bodyPr vertOverflow="overflow" vert="horz" wrap="square" rtlCol="0" anchor="t">
            <a:noAutofit/>
          </a:bodyPr>
          <a:lstStyle/>
          <a:p>
            <a:pPr algn="l">
              <a:lnSpc>
                <a:spcPts val="1600"/>
              </a:lnSpc>
              <a:buNone/>
            </a:pPr>
            <a:r>
              <a:rPr lang="en-US" sz="1200" dirty="0">
                <a:solidFill>
                  <a:srgbClr val="444D5C"/>
                </a:solidFill>
                <a:latin typeface="Segoe UI"/>
              </a:rPr>
              <a:t>The Integration Layer contains non-agent services that connect VQMS to external systems. These are traditional API-based services — not AI-powered — handling operations like syncing tickets with ServiceNow, pushing updates to Salesforce, and ingesting emails from Exchange or Google. The Orchestration Layer dispatches tasks here just like it does with agents, but these services execute deterministic logic rather than LLM calls.</a:t>
            </a:r>
          </a:p>
        </p:txBody>
      </p:sp>
      <p:sp>
        <p:nvSpPr>
          <p:cNvPr id="7" name="KH">
            <a:extLst>
              <a:ext uri="{FF2B5EF4-FFF2-40B4-BE49-F238E27FC236}">
                <a16:creationId xmlns:a16="http://schemas.microsoft.com/office/drawing/2014/main" id="{BBCC38C6-3678-4FB4-89CB-B16EAEBD489E}"/>
              </a:ext>
            </a:extLst>
          </p:cNvPr>
          <p:cNvSpPr txBox="1"/>
          <p:nvPr/>
        </p:nvSpPr>
        <p:spPr>
          <a:xfrm>
            <a:off x="558800" y="3556000"/>
            <a:ext cx="2540000" cy="254000"/>
          </a:xfrm>
          <a:prstGeom prst="rect">
            <a:avLst/>
          </a:prstGeom>
          <a:noFill/>
          <a:ln>
            <a:noFill/>
          </a:ln>
        </p:spPr>
        <p:txBody>
          <a:bodyPr vertOverflow="overflow" vert="horz" wrap="square" rtlCol="0" anchor="t">
            <a:noAutofit/>
          </a:bodyPr>
          <a:lstStyle/>
          <a:p>
            <a:pPr algn="l"/>
            <a:r>
              <a:rPr lang="en-IN" sz="1400" b="1">
                <a:solidFill>
                  <a:srgbClr val="1257A8"/>
                </a:solidFill>
                <a:latin typeface="Segoe UI"/>
                <a:cs typeface="Segoe UI"/>
              </a:rPr>
              <a:t>Key Components</a:t>
            </a:r>
          </a:p>
        </p:txBody>
      </p:sp>
      <p:sp>
        <p:nvSpPr>
          <p:cNvPr id="8" name="KT">
            <a:extLst>
              <a:ext uri="{FF2B5EF4-FFF2-40B4-BE49-F238E27FC236}">
                <a16:creationId xmlns:a16="http://schemas.microsoft.com/office/drawing/2014/main" id="{15A20BF7-B12B-4F25-AD24-CA767F7ECBA4}"/>
              </a:ext>
            </a:extLst>
          </p:cNvPr>
          <p:cNvSpPr txBox="1"/>
          <p:nvPr/>
        </p:nvSpPr>
        <p:spPr>
          <a:xfrm>
            <a:off x="558800" y="3835400"/>
            <a:ext cx="4622800" cy="1569660"/>
          </a:xfrm>
          <a:prstGeom prst="rect">
            <a:avLst/>
          </a:prstGeom>
          <a:noFill/>
          <a:ln>
            <a:noFill/>
          </a:ln>
        </p:spPr>
        <p:txBody>
          <a:bodyPr vertOverflow="overflow" vert="horz" wrap="square" rtlCol="0" anchor="t">
            <a:spAutoFit/>
          </a:bodyPr>
          <a:lstStyle/>
          <a:p>
            <a:pPr marL="171450" indent="-171450">
              <a:buFont typeface="Arial"/>
              <a:buChar char="•"/>
            </a:pPr>
            <a:r>
              <a:rPr lang="en-US" sz="1200" b="1" dirty="0">
                <a:solidFill>
                  <a:srgbClr val="0D1B3E"/>
                </a:solidFill>
                <a:latin typeface="Segoe UI Semibold"/>
              </a:rPr>
              <a:t>Email Ingestion Service</a:t>
            </a:r>
            <a:r>
              <a:rPr lang="en-US" sz="1200" dirty="0">
                <a:solidFill>
                  <a:srgbClr val="444D5C"/>
                </a:solidFill>
                <a:latin typeface="Segoe UI"/>
              </a:rPr>
              <a:t> — Parses inbound emails from Exchange or Google, detects threads, filters spam</a:t>
            </a:r>
          </a:p>
          <a:p>
            <a:pPr marL="171450" indent="-171450">
              <a:buFont typeface="Arial"/>
              <a:buChar char="•"/>
            </a:pPr>
            <a:r>
              <a:rPr lang="en-US" sz="1200" b="1" dirty="0">
                <a:solidFill>
                  <a:srgbClr val="0D1B3E"/>
                </a:solidFill>
                <a:latin typeface="Segoe UI Semibold"/>
              </a:rPr>
              <a:t>Vendor Resolution Service</a:t>
            </a:r>
            <a:r>
              <a:rPr lang="en-US" sz="1200" dirty="0">
                <a:solidFill>
                  <a:srgbClr val="444D5C"/>
                </a:solidFill>
                <a:latin typeface="Segoe UI"/>
              </a:rPr>
              <a:t> — 3-step matching cascade against Salesforce to identify vendor profile, tier, and SLA terms</a:t>
            </a:r>
          </a:p>
          <a:p>
            <a:pPr marL="171450" indent="-171450">
              <a:buFont typeface="Arial"/>
              <a:buChar char="•"/>
            </a:pPr>
            <a:r>
              <a:rPr lang="en-US" sz="1200" b="1" dirty="0">
                <a:solidFill>
                  <a:srgbClr val="0D1B3E"/>
                </a:solidFill>
                <a:latin typeface="Segoe UI Semibold"/>
              </a:rPr>
              <a:t>Ticket Operations Service</a:t>
            </a:r>
            <a:r>
              <a:rPr lang="en-US" sz="1200" dirty="0">
                <a:solidFill>
                  <a:srgbClr val="444D5C"/>
                </a:solidFill>
                <a:latin typeface="Segoe UI"/>
              </a:rPr>
              <a:t> — ServiceNow CRUD: create, update, state transitions, SLA clock management</a:t>
            </a:r>
          </a:p>
          <a:p>
            <a:pPr marL="171450" indent="-171450">
              <a:buFont typeface="Arial"/>
              <a:buChar char="•"/>
            </a:pPr>
            <a:r>
              <a:rPr lang="en-US" sz="1200" b="1" dirty="0">
                <a:solidFill>
                  <a:srgbClr val="0D1B3E"/>
                </a:solidFill>
                <a:latin typeface="Segoe UI Semibold"/>
              </a:rPr>
              <a:t>Monitoring &amp; SLA Alerting</a:t>
            </a:r>
            <a:r>
              <a:rPr lang="en-US" sz="1200" dirty="0">
                <a:solidFill>
                  <a:srgbClr val="444D5C"/>
                </a:solidFill>
                <a:latin typeface="Segoe UI"/>
              </a:rPr>
              <a:t> — SLA timers at 70/85/95%, cross-vendor pattern detection, agent health</a:t>
            </a:r>
          </a:p>
        </p:txBody>
      </p:sp>
      <p:sp>
        <p:nvSpPr>
          <p:cNvPr id="9" name="Pill">
            <a:extLst>
              <a:ext uri="{FF2B5EF4-FFF2-40B4-BE49-F238E27FC236}">
                <a16:creationId xmlns:a16="http://schemas.microsoft.com/office/drawing/2014/main" id="{BD00CE0A-5D38-4C78-9083-D85004619268}"/>
              </a:ext>
            </a:extLst>
          </p:cNvPr>
          <p:cNvSpPr/>
          <p:nvPr/>
        </p:nvSpPr>
        <p:spPr>
          <a:xfrm>
            <a:off x="10490200" y="355600"/>
            <a:ext cx="1016000" cy="355600"/>
          </a:xfrm>
          <a:prstGeom prst="roundRect">
            <a:avLst>
              <a:gd name="adj" fmla="val 16667"/>
            </a:avLst>
          </a:prstGeom>
          <a:solidFill>
            <a:srgbClr val="1565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latin typeface="Segoe UI"/>
                <a:cs typeface="Segoe UI"/>
              </a:rPr>
              <a:t>Layer 6</a:t>
            </a:r>
          </a:p>
        </p:txBody>
      </p:sp>
      <p:sp>
        <p:nvSpPr>
          <p:cNvPr id="10" name="Ftr">
            <a:extLst>
              <a:ext uri="{FF2B5EF4-FFF2-40B4-BE49-F238E27FC236}">
                <a16:creationId xmlns:a16="http://schemas.microsoft.com/office/drawing/2014/main" id="{1B295859-0A79-49E2-B6A8-C54490569A17}"/>
              </a:ext>
            </a:extLst>
          </p:cNvPr>
          <p:cNvSpPr txBox="1"/>
          <p:nvPr/>
        </p:nvSpPr>
        <p:spPr>
          <a:xfrm>
            <a:off x="457200" y="6451600"/>
            <a:ext cx="5080000" cy="203200"/>
          </a:xfrm>
          <a:prstGeom prst="rect">
            <a:avLst/>
          </a:prstGeom>
          <a:noFill/>
          <a:ln>
            <a:noFill/>
          </a:ln>
        </p:spPr>
        <p:txBody>
          <a:bodyPr vertOverflow="overflow" vert="horz" wrap="square" rtlCol="0" anchor="t">
            <a:noAutofit/>
          </a:bodyPr>
          <a:lstStyle/>
          <a:p>
            <a:pPr algn="l"/>
            <a:r>
              <a:rPr lang="en-IN" sz="800">
                <a:solidFill>
                  <a:srgbClr val="9BA4B0"/>
                </a:solidFill>
                <a:latin typeface="Segoe UI"/>
                <a:cs typeface="Segoe UI"/>
              </a:rPr>
              <a:t>© Hexaware Technologies. Confidential Briefing</a:t>
            </a:r>
          </a:p>
        </p:txBody>
      </p:sp>
      <p:sp>
        <p:nvSpPr>
          <p:cNvPr id="51" name="LISh"/>
          <p:cNvSpPr/>
          <p:nvPr/>
        </p:nvSpPr>
        <p:spPr>
          <a:xfrm>
            <a:off x="5511800" y="3048000"/>
            <a:ext cx="4419600" cy="1905000"/>
          </a:xfrm>
          <a:prstGeom prst="roundRect">
            <a:avLst>
              <a:gd name="adj" fmla="val 5000"/>
            </a:avLst>
          </a:prstGeom>
          <a:solidFill>
            <a:srgbClr val="E0E4EC">
              <a:alpha val="50000"/>
            </a:srgbClr>
          </a:solidFill>
          <a:ln>
            <a:noFill/>
          </a:ln>
        </p:spPr>
        <p:txBody>
          <a:bodyPr/>
          <a:lstStyle/>
          <a:p>
            <a:endParaRPr lang="en-US"/>
          </a:p>
        </p:txBody>
      </p:sp>
      <p:sp>
        <p:nvSpPr>
          <p:cNvPr id="14" name="LIBx">
            <a:extLst>
              <a:ext uri="{FF2B5EF4-FFF2-40B4-BE49-F238E27FC236}">
                <a16:creationId xmlns:a16="http://schemas.microsoft.com/office/drawing/2014/main" id="{3DC8B652-5C31-4D52-9663-C84CA7796CD3}"/>
              </a:ext>
            </a:extLst>
          </p:cNvPr>
          <p:cNvSpPr/>
          <p:nvPr/>
        </p:nvSpPr>
        <p:spPr>
          <a:xfrm>
            <a:off x="5486400" y="3022600"/>
            <a:ext cx="4419600" cy="1905000"/>
          </a:xfrm>
          <a:prstGeom prst="roundRect">
            <a:avLst>
              <a:gd name="adj" fmla="val 5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LIHd">
            <a:extLst>
              <a:ext uri="{FF2B5EF4-FFF2-40B4-BE49-F238E27FC236}">
                <a16:creationId xmlns:a16="http://schemas.microsoft.com/office/drawing/2014/main" id="{82DA0B76-D3DD-46F8-A6BE-A8242FE795CC}"/>
              </a:ext>
            </a:extLst>
          </p:cNvPr>
          <p:cNvSpPr/>
          <p:nvPr/>
        </p:nvSpPr>
        <p:spPr>
          <a:xfrm>
            <a:off x="5486400" y="3022600"/>
            <a:ext cx="4419600" cy="355600"/>
          </a:xfrm>
          <a:prstGeom prst="roundRect">
            <a:avLst>
              <a:gd name="adj" fmla="val 5000"/>
            </a:avLst>
          </a:prstGeom>
          <a:solidFill>
            <a:srgbClr val="1565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latin typeface="Segoe UI"/>
                <a:cs typeface="Segoe UI"/>
              </a:rPr>
              <a:t>Layer Interactions</a:t>
            </a:r>
          </a:p>
        </p:txBody>
      </p:sp>
      <p:sp>
        <p:nvSpPr>
          <p:cNvPr id="16" name="LITx">
            <a:extLst>
              <a:ext uri="{FF2B5EF4-FFF2-40B4-BE49-F238E27FC236}">
                <a16:creationId xmlns:a16="http://schemas.microsoft.com/office/drawing/2014/main" id="{9CAD2077-177C-4B25-8DDA-60E75FE0C433}"/>
              </a:ext>
            </a:extLst>
          </p:cNvPr>
          <p:cNvSpPr txBox="1"/>
          <p:nvPr/>
        </p:nvSpPr>
        <p:spPr>
          <a:xfrm>
            <a:off x="5638800" y="3429000"/>
            <a:ext cx="4114800" cy="1015663"/>
          </a:xfrm>
          <a:prstGeom prst="rect">
            <a:avLst/>
          </a:prstGeom>
          <a:noFill/>
          <a:ln>
            <a:noFill/>
          </a:ln>
        </p:spPr>
        <p:txBody>
          <a:bodyPr vertOverflow="overflow" vert="horz" wrap="square" rtlCol="0" anchor="t">
            <a:spAutoFit/>
          </a:bodyPr>
          <a:lstStyle/>
          <a:p>
            <a:pPr marL="171450" indent="-171450">
              <a:buFont typeface="Arial"/>
              <a:buChar char="▸"/>
            </a:pPr>
            <a:r>
              <a:rPr lang="en-US" sz="1200" dirty="0">
                <a:solidFill>
                  <a:srgbClr val="2D3648"/>
                </a:solidFill>
                <a:latin typeface="Segoe UI"/>
              </a:rPr>
              <a:t>Receives task dispatches from the Orchestration Layer</a:t>
            </a:r>
          </a:p>
          <a:p>
            <a:pPr marL="171450" indent="-171450">
              <a:buFont typeface="Arial"/>
              <a:buChar char="▸"/>
            </a:pPr>
            <a:r>
              <a:rPr lang="en-US" sz="1200" dirty="0">
                <a:solidFill>
                  <a:srgbClr val="2D3648"/>
                </a:solidFill>
                <a:latin typeface="Segoe UI"/>
              </a:rPr>
              <a:t>Pushes ticket updates to ServiceNow via Ticket Ops Service</a:t>
            </a:r>
          </a:p>
          <a:p>
            <a:pPr marL="171450" indent="-171450">
              <a:buFont typeface="Arial"/>
              <a:buChar char="▸"/>
            </a:pPr>
            <a:r>
              <a:rPr lang="en-US" sz="1200" dirty="0">
                <a:solidFill>
                  <a:srgbClr val="2D3648"/>
                </a:solidFill>
                <a:latin typeface="Segoe UI"/>
              </a:rPr>
              <a:t>Monitoring fires SLA alerts to Orchestration Agent</a:t>
            </a:r>
          </a:p>
          <a:p>
            <a:pPr marL="171450" indent="-171450">
              <a:buFont typeface="Arial"/>
              <a:buChar char="▸"/>
            </a:pPr>
            <a:r>
              <a:rPr lang="en-US" sz="1200" dirty="0">
                <a:solidFill>
                  <a:srgbClr val="2D3648"/>
                </a:solidFill>
                <a:latin typeface="Segoe UI"/>
              </a:rPr>
              <a:t>Writes results back to the Data &amp; Storage Layer</a:t>
            </a:r>
          </a:p>
        </p:txBody>
      </p:sp>
      <p:sp>
        <p:nvSpPr>
          <p:cNvPr id="17" name="FH">
            <a:extLst>
              <a:ext uri="{FF2B5EF4-FFF2-40B4-BE49-F238E27FC236}">
                <a16:creationId xmlns:a16="http://schemas.microsoft.com/office/drawing/2014/main" id="{1626EE6C-1D84-418D-BAAF-55B82ADE90DA}"/>
              </a:ext>
            </a:extLst>
          </p:cNvPr>
          <p:cNvSpPr txBox="1"/>
          <p:nvPr/>
        </p:nvSpPr>
        <p:spPr>
          <a:xfrm>
            <a:off x="10109200" y="1270000"/>
            <a:ext cx="1778000" cy="279400"/>
          </a:xfrm>
          <a:prstGeom prst="rect">
            <a:avLst/>
          </a:prstGeom>
          <a:noFill/>
          <a:ln>
            <a:noFill/>
          </a:ln>
        </p:spPr>
        <p:txBody>
          <a:bodyPr vertOverflow="overflow" vert="horz" wrap="square" rtlCol="0" anchor="t">
            <a:noAutofit/>
          </a:bodyPr>
          <a:lstStyle/>
          <a:p>
            <a:pPr algn="l"/>
            <a:r>
              <a:rPr lang="en-IN" sz="1100" b="1">
                <a:solidFill>
                  <a:srgbClr val="5A6577"/>
                </a:solidFill>
                <a:latin typeface="Segoe UI"/>
                <a:cs typeface="Segoe UI"/>
              </a:rPr>
              <a:t>Architecture Flow</a:t>
            </a:r>
          </a:p>
        </p:txBody>
      </p:sp>
      <p:sp>
        <p:nvSpPr>
          <p:cNvPr id="18" name="F0">
            <a:extLst>
              <a:ext uri="{FF2B5EF4-FFF2-40B4-BE49-F238E27FC236}">
                <a16:creationId xmlns:a16="http://schemas.microsoft.com/office/drawing/2014/main" id="{DD5EAC19-A719-41D5-A195-86CF31B60A64}"/>
              </a:ext>
            </a:extLst>
          </p:cNvPr>
          <p:cNvSpPr/>
          <p:nvPr/>
        </p:nvSpPr>
        <p:spPr>
          <a:xfrm>
            <a:off x="10109200" y="1625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Presentation</a:t>
            </a:r>
          </a:p>
        </p:txBody>
      </p:sp>
      <p:sp>
        <p:nvSpPr>
          <p:cNvPr id="19" name="F1">
            <a:extLst>
              <a:ext uri="{FF2B5EF4-FFF2-40B4-BE49-F238E27FC236}">
                <a16:creationId xmlns:a16="http://schemas.microsoft.com/office/drawing/2014/main" id="{5489C1A0-8F74-4260-B6FD-7E804D266EC3}"/>
              </a:ext>
            </a:extLst>
          </p:cNvPr>
          <p:cNvSpPr/>
          <p:nvPr/>
        </p:nvSpPr>
        <p:spPr>
          <a:xfrm>
            <a:off x="10109200" y="2133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API Gateway &amp; Auth</a:t>
            </a:r>
          </a:p>
        </p:txBody>
      </p:sp>
      <p:sp>
        <p:nvSpPr>
          <p:cNvPr id="20" name="F2">
            <a:extLst>
              <a:ext uri="{FF2B5EF4-FFF2-40B4-BE49-F238E27FC236}">
                <a16:creationId xmlns:a16="http://schemas.microsoft.com/office/drawing/2014/main" id="{4B99E120-B696-4D59-9B72-599A4C554303}"/>
              </a:ext>
            </a:extLst>
          </p:cNvPr>
          <p:cNvSpPr/>
          <p:nvPr/>
        </p:nvSpPr>
        <p:spPr>
          <a:xfrm>
            <a:off x="10109200" y="2641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Orchestration</a:t>
            </a:r>
          </a:p>
        </p:txBody>
      </p:sp>
      <p:sp>
        <p:nvSpPr>
          <p:cNvPr id="21" name="F3">
            <a:extLst>
              <a:ext uri="{FF2B5EF4-FFF2-40B4-BE49-F238E27FC236}">
                <a16:creationId xmlns:a16="http://schemas.microsoft.com/office/drawing/2014/main" id="{472EC779-1556-4680-B2D6-87853C7B29EE}"/>
              </a:ext>
            </a:extLst>
          </p:cNvPr>
          <p:cNvSpPr/>
          <p:nvPr/>
        </p:nvSpPr>
        <p:spPr>
          <a:xfrm>
            <a:off x="10109200" y="3149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Security &amp; Gov.</a:t>
            </a:r>
          </a:p>
        </p:txBody>
      </p:sp>
      <p:sp>
        <p:nvSpPr>
          <p:cNvPr id="22" name="F4">
            <a:extLst>
              <a:ext uri="{FF2B5EF4-FFF2-40B4-BE49-F238E27FC236}">
                <a16:creationId xmlns:a16="http://schemas.microsoft.com/office/drawing/2014/main" id="{0C54062E-94E6-4C0E-A18D-EF93BC0FBED9}"/>
              </a:ext>
            </a:extLst>
          </p:cNvPr>
          <p:cNvSpPr/>
          <p:nvPr/>
        </p:nvSpPr>
        <p:spPr>
          <a:xfrm>
            <a:off x="10109200" y="3657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Agent Services</a:t>
            </a:r>
          </a:p>
        </p:txBody>
      </p:sp>
      <p:sp>
        <p:nvSpPr>
          <p:cNvPr id="23" name="F5">
            <a:extLst>
              <a:ext uri="{FF2B5EF4-FFF2-40B4-BE49-F238E27FC236}">
                <a16:creationId xmlns:a16="http://schemas.microsoft.com/office/drawing/2014/main" id="{2B29C672-BBE1-458E-BB9A-A70B00C99B08}"/>
              </a:ext>
            </a:extLst>
          </p:cNvPr>
          <p:cNvSpPr/>
          <p:nvPr/>
        </p:nvSpPr>
        <p:spPr>
          <a:xfrm>
            <a:off x="10109200" y="4165600"/>
            <a:ext cx="1727200" cy="406400"/>
          </a:xfrm>
          <a:prstGeom prst="roundRect">
            <a:avLst>
              <a:gd name="adj" fmla="val 10000"/>
            </a:avLst>
          </a:prstGeom>
          <a:solidFill>
            <a:srgbClr val="1565C0"/>
          </a:solidFill>
          <a:ln w="9525" cap="flat" cmpd="sng" algn="ctr">
            <a:solidFill>
              <a:srgbClr val="1565C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b="1">
                <a:solidFill>
                  <a:srgbClr val="FFFFFF"/>
                </a:solidFill>
                <a:latin typeface="Segoe UI"/>
                <a:cs typeface="Segoe UI"/>
              </a:rPr>
              <a:t>▶  Integration</a:t>
            </a:r>
          </a:p>
        </p:txBody>
      </p:sp>
      <p:sp>
        <p:nvSpPr>
          <p:cNvPr id="24" name="F6">
            <a:extLst>
              <a:ext uri="{FF2B5EF4-FFF2-40B4-BE49-F238E27FC236}">
                <a16:creationId xmlns:a16="http://schemas.microsoft.com/office/drawing/2014/main" id="{E8AA4107-4EE2-4D3E-8D1F-2B9B9C9A0E9A}"/>
              </a:ext>
            </a:extLst>
          </p:cNvPr>
          <p:cNvSpPr/>
          <p:nvPr/>
        </p:nvSpPr>
        <p:spPr>
          <a:xfrm>
            <a:off x="10109200" y="4673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Data &amp; Storage</a:t>
            </a:r>
          </a:p>
        </p:txBody>
      </p:sp>
      <p:sp>
        <p:nvSpPr>
          <p:cNvPr id="52" name="OvA"/>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53" name="KCA"/>
          <p:cNvSpPr/>
          <p:nvPr/>
        </p:nvSpPr>
        <p:spPr>
          <a:xfrm>
            <a:off x="457200" y="3581400"/>
            <a:ext cx="50800" cy="203200"/>
          </a:xfrm>
          <a:prstGeom prst="roundRect">
            <a:avLst>
              <a:gd name="adj" fmla="val 16667"/>
            </a:avLst>
          </a:prstGeom>
          <a:solidFill>
            <a:srgbClr val="1565C0"/>
          </a:solidFill>
          <a:ln>
            <a:noFill/>
          </a:ln>
        </p:spPr>
        <p:txBody>
          <a:bodyPr/>
          <a:lstStyle/>
          <a:p>
            <a:endParaRPr lang="en-US"/>
          </a:p>
        </p:txBody>
      </p:sp>
      <p:sp>
        <p:nvSpPr>
          <p:cNvPr id="29" name="Rectangle: Rounded Corners 28">
            <a:extLst>
              <a:ext uri="{FF2B5EF4-FFF2-40B4-BE49-F238E27FC236}">
                <a16:creationId xmlns:a16="http://schemas.microsoft.com/office/drawing/2014/main" id="{73E8A377-7B22-4E05-8629-08429CCCD355}"/>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0" name="TextBox 29">
            <a:extLst>
              <a:ext uri="{FF2B5EF4-FFF2-40B4-BE49-F238E27FC236}">
                <a16:creationId xmlns:a16="http://schemas.microsoft.com/office/drawing/2014/main" id="{A90F2C50-D30A-407A-9632-CBE7B4866356}"/>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graphicFrame>
        <p:nvGraphicFramePr>
          <p:cNvPr id="32" name="Table 31">
            <a:extLst>
              <a:ext uri="{FF2B5EF4-FFF2-40B4-BE49-F238E27FC236}">
                <a16:creationId xmlns:a16="http://schemas.microsoft.com/office/drawing/2014/main" id="{650164A0-89AD-46B9-8793-70521C1EEE81}"/>
              </a:ext>
            </a:extLst>
          </p:cNvPr>
          <p:cNvGraphicFramePr>
            <a:graphicFrameLocks noGrp="1"/>
          </p:cNvGraphicFramePr>
          <p:nvPr>
            <p:extLst>
              <p:ext uri="{D42A27DB-BD31-4B8C-83A1-F6EECF244321}">
                <p14:modId xmlns:p14="http://schemas.microsoft.com/office/powerpoint/2010/main" val="245304297"/>
              </p:ext>
            </p:extLst>
          </p:nvPr>
        </p:nvGraphicFramePr>
        <p:xfrm>
          <a:off x="5486400" y="1600200"/>
          <a:ext cx="4419600" cy="1295400"/>
        </p:xfrm>
        <a:graphic>
          <a:graphicData uri="http://schemas.openxmlformats.org/drawingml/2006/table">
            <a:tbl>
              <a:tblPr firstRow="1" bandRow="1">
                <a:tableStyleId>{5C22544A-7EE6-4342-B048-85BDC9FD1C3A}</a:tableStyleId>
              </a:tblPr>
              <a:tblGrid>
                <a:gridCol w="1458468">
                  <a:extLst>
                    <a:ext uri="{9D8B030D-6E8A-4147-A177-3AD203B41FA5}">
                      <a16:colId xmlns:a16="http://schemas.microsoft.com/office/drawing/2014/main" val="2293310637"/>
                    </a:ext>
                  </a:extLst>
                </a:gridCol>
                <a:gridCol w="1635252">
                  <a:extLst>
                    <a:ext uri="{9D8B030D-6E8A-4147-A177-3AD203B41FA5}">
                      <a16:colId xmlns:a16="http://schemas.microsoft.com/office/drawing/2014/main" val="4026668248"/>
                    </a:ext>
                  </a:extLst>
                </a:gridCol>
                <a:gridCol w="1325880">
                  <a:extLst>
                    <a:ext uri="{9D8B030D-6E8A-4147-A177-3AD203B41FA5}">
                      <a16:colId xmlns:a16="http://schemas.microsoft.com/office/drawing/2014/main" val="2120423280"/>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A3F6F"/>
                    </a:solidFill>
                  </a:tcPr>
                </a:tc>
                <a:tc>
                  <a:txBody>
                    <a:bodyPr/>
                    <a:lstStyle/>
                    <a:p>
                      <a:pPr algn="ctr"/>
                      <a:r>
                        <a:rPr lang="en-IN" sz="1000" b="1">
                          <a:solidFill>
                            <a:srgbClr val="FFFFFF"/>
                          </a:solidFill>
                          <a:latin typeface="Segoe UI Semibold"/>
                          <a:cs typeface="Segoe UI Semibold"/>
                        </a:rPr>
                        <a:t>Open Source</a:t>
                      </a:r>
                    </a:p>
                  </a:txBody>
                  <a:tcPr anchor="ctr">
                    <a:solidFill>
                      <a:srgbClr val="1A3F6F"/>
                    </a:solidFill>
                  </a:tcPr>
                </a:tc>
                <a:tc>
                  <a:txBody>
                    <a:bodyPr/>
                    <a:lstStyle/>
                    <a:p>
                      <a:pPr algn="ctr"/>
                      <a:r>
                        <a:rPr lang="en-IN" sz="1000" b="1">
                          <a:solidFill>
                            <a:srgbClr val="FFFFFF"/>
                          </a:solidFill>
                          <a:latin typeface="Segoe UI Semibold"/>
                          <a:cs typeface="Segoe UI Semibold"/>
                        </a:rPr>
                        <a:t>Purpose</a:t>
                      </a:r>
                    </a:p>
                  </a:txBody>
                  <a:tcPr anchor="ctr">
                    <a:solidFill>
                      <a:srgbClr val="1A3F6F"/>
                    </a:solidFill>
                  </a:tcPr>
                </a:tc>
                <a:extLst>
                  <a:ext uri="{0D108BD9-81ED-4DB2-BD59-A6C34878D82A}">
                    <a16:rowId xmlns:a16="http://schemas.microsoft.com/office/drawing/2014/main" val="691290522"/>
                  </a:ext>
                </a:extLst>
              </a:tr>
              <a:tr h="330200">
                <a:tc>
                  <a:txBody>
                    <a:bodyPr/>
                    <a:lstStyle/>
                    <a:p>
                      <a:pPr algn="l"/>
                      <a:r>
                        <a:rPr lang="en-IN" sz="900">
                          <a:solidFill>
                            <a:srgbClr val="2D3648"/>
                          </a:solidFill>
                          <a:latin typeface="Segoe UI"/>
                          <a:cs typeface="Segoe UI"/>
                        </a:rPr>
                        <a:t>Lambda</a:t>
                      </a:r>
                    </a:p>
                  </a:txBody>
                  <a:tcPr anchor="ctr">
                    <a:solidFill>
                      <a:srgbClr val="EEF2F7"/>
                    </a:solidFill>
                  </a:tcPr>
                </a:tc>
                <a:tc>
                  <a:txBody>
                    <a:bodyPr/>
                    <a:lstStyle/>
                    <a:p>
                      <a:pPr algn="l"/>
                      <a:r>
                        <a:rPr lang="en-IN" sz="900">
                          <a:solidFill>
                            <a:srgbClr val="2D3648"/>
                          </a:solidFill>
                          <a:latin typeface="Segoe UI"/>
                          <a:cs typeface="Segoe UI"/>
                        </a:rPr>
                        <a:t>FastAPI</a:t>
                      </a:r>
                    </a:p>
                  </a:txBody>
                  <a:tcPr anchor="ctr">
                    <a:solidFill>
                      <a:srgbClr val="EEF2F7"/>
                    </a:solidFill>
                  </a:tcPr>
                </a:tc>
                <a:tc>
                  <a:txBody>
                    <a:bodyPr/>
                    <a:lstStyle/>
                    <a:p>
                      <a:pPr algn="l"/>
                      <a:r>
                        <a:rPr lang="en-IN" sz="900">
                          <a:solidFill>
                            <a:srgbClr val="2D3648"/>
                          </a:solidFill>
                          <a:latin typeface="Segoe UI"/>
                          <a:cs typeface="Segoe UI"/>
                        </a:rPr>
                        <a:t>Microservices</a:t>
                      </a:r>
                    </a:p>
                  </a:txBody>
                  <a:tcPr anchor="ctr">
                    <a:solidFill>
                      <a:srgbClr val="EEF2F7"/>
                    </a:solidFill>
                  </a:tcPr>
                </a:tc>
                <a:extLst>
                  <a:ext uri="{0D108BD9-81ED-4DB2-BD59-A6C34878D82A}">
                    <a16:rowId xmlns:a16="http://schemas.microsoft.com/office/drawing/2014/main" val="624712966"/>
                  </a:ext>
                </a:extLst>
              </a:tr>
              <a:tr h="330200">
                <a:tc>
                  <a:txBody>
                    <a:bodyPr/>
                    <a:lstStyle/>
                    <a:p>
                      <a:pPr algn="l"/>
                      <a:r>
                        <a:rPr lang="en-IN" sz="900">
                          <a:solidFill>
                            <a:srgbClr val="2D3648"/>
                          </a:solidFill>
                          <a:latin typeface="Segoe UI"/>
                          <a:cs typeface="Segoe UI"/>
                        </a:rPr>
                        <a:t>ECS Fargate</a:t>
                      </a:r>
                    </a:p>
                  </a:txBody>
                  <a:tcPr anchor="ctr">
                    <a:solidFill>
                      <a:srgbClr val="FFFFFF"/>
                    </a:solidFill>
                  </a:tcPr>
                </a:tc>
                <a:tc>
                  <a:txBody>
                    <a:bodyPr/>
                    <a:lstStyle/>
                    <a:p>
                      <a:pPr algn="l"/>
                      <a:r>
                        <a:rPr lang="en-IN" sz="900">
                          <a:solidFill>
                            <a:srgbClr val="2D3648"/>
                          </a:solidFill>
                          <a:latin typeface="Segoe UI"/>
                          <a:cs typeface="Segoe UI"/>
                        </a:rPr>
                        <a:t>Kubernetes / Docker</a:t>
                      </a:r>
                    </a:p>
                  </a:txBody>
                  <a:tcPr anchor="ctr">
                    <a:solidFill>
                      <a:srgbClr val="FFFFFF"/>
                    </a:solidFill>
                  </a:tcPr>
                </a:tc>
                <a:tc>
                  <a:txBody>
                    <a:bodyPr/>
                    <a:lstStyle/>
                    <a:p>
                      <a:pPr algn="l"/>
                      <a:r>
                        <a:rPr lang="en-IN" sz="900">
                          <a:solidFill>
                            <a:srgbClr val="2D3648"/>
                          </a:solidFill>
                          <a:latin typeface="Segoe UI"/>
                          <a:cs typeface="Segoe UI"/>
                        </a:rPr>
                        <a:t>Container Hosting</a:t>
                      </a:r>
                    </a:p>
                  </a:txBody>
                  <a:tcPr anchor="ctr">
                    <a:solidFill>
                      <a:srgbClr val="FFFFFF"/>
                    </a:solidFill>
                  </a:tcPr>
                </a:tc>
                <a:extLst>
                  <a:ext uri="{0D108BD9-81ED-4DB2-BD59-A6C34878D82A}">
                    <a16:rowId xmlns:a16="http://schemas.microsoft.com/office/drawing/2014/main" val="2308455292"/>
                  </a:ext>
                </a:extLst>
              </a:tr>
              <a:tr h="330200">
                <a:tc>
                  <a:txBody>
                    <a:bodyPr/>
                    <a:lstStyle/>
                    <a:p>
                      <a:pPr algn="l"/>
                      <a:r>
                        <a:rPr lang="en-IN" sz="900">
                          <a:solidFill>
                            <a:srgbClr val="2D3648"/>
                          </a:solidFill>
                          <a:latin typeface="Segoe UI"/>
                          <a:cs typeface="Segoe UI"/>
                        </a:rPr>
                        <a:t>Amazon SES</a:t>
                      </a:r>
                    </a:p>
                  </a:txBody>
                  <a:tcPr anchor="ctr">
                    <a:solidFill>
                      <a:srgbClr val="EEF2F7"/>
                    </a:solidFill>
                  </a:tcPr>
                </a:tc>
                <a:tc>
                  <a:txBody>
                    <a:bodyPr/>
                    <a:lstStyle/>
                    <a:p>
                      <a:pPr algn="l"/>
                      <a:r>
                        <a:rPr lang="en-IN" sz="900">
                          <a:solidFill>
                            <a:srgbClr val="2D3648"/>
                          </a:solidFill>
                          <a:latin typeface="Segoe UI"/>
                          <a:cs typeface="Segoe UI"/>
                        </a:rPr>
                        <a:t>Nodemailer</a:t>
                      </a:r>
                    </a:p>
                  </a:txBody>
                  <a:tcPr anchor="ctr">
                    <a:solidFill>
                      <a:srgbClr val="EEF2F7"/>
                    </a:solidFill>
                  </a:tcPr>
                </a:tc>
                <a:tc>
                  <a:txBody>
                    <a:bodyPr/>
                    <a:lstStyle/>
                    <a:p>
                      <a:pPr algn="l"/>
                      <a:r>
                        <a:rPr lang="en-IN" sz="900">
                          <a:solidFill>
                            <a:srgbClr val="2D3648"/>
                          </a:solidFill>
                          <a:latin typeface="Segoe UI"/>
                          <a:cs typeface="Segoe UI"/>
                        </a:rPr>
                        <a:t>Email Dispatch</a:t>
                      </a:r>
                    </a:p>
                  </a:txBody>
                  <a:tcPr anchor="ctr">
                    <a:solidFill>
                      <a:srgbClr val="EEF2F7"/>
                    </a:solidFill>
                  </a:tcPr>
                </a:tc>
                <a:extLst>
                  <a:ext uri="{0D108BD9-81ED-4DB2-BD59-A6C34878D82A}">
                    <a16:rowId xmlns:a16="http://schemas.microsoft.com/office/drawing/2014/main" val="355380431"/>
                  </a:ext>
                </a:extLst>
              </a:tr>
            </a:tbl>
          </a:graphicData>
        </a:graphic>
      </p:graphicFrame>
    </p:spTree>
    <p:extLst>
      <p:ext uri="{BB962C8B-B14F-4D97-AF65-F5344CB8AC3E}">
        <p14:creationId xmlns:p14="http://schemas.microsoft.com/office/powerpoint/2010/main" val="1938806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AFBFD"/>
            </a:gs>
            <a:gs pos="100000">
              <a:srgbClr val="F0F2F7"/>
            </a:gs>
          </a:gsLst>
          <a:lin ang="5400000" scaled="1"/>
        </a:gradFill>
        <a:effectLst/>
      </p:bgPr>
    </p:bg>
    <p:spTree>
      <p:nvGrpSpPr>
        <p:cNvPr id="1" name=""/>
        <p:cNvGrpSpPr/>
        <p:nvPr/>
      </p:nvGrpSpPr>
      <p:grpSpPr>
        <a:xfrm>
          <a:off x="0" y="0"/>
          <a:ext cx="0" cy="0"/>
          <a:chOff x="0" y="0"/>
          <a:chExt cx="0" cy="0"/>
        </a:xfrm>
      </p:grpSpPr>
      <p:sp>
        <p:nvSpPr>
          <p:cNvPr id="2" name="T">
            <a:extLst>
              <a:ext uri="{FF2B5EF4-FFF2-40B4-BE49-F238E27FC236}">
                <a16:creationId xmlns:a16="http://schemas.microsoft.com/office/drawing/2014/main" id="{3F63EA3B-CB4E-40F2-8DBB-0CF698CFFC57}"/>
              </a:ext>
            </a:extLst>
          </p:cNvPr>
          <p:cNvSpPr txBox="1"/>
          <p:nvPr/>
        </p:nvSpPr>
        <p:spPr>
          <a:xfrm>
            <a:off x="457200" y="355600"/>
            <a:ext cx="6985000" cy="457200"/>
          </a:xfrm>
          <a:prstGeom prst="rect">
            <a:avLst/>
          </a:prstGeom>
          <a:noFill/>
          <a:ln>
            <a:noFill/>
          </a:ln>
        </p:spPr>
        <p:txBody>
          <a:bodyPr vertOverflow="overflow" vert="horz" wrap="square" rtlCol="0" anchor="t">
            <a:noAutofit/>
          </a:bodyPr>
          <a:lstStyle/>
          <a:p>
            <a:pPr algn="l"/>
            <a:r>
              <a:rPr lang="en-IN" sz="2400" b="1">
                <a:solidFill>
                  <a:srgbClr val="0D1B3E"/>
                </a:solidFill>
                <a:latin typeface="Segoe UI"/>
                <a:cs typeface="Segoe UI"/>
              </a:rPr>
              <a:t>Data &amp; Storage Layer</a:t>
            </a:r>
          </a:p>
        </p:txBody>
      </p:sp>
      <p:sp>
        <p:nvSpPr>
          <p:cNvPr id="3" name="ST">
            <a:extLst>
              <a:ext uri="{FF2B5EF4-FFF2-40B4-BE49-F238E27FC236}">
                <a16:creationId xmlns:a16="http://schemas.microsoft.com/office/drawing/2014/main" id="{365D58D9-D863-4842-B3E7-1A22E37C08FD}"/>
              </a:ext>
            </a:extLst>
          </p:cNvPr>
          <p:cNvSpPr txBox="1"/>
          <p:nvPr/>
        </p:nvSpPr>
        <p:spPr>
          <a:xfrm>
            <a:off x="457200" y="838200"/>
            <a:ext cx="6985000" cy="254000"/>
          </a:xfrm>
          <a:prstGeom prst="rect">
            <a:avLst/>
          </a:prstGeom>
          <a:noFill/>
          <a:ln>
            <a:noFill/>
          </a:ln>
        </p:spPr>
        <p:txBody>
          <a:bodyPr vertOverflow="overflow" vert="horz" wrap="square" rtlCol="0" anchor="t">
            <a:noAutofit/>
          </a:bodyPr>
          <a:lstStyle/>
          <a:p>
            <a:pPr algn="l"/>
            <a:r>
              <a:rPr lang="en-US" sz="1400">
                <a:solidFill>
                  <a:srgbClr val="5A6577"/>
                </a:solidFill>
                <a:latin typeface="Segoe UI"/>
                <a:cs typeface="Segoe UI"/>
              </a:rPr>
              <a:t>Multi-tenant scoped memory and persistent storage</a:t>
            </a:r>
            <a:endParaRPr lang="en-IN" sz="1400">
              <a:solidFill>
                <a:srgbClr val="5A6577"/>
              </a:solidFill>
              <a:latin typeface="Segoe UI"/>
              <a:cs typeface="Segoe UI"/>
            </a:endParaRPr>
          </a:p>
        </p:txBody>
      </p:sp>
      <p:cxnSp>
        <p:nvCxnSpPr>
          <p:cNvPr id="4" name="Sep">
            <a:extLst>
              <a:ext uri="{FF2B5EF4-FFF2-40B4-BE49-F238E27FC236}">
                <a16:creationId xmlns:a16="http://schemas.microsoft.com/office/drawing/2014/main" id="{8FDFBDEA-C10A-43B8-86A9-1A42D394C1BD}"/>
              </a:ext>
            </a:extLst>
          </p:cNvPr>
          <p:cNvCxnSpPr/>
          <p:nvPr/>
        </p:nvCxnSpPr>
        <p:spPr>
          <a:xfrm>
            <a:off x="457200" y="1143000"/>
            <a:ext cx="9448800" cy="0"/>
          </a:xfrm>
          <a:prstGeom prst="straightConnector1">
            <a:avLst/>
          </a:prstGeom>
          <a:ln w="12700" cap="flat" cmpd="sng" algn="ctr">
            <a:solidFill>
              <a:srgbClr val="D0D8E8"/>
            </a:solidFill>
          </a:ln>
        </p:spPr>
        <p:style>
          <a:lnRef idx="2">
            <a:schemeClr val="accent1"/>
          </a:lnRef>
          <a:fillRef idx="0">
            <a:schemeClr val="accent1"/>
          </a:fillRef>
          <a:effectRef idx="1">
            <a:schemeClr val="accent1"/>
          </a:effectRef>
          <a:fontRef idx="minor">
            <a:schemeClr val="tx1"/>
          </a:fontRef>
        </p:style>
      </p:cxnSp>
      <p:sp>
        <p:nvSpPr>
          <p:cNvPr id="5" name="OH">
            <a:extLst>
              <a:ext uri="{FF2B5EF4-FFF2-40B4-BE49-F238E27FC236}">
                <a16:creationId xmlns:a16="http://schemas.microsoft.com/office/drawing/2014/main" id="{364E56F8-6B60-414F-8053-DB56C21FF19F}"/>
              </a:ext>
            </a:extLst>
          </p:cNvPr>
          <p:cNvSpPr txBox="1"/>
          <p:nvPr/>
        </p:nvSpPr>
        <p:spPr>
          <a:xfrm>
            <a:off x="558800" y="1270000"/>
            <a:ext cx="1905000" cy="254000"/>
          </a:xfrm>
          <a:prstGeom prst="rect">
            <a:avLst/>
          </a:prstGeom>
          <a:noFill/>
          <a:ln>
            <a:noFill/>
          </a:ln>
        </p:spPr>
        <p:txBody>
          <a:bodyPr vertOverflow="overflow" vert="horz" wrap="square" rtlCol="0" anchor="t">
            <a:noAutofit/>
          </a:bodyPr>
          <a:lstStyle/>
          <a:p>
            <a:pPr algn="l"/>
            <a:r>
              <a:rPr lang="en-IN" sz="1400" b="1">
                <a:solidFill>
                  <a:srgbClr val="1257A8"/>
                </a:solidFill>
                <a:latin typeface="Segoe UI"/>
                <a:cs typeface="Segoe UI"/>
              </a:rPr>
              <a:t>Overview</a:t>
            </a:r>
          </a:p>
        </p:txBody>
      </p:sp>
      <p:sp>
        <p:nvSpPr>
          <p:cNvPr id="6" name="OT">
            <a:extLst>
              <a:ext uri="{FF2B5EF4-FFF2-40B4-BE49-F238E27FC236}">
                <a16:creationId xmlns:a16="http://schemas.microsoft.com/office/drawing/2014/main" id="{AB35AE2C-2266-48E0-BCBE-5AA45E112948}"/>
              </a:ext>
            </a:extLst>
          </p:cNvPr>
          <p:cNvSpPr txBox="1"/>
          <p:nvPr/>
        </p:nvSpPr>
        <p:spPr>
          <a:xfrm>
            <a:off x="558800" y="1549400"/>
            <a:ext cx="4622800" cy="1841500"/>
          </a:xfrm>
          <a:prstGeom prst="rect">
            <a:avLst/>
          </a:prstGeom>
          <a:noFill/>
          <a:ln>
            <a:noFill/>
          </a:ln>
        </p:spPr>
        <p:txBody>
          <a:bodyPr vertOverflow="overflow" vert="horz" wrap="square" rtlCol="0" anchor="t">
            <a:noAutofit/>
          </a:bodyPr>
          <a:lstStyle/>
          <a:p>
            <a:pPr algn="l">
              <a:lnSpc>
                <a:spcPts val="1600"/>
              </a:lnSpc>
              <a:buNone/>
            </a:pPr>
            <a:r>
              <a:rPr lang="en-US" sz="1200" dirty="0">
                <a:solidFill>
                  <a:srgbClr val="444D5C"/>
                </a:solidFill>
                <a:latin typeface="Segoe UI"/>
              </a:rPr>
              <a:t>The Data &amp; Storage Layer is the memory backbone of VQMS. It provides a four-tier storage architecture — from fast in-memory caches to long-term document archives. All data access is tenant-scoped, meaning every read and write is isolated by tenant. The Memory &amp; Context Service acts as the central access point, giving agents and services a unified way to retrieve case history, conversation state, and cached results without directly touching the underlying stores.</a:t>
            </a:r>
          </a:p>
        </p:txBody>
      </p:sp>
      <p:sp>
        <p:nvSpPr>
          <p:cNvPr id="7" name="KH">
            <a:extLst>
              <a:ext uri="{FF2B5EF4-FFF2-40B4-BE49-F238E27FC236}">
                <a16:creationId xmlns:a16="http://schemas.microsoft.com/office/drawing/2014/main" id="{88011387-3706-4605-B590-DCEAB46C970E}"/>
              </a:ext>
            </a:extLst>
          </p:cNvPr>
          <p:cNvSpPr txBox="1"/>
          <p:nvPr/>
        </p:nvSpPr>
        <p:spPr>
          <a:xfrm>
            <a:off x="558800" y="3556000"/>
            <a:ext cx="2540000" cy="254000"/>
          </a:xfrm>
          <a:prstGeom prst="rect">
            <a:avLst/>
          </a:prstGeom>
          <a:noFill/>
          <a:ln>
            <a:noFill/>
          </a:ln>
        </p:spPr>
        <p:txBody>
          <a:bodyPr vertOverflow="overflow" vert="horz" wrap="square" rtlCol="0" anchor="t">
            <a:noAutofit/>
          </a:bodyPr>
          <a:lstStyle/>
          <a:p>
            <a:pPr algn="l"/>
            <a:r>
              <a:rPr lang="en-IN" sz="1400" b="1" dirty="0">
                <a:solidFill>
                  <a:srgbClr val="1257A8"/>
                </a:solidFill>
                <a:latin typeface="Segoe UI"/>
                <a:cs typeface="Segoe UI"/>
              </a:rPr>
              <a:t>Key Components</a:t>
            </a:r>
          </a:p>
        </p:txBody>
      </p:sp>
      <p:sp>
        <p:nvSpPr>
          <p:cNvPr id="8" name="KT">
            <a:extLst>
              <a:ext uri="{FF2B5EF4-FFF2-40B4-BE49-F238E27FC236}">
                <a16:creationId xmlns:a16="http://schemas.microsoft.com/office/drawing/2014/main" id="{A3718F9D-5AE8-4F06-AD39-D64FDB6E533A}"/>
              </a:ext>
            </a:extLst>
          </p:cNvPr>
          <p:cNvSpPr txBox="1"/>
          <p:nvPr/>
        </p:nvSpPr>
        <p:spPr>
          <a:xfrm>
            <a:off x="558800" y="3835400"/>
            <a:ext cx="4622800" cy="1938992"/>
          </a:xfrm>
          <a:prstGeom prst="rect">
            <a:avLst/>
          </a:prstGeom>
          <a:noFill/>
          <a:ln>
            <a:noFill/>
          </a:ln>
        </p:spPr>
        <p:txBody>
          <a:bodyPr vertOverflow="overflow" vert="horz" wrap="square" rtlCol="0" anchor="t">
            <a:spAutoFit/>
          </a:bodyPr>
          <a:lstStyle/>
          <a:p>
            <a:pPr marL="171450" indent="-171450">
              <a:buFont typeface="Arial"/>
              <a:buChar char="•"/>
            </a:pPr>
            <a:r>
              <a:rPr lang="en-US" sz="1200" b="1" dirty="0">
                <a:solidFill>
                  <a:srgbClr val="0D1B3E"/>
                </a:solidFill>
                <a:latin typeface="Segoe UI Semibold"/>
              </a:rPr>
              <a:t>Redis (Hot Cache)</a:t>
            </a:r>
            <a:r>
              <a:rPr lang="en-US" sz="1200" dirty="0">
                <a:solidFill>
                  <a:srgbClr val="444D5C"/>
                </a:solidFill>
                <a:latin typeface="Segoe UI"/>
              </a:rPr>
              <a:t> — Session state, active context, and fast-access working memory</a:t>
            </a:r>
          </a:p>
          <a:p>
            <a:pPr marL="171450" indent="-171450">
              <a:buFont typeface="Arial"/>
              <a:buChar char="•"/>
            </a:pPr>
            <a:r>
              <a:rPr lang="en-US" sz="1200" b="1" dirty="0">
                <a:solidFill>
                  <a:srgbClr val="0D1B3E"/>
                </a:solidFill>
                <a:latin typeface="Segoe UI Semibold"/>
              </a:rPr>
              <a:t>DynamoDB (Structured Store)</a:t>
            </a:r>
            <a:r>
              <a:rPr lang="en-US" sz="1200" dirty="0">
                <a:solidFill>
                  <a:srgbClr val="444D5C"/>
                </a:solidFill>
                <a:latin typeface="Segoe UI"/>
              </a:rPr>
              <a:t> — Tickets, case records, audit trails, and transactional data</a:t>
            </a:r>
          </a:p>
          <a:p>
            <a:pPr marL="171450" indent="-171450">
              <a:buFont typeface="Arial"/>
              <a:buChar char="•"/>
            </a:pPr>
            <a:r>
              <a:rPr lang="en-US" sz="1200" b="1" dirty="0">
                <a:solidFill>
                  <a:srgbClr val="0D1B3E"/>
                </a:solidFill>
                <a:latin typeface="Segoe UI Semibold"/>
              </a:rPr>
              <a:t>OpenSearch (Search + Vector)</a:t>
            </a:r>
            <a:r>
              <a:rPr lang="en-US" sz="1200" dirty="0">
                <a:solidFill>
                  <a:srgbClr val="444D5C"/>
                </a:solidFill>
                <a:latin typeface="Segoe UI"/>
              </a:rPr>
              <a:t> — Full-text search, vector similarity for episodic memory, log analytics</a:t>
            </a:r>
          </a:p>
          <a:p>
            <a:pPr marL="171450" indent="-171450">
              <a:buFont typeface="Arial"/>
              <a:buChar char="•"/>
            </a:pPr>
            <a:r>
              <a:rPr lang="en-US" sz="1200" b="1" dirty="0">
                <a:solidFill>
                  <a:srgbClr val="0D1B3E"/>
                </a:solidFill>
                <a:latin typeface="Segoe UI Semibold"/>
              </a:rPr>
              <a:t>Aurora PostgreSQL</a:t>
            </a:r>
            <a:r>
              <a:rPr lang="en-US" sz="1200" dirty="0">
                <a:solidFill>
                  <a:srgbClr val="444D5C"/>
                </a:solidFill>
                <a:latin typeface="Segoe UI"/>
              </a:rPr>
              <a:t> — Relational data, analytics, reporting, pgvector for hybrid search</a:t>
            </a:r>
          </a:p>
          <a:p>
            <a:pPr marL="171450" indent="-171450">
              <a:buFont typeface="Arial"/>
              <a:buChar char="•"/>
            </a:pPr>
            <a:r>
              <a:rPr lang="en-US" sz="1200" b="1" dirty="0">
                <a:solidFill>
                  <a:srgbClr val="0D1B3E"/>
                </a:solidFill>
                <a:latin typeface="Segoe UI Semibold"/>
              </a:rPr>
              <a:t>S3 (Document Archive)</a:t>
            </a:r>
            <a:r>
              <a:rPr lang="en-US" sz="1200" dirty="0">
                <a:solidFill>
                  <a:srgbClr val="444D5C"/>
                </a:solidFill>
                <a:latin typeface="Segoe UI"/>
              </a:rPr>
              <a:t> — Attachments, exports, and compliance records</a:t>
            </a:r>
          </a:p>
        </p:txBody>
      </p:sp>
      <p:sp>
        <p:nvSpPr>
          <p:cNvPr id="9" name="Pill">
            <a:extLst>
              <a:ext uri="{FF2B5EF4-FFF2-40B4-BE49-F238E27FC236}">
                <a16:creationId xmlns:a16="http://schemas.microsoft.com/office/drawing/2014/main" id="{9DAF4D2A-0FFD-4788-B981-AF39CB0D697E}"/>
              </a:ext>
            </a:extLst>
          </p:cNvPr>
          <p:cNvSpPr/>
          <p:nvPr/>
        </p:nvSpPr>
        <p:spPr>
          <a:xfrm>
            <a:off x="10490200" y="355600"/>
            <a:ext cx="1016000" cy="355600"/>
          </a:xfrm>
          <a:prstGeom prst="roundRect">
            <a:avLst>
              <a:gd name="adj" fmla="val 16667"/>
            </a:avLst>
          </a:prstGeom>
          <a:solidFill>
            <a:srgbClr val="1565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latin typeface="Segoe UI"/>
                <a:cs typeface="Segoe UI"/>
              </a:rPr>
              <a:t>Layer 7</a:t>
            </a:r>
          </a:p>
        </p:txBody>
      </p:sp>
      <p:sp>
        <p:nvSpPr>
          <p:cNvPr id="10" name="Ftr">
            <a:extLst>
              <a:ext uri="{FF2B5EF4-FFF2-40B4-BE49-F238E27FC236}">
                <a16:creationId xmlns:a16="http://schemas.microsoft.com/office/drawing/2014/main" id="{B26625E2-4522-418A-938E-02784E37F28F}"/>
              </a:ext>
            </a:extLst>
          </p:cNvPr>
          <p:cNvSpPr txBox="1"/>
          <p:nvPr/>
        </p:nvSpPr>
        <p:spPr>
          <a:xfrm>
            <a:off x="457200" y="6451600"/>
            <a:ext cx="5080000" cy="203200"/>
          </a:xfrm>
          <a:prstGeom prst="rect">
            <a:avLst/>
          </a:prstGeom>
          <a:noFill/>
          <a:ln>
            <a:noFill/>
          </a:ln>
        </p:spPr>
        <p:txBody>
          <a:bodyPr vertOverflow="overflow" vert="horz" wrap="square" rtlCol="0" anchor="t">
            <a:noAutofit/>
          </a:bodyPr>
          <a:lstStyle/>
          <a:p>
            <a:pPr algn="l"/>
            <a:r>
              <a:rPr lang="en-IN" sz="800">
                <a:solidFill>
                  <a:srgbClr val="9BA4B0"/>
                </a:solidFill>
                <a:latin typeface="Segoe UI"/>
                <a:cs typeface="Segoe UI"/>
              </a:rPr>
              <a:t>© Hexaware Technologies. Confidential Briefing</a:t>
            </a:r>
          </a:p>
        </p:txBody>
      </p:sp>
      <p:sp>
        <p:nvSpPr>
          <p:cNvPr id="51" name="LISh"/>
          <p:cNvSpPr/>
          <p:nvPr/>
        </p:nvSpPr>
        <p:spPr>
          <a:xfrm>
            <a:off x="5511800" y="3779520"/>
            <a:ext cx="4419600" cy="1905000"/>
          </a:xfrm>
          <a:prstGeom prst="roundRect">
            <a:avLst>
              <a:gd name="adj" fmla="val 5000"/>
            </a:avLst>
          </a:prstGeom>
          <a:solidFill>
            <a:srgbClr val="E0E4EC">
              <a:alpha val="50000"/>
            </a:srgbClr>
          </a:solidFill>
          <a:ln>
            <a:noFill/>
          </a:ln>
        </p:spPr>
        <p:txBody>
          <a:bodyPr/>
          <a:lstStyle/>
          <a:p>
            <a:endParaRPr lang="en-US"/>
          </a:p>
        </p:txBody>
      </p:sp>
      <p:sp>
        <p:nvSpPr>
          <p:cNvPr id="14" name="LIBx">
            <a:extLst>
              <a:ext uri="{FF2B5EF4-FFF2-40B4-BE49-F238E27FC236}">
                <a16:creationId xmlns:a16="http://schemas.microsoft.com/office/drawing/2014/main" id="{9D31053A-C097-472E-8911-B775294B674A}"/>
              </a:ext>
            </a:extLst>
          </p:cNvPr>
          <p:cNvSpPr/>
          <p:nvPr/>
        </p:nvSpPr>
        <p:spPr>
          <a:xfrm>
            <a:off x="5486400" y="3754120"/>
            <a:ext cx="4419600" cy="2063750"/>
          </a:xfrm>
          <a:prstGeom prst="roundRect">
            <a:avLst>
              <a:gd name="adj" fmla="val 5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LIHd">
            <a:extLst>
              <a:ext uri="{FF2B5EF4-FFF2-40B4-BE49-F238E27FC236}">
                <a16:creationId xmlns:a16="http://schemas.microsoft.com/office/drawing/2014/main" id="{33FDE703-FB5E-4591-B9B1-7606B0843914}"/>
              </a:ext>
            </a:extLst>
          </p:cNvPr>
          <p:cNvSpPr/>
          <p:nvPr/>
        </p:nvSpPr>
        <p:spPr>
          <a:xfrm>
            <a:off x="5486400" y="3754120"/>
            <a:ext cx="4419600" cy="355600"/>
          </a:xfrm>
          <a:prstGeom prst="roundRect">
            <a:avLst>
              <a:gd name="adj" fmla="val 5000"/>
            </a:avLst>
          </a:prstGeom>
          <a:solidFill>
            <a:srgbClr val="1565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latin typeface="Segoe UI"/>
                <a:cs typeface="Segoe UI"/>
              </a:rPr>
              <a:t>Layer Interactions</a:t>
            </a:r>
          </a:p>
        </p:txBody>
      </p:sp>
      <p:sp>
        <p:nvSpPr>
          <p:cNvPr id="16" name="LITx">
            <a:extLst>
              <a:ext uri="{FF2B5EF4-FFF2-40B4-BE49-F238E27FC236}">
                <a16:creationId xmlns:a16="http://schemas.microsoft.com/office/drawing/2014/main" id="{9FAF3442-B461-4724-BED4-8ED1E504266E}"/>
              </a:ext>
            </a:extLst>
          </p:cNvPr>
          <p:cNvSpPr txBox="1"/>
          <p:nvPr/>
        </p:nvSpPr>
        <p:spPr>
          <a:xfrm>
            <a:off x="5638800" y="4160520"/>
            <a:ext cx="4114800" cy="1422400"/>
          </a:xfrm>
          <a:prstGeom prst="rect">
            <a:avLst/>
          </a:prstGeom>
          <a:noFill/>
          <a:ln>
            <a:noFill/>
          </a:ln>
        </p:spPr>
        <p:txBody>
          <a:bodyPr vertOverflow="overflow" vert="horz" wrap="square" rtlCol="0" anchor="t">
            <a:noAutofit/>
          </a:bodyPr>
          <a:lstStyle/>
          <a:p>
            <a:pPr marL="171450" indent="-171450">
              <a:buFont typeface="Arial"/>
              <a:buChar char="▸"/>
            </a:pPr>
            <a:r>
              <a:rPr lang="en-US" sz="1200" dirty="0">
                <a:solidFill>
                  <a:srgbClr val="2D3648"/>
                </a:solidFill>
                <a:latin typeface="Segoe UI"/>
              </a:rPr>
              <a:t>Serves all layers — every component reads or writes through this layer</a:t>
            </a:r>
          </a:p>
          <a:p>
            <a:pPr marL="171450" indent="-171450">
              <a:buFont typeface="Arial"/>
              <a:buChar char="▸"/>
            </a:pPr>
            <a:r>
              <a:rPr lang="en-US" sz="1200" dirty="0">
                <a:solidFill>
                  <a:srgbClr val="2D3648"/>
                </a:solidFill>
                <a:latin typeface="Segoe UI"/>
              </a:rPr>
              <a:t>Agents read case history and context via Memory &amp; Context Service</a:t>
            </a:r>
          </a:p>
          <a:p>
            <a:pPr marL="171450" indent="-171450">
              <a:buFont typeface="Arial"/>
              <a:buChar char="▸"/>
            </a:pPr>
            <a:r>
              <a:rPr lang="en-US" sz="1200" dirty="0">
                <a:solidFill>
                  <a:srgbClr val="2D3648"/>
                </a:solidFill>
                <a:latin typeface="Segoe UI"/>
              </a:rPr>
              <a:t>Integration services write ticket updates and sync results here</a:t>
            </a:r>
          </a:p>
          <a:p>
            <a:pPr marL="171450" indent="-171450">
              <a:buFont typeface="Arial"/>
              <a:buChar char="▸"/>
            </a:pPr>
            <a:r>
              <a:rPr lang="en-US" sz="1200" dirty="0">
                <a:solidFill>
                  <a:srgbClr val="2D3648"/>
                </a:solidFill>
                <a:latin typeface="Segoe UI"/>
              </a:rPr>
              <a:t>Orchestration layer persists execution plans and workflow state</a:t>
            </a:r>
          </a:p>
        </p:txBody>
      </p:sp>
      <p:sp>
        <p:nvSpPr>
          <p:cNvPr id="17" name="FH">
            <a:extLst>
              <a:ext uri="{FF2B5EF4-FFF2-40B4-BE49-F238E27FC236}">
                <a16:creationId xmlns:a16="http://schemas.microsoft.com/office/drawing/2014/main" id="{0A1FE3BE-7515-41A7-99E2-3654FED66608}"/>
              </a:ext>
            </a:extLst>
          </p:cNvPr>
          <p:cNvSpPr txBox="1"/>
          <p:nvPr/>
        </p:nvSpPr>
        <p:spPr>
          <a:xfrm>
            <a:off x="10109200" y="1270000"/>
            <a:ext cx="1778000" cy="279400"/>
          </a:xfrm>
          <a:prstGeom prst="rect">
            <a:avLst/>
          </a:prstGeom>
          <a:noFill/>
          <a:ln>
            <a:noFill/>
          </a:ln>
        </p:spPr>
        <p:txBody>
          <a:bodyPr vertOverflow="overflow" vert="horz" wrap="square" rtlCol="0" anchor="t">
            <a:noAutofit/>
          </a:bodyPr>
          <a:lstStyle/>
          <a:p>
            <a:pPr algn="l"/>
            <a:r>
              <a:rPr lang="en-IN" sz="1100" b="1">
                <a:solidFill>
                  <a:srgbClr val="5A6577"/>
                </a:solidFill>
                <a:latin typeface="Segoe UI"/>
                <a:cs typeface="Segoe UI"/>
              </a:rPr>
              <a:t>Architecture Flow</a:t>
            </a:r>
          </a:p>
        </p:txBody>
      </p:sp>
      <p:sp>
        <p:nvSpPr>
          <p:cNvPr id="18" name="F0">
            <a:extLst>
              <a:ext uri="{FF2B5EF4-FFF2-40B4-BE49-F238E27FC236}">
                <a16:creationId xmlns:a16="http://schemas.microsoft.com/office/drawing/2014/main" id="{BF7A40E7-96E9-41F4-B148-E8878834A7EC}"/>
              </a:ext>
            </a:extLst>
          </p:cNvPr>
          <p:cNvSpPr/>
          <p:nvPr/>
        </p:nvSpPr>
        <p:spPr>
          <a:xfrm>
            <a:off x="10109200" y="1625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Presentation</a:t>
            </a:r>
          </a:p>
        </p:txBody>
      </p:sp>
      <p:sp>
        <p:nvSpPr>
          <p:cNvPr id="19" name="F1">
            <a:extLst>
              <a:ext uri="{FF2B5EF4-FFF2-40B4-BE49-F238E27FC236}">
                <a16:creationId xmlns:a16="http://schemas.microsoft.com/office/drawing/2014/main" id="{521D83E9-BF52-41E7-96F2-CDCE98EA4940}"/>
              </a:ext>
            </a:extLst>
          </p:cNvPr>
          <p:cNvSpPr/>
          <p:nvPr/>
        </p:nvSpPr>
        <p:spPr>
          <a:xfrm>
            <a:off x="10109200" y="2133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API Gateway &amp; Auth</a:t>
            </a:r>
          </a:p>
        </p:txBody>
      </p:sp>
      <p:sp>
        <p:nvSpPr>
          <p:cNvPr id="20" name="F2">
            <a:extLst>
              <a:ext uri="{FF2B5EF4-FFF2-40B4-BE49-F238E27FC236}">
                <a16:creationId xmlns:a16="http://schemas.microsoft.com/office/drawing/2014/main" id="{DDEB8958-C9FA-4768-BF60-B0CF657F3591}"/>
              </a:ext>
            </a:extLst>
          </p:cNvPr>
          <p:cNvSpPr/>
          <p:nvPr/>
        </p:nvSpPr>
        <p:spPr>
          <a:xfrm>
            <a:off x="10109200" y="2641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Orchestration</a:t>
            </a:r>
          </a:p>
        </p:txBody>
      </p:sp>
      <p:sp>
        <p:nvSpPr>
          <p:cNvPr id="21" name="F3">
            <a:extLst>
              <a:ext uri="{FF2B5EF4-FFF2-40B4-BE49-F238E27FC236}">
                <a16:creationId xmlns:a16="http://schemas.microsoft.com/office/drawing/2014/main" id="{59F70F68-BA89-4FAC-A3F4-11747865C2CF}"/>
              </a:ext>
            </a:extLst>
          </p:cNvPr>
          <p:cNvSpPr/>
          <p:nvPr/>
        </p:nvSpPr>
        <p:spPr>
          <a:xfrm>
            <a:off x="10109200" y="3149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Security &amp; Gov.</a:t>
            </a:r>
          </a:p>
        </p:txBody>
      </p:sp>
      <p:sp>
        <p:nvSpPr>
          <p:cNvPr id="22" name="F4">
            <a:extLst>
              <a:ext uri="{FF2B5EF4-FFF2-40B4-BE49-F238E27FC236}">
                <a16:creationId xmlns:a16="http://schemas.microsoft.com/office/drawing/2014/main" id="{AA4FB348-3224-47EB-86A4-F047D65EA801}"/>
              </a:ext>
            </a:extLst>
          </p:cNvPr>
          <p:cNvSpPr/>
          <p:nvPr/>
        </p:nvSpPr>
        <p:spPr>
          <a:xfrm>
            <a:off x="10109200" y="3657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Agent Services</a:t>
            </a:r>
          </a:p>
        </p:txBody>
      </p:sp>
      <p:sp>
        <p:nvSpPr>
          <p:cNvPr id="23" name="F5">
            <a:extLst>
              <a:ext uri="{FF2B5EF4-FFF2-40B4-BE49-F238E27FC236}">
                <a16:creationId xmlns:a16="http://schemas.microsoft.com/office/drawing/2014/main" id="{8F1F4FDA-D9CE-42DA-BD18-45EF5EE7E537}"/>
              </a:ext>
            </a:extLst>
          </p:cNvPr>
          <p:cNvSpPr/>
          <p:nvPr/>
        </p:nvSpPr>
        <p:spPr>
          <a:xfrm>
            <a:off x="10109200" y="4165600"/>
            <a:ext cx="1727200" cy="406400"/>
          </a:xfrm>
          <a:prstGeom prst="roundRect">
            <a:avLst>
              <a:gd name="adj" fmla="val 10000"/>
            </a:avLst>
          </a:prstGeom>
          <a:solidFill>
            <a:srgbClr val="FFFFFF"/>
          </a:solidFill>
          <a:ln w="9525" cap="flat" cmpd="sng" algn="ctr">
            <a:solidFill>
              <a:srgbClr val="D8DDE6"/>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a:solidFill>
                  <a:srgbClr val="7A8599"/>
                </a:solidFill>
                <a:latin typeface="Segoe UI"/>
                <a:cs typeface="Segoe UI"/>
              </a:rPr>
              <a:t>Integration</a:t>
            </a:r>
          </a:p>
        </p:txBody>
      </p:sp>
      <p:sp>
        <p:nvSpPr>
          <p:cNvPr id="24" name="F6">
            <a:extLst>
              <a:ext uri="{FF2B5EF4-FFF2-40B4-BE49-F238E27FC236}">
                <a16:creationId xmlns:a16="http://schemas.microsoft.com/office/drawing/2014/main" id="{DEAC3B87-1808-4D98-A6F6-FCE707436AD4}"/>
              </a:ext>
            </a:extLst>
          </p:cNvPr>
          <p:cNvSpPr/>
          <p:nvPr/>
        </p:nvSpPr>
        <p:spPr>
          <a:xfrm>
            <a:off x="10109200" y="4673600"/>
            <a:ext cx="1727200" cy="406400"/>
          </a:xfrm>
          <a:prstGeom prst="roundRect">
            <a:avLst>
              <a:gd name="adj" fmla="val 10000"/>
            </a:avLst>
          </a:prstGeom>
          <a:solidFill>
            <a:srgbClr val="1565C0"/>
          </a:solidFill>
          <a:ln w="9525" cap="flat" cmpd="sng" algn="ctr">
            <a:solidFill>
              <a:srgbClr val="1565C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000" b="1">
                <a:solidFill>
                  <a:srgbClr val="FFFFFF"/>
                </a:solidFill>
                <a:latin typeface="Segoe UI"/>
                <a:cs typeface="Segoe UI"/>
              </a:rPr>
              <a:t>▶  Data &amp; Storage</a:t>
            </a:r>
          </a:p>
        </p:txBody>
      </p:sp>
      <p:sp>
        <p:nvSpPr>
          <p:cNvPr id="52" name="OvA"/>
          <p:cNvSpPr/>
          <p:nvPr/>
        </p:nvSpPr>
        <p:spPr>
          <a:xfrm>
            <a:off x="457200" y="1295400"/>
            <a:ext cx="50800" cy="203200"/>
          </a:xfrm>
          <a:prstGeom prst="roundRect">
            <a:avLst>
              <a:gd name="adj" fmla="val 16667"/>
            </a:avLst>
          </a:prstGeom>
          <a:solidFill>
            <a:srgbClr val="1565C0"/>
          </a:solidFill>
          <a:ln>
            <a:noFill/>
          </a:ln>
        </p:spPr>
        <p:txBody>
          <a:bodyPr/>
          <a:lstStyle/>
          <a:p>
            <a:endParaRPr lang="en-US"/>
          </a:p>
        </p:txBody>
      </p:sp>
      <p:sp>
        <p:nvSpPr>
          <p:cNvPr id="53" name="KCA"/>
          <p:cNvSpPr/>
          <p:nvPr/>
        </p:nvSpPr>
        <p:spPr>
          <a:xfrm>
            <a:off x="457200" y="3581400"/>
            <a:ext cx="50800" cy="203200"/>
          </a:xfrm>
          <a:prstGeom prst="roundRect">
            <a:avLst>
              <a:gd name="adj" fmla="val 16667"/>
            </a:avLst>
          </a:prstGeom>
          <a:solidFill>
            <a:srgbClr val="1565C0"/>
          </a:solidFill>
          <a:ln>
            <a:noFill/>
          </a:ln>
        </p:spPr>
        <p:txBody>
          <a:bodyPr/>
          <a:lstStyle/>
          <a:p>
            <a:endParaRPr lang="en-US"/>
          </a:p>
        </p:txBody>
      </p:sp>
      <p:sp>
        <p:nvSpPr>
          <p:cNvPr id="25" name="Rectangle: Rounded Corners 24">
            <a:extLst>
              <a:ext uri="{FF2B5EF4-FFF2-40B4-BE49-F238E27FC236}">
                <a16:creationId xmlns:a16="http://schemas.microsoft.com/office/drawing/2014/main" id="{08CCF590-4667-40B1-B308-D53D91463CF2}"/>
              </a:ext>
            </a:extLst>
          </p:cNvPr>
          <p:cNvSpPr/>
          <p:nvPr/>
        </p:nvSpPr>
        <p:spPr>
          <a:xfrm>
            <a:off x="5486400" y="1270000"/>
            <a:ext cx="4419600" cy="304800"/>
          </a:xfrm>
          <a:prstGeom prst="roundRect">
            <a:avLst/>
          </a:prstGeom>
          <a:solidFill>
            <a:srgbClr val="1257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6" name="TextBox 25">
            <a:extLst>
              <a:ext uri="{FF2B5EF4-FFF2-40B4-BE49-F238E27FC236}">
                <a16:creationId xmlns:a16="http://schemas.microsoft.com/office/drawing/2014/main" id="{0F3DC0D5-A474-40B8-8DF2-33DD6AAD4907}"/>
              </a:ext>
            </a:extLst>
          </p:cNvPr>
          <p:cNvSpPr txBox="1"/>
          <p:nvPr/>
        </p:nvSpPr>
        <p:spPr>
          <a:xfrm>
            <a:off x="5511800" y="1282700"/>
            <a:ext cx="4368800" cy="279400"/>
          </a:xfrm>
          <a:prstGeom prst="rect">
            <a:avLst/>
          </a:prstGeom>
          <a:noFill/>
        </p:spPr>
        <p:txBody>
          <a:bodyPr vertOverflow="overflow" vert="horz" wrap="square" rtlCol="0" anchor="ctr" anchorCtr="0">
            <a:noAutofit/>
          </a:bodyPr>
          <a:lstStyle/>
          <a:p>
            <a:pPr algn="l"/>
            <a:r>
              <a:rPr lang="en-IN" sz="1100" b="1">
                <a:solidFill>
                  <a:srgbClr val="FFFFFF"/>
                </a:solidFill>
                <a:latin typeface="Segoe UI Semibold"/>
                <a:cs typeface="Segoe UI Semibold"/>
              </a:rPr>
              <a:t>Technologies &amp; Services</a:t>
            </a:r>
          </a:p>
        </p:txBody>
      </p:sp>
      <p:graphicFrame>
        <p:nvGraphicFramePr>
          <p:cNvPr id="28" name="Table 27">
            <a:extLst>
              <a:ext uri="{FF2B5EF4-FFF2-40B4-BE49-F238E27FC236}">
                <a16:creationId xmlns:a16="http://schemas.microsoft.com/office/drawing/2014/main" id="{5369AA10-12B1-4132-99B8-7FBE0A41AE34}"/>
              </a:ext>
            </a:extLst>
          </p:cNvPr>
          <p:cNvGraphicFramePr>
            <a:graphicFrameLocks noGrp="1"/>
          </p:cNvGraphicFramePr>
          <p:nvPr>
            <p:extLst>
              <p:ext uri="{D42A27DB-BD31-4B8C-83A1-F6EECF244321}">
                <p14:modId xmlns:p14="http://schemas.microsoft.com/office/powerpoint/2010/main" val="2200377232"/>
              </p:ext>
            </p:extLst>
          </p:nvPr>
        </p:nvGraphicFramePr>
        <p:xfrm>
          <a:off x="5486400" y="1600200"/>
          <a:ext cx="4419600" cy="2026920"/>
        </p:xfrm>
        <a:graphic>
          <a:graphicData uri="http://schemas.openxmlformats.org/drawingml/2006/table">
            <a:tbl>
              <a:tblPr firstRow="1" bandRow="1">
                <a:tableStyleId>{5C22544A-7EE6-4342-B048-85BDC9FD1C3A}</a:tableStyleId>
              </a:tblPr>
              <a:tblGrid>
                <a:gridCol w="1458468">
                  <a:extLst>
                    <a:ext uri="{9D8B030D-6E8A-4147-A177-3AD203B41FA5}">
                      <a16:colId xmlns:a16="http://schemas.microsoft.com/office/drawing/2014/main" val="3806027151"/>
                    </a:ext>
                  </a:extLst>
                </a:gridCol>
                <a:gridCol w="1635252">
                  <a:extLst>
                    <a:ext uri="{9D8B030D-6E8A-4147-A177-3AD203B41FA5}">
                      <a16:colId xmlns:a16="http://schemas.microsoft.com/office/drawing/2014/main" val="4042778721"/>
                    </a:ext>
                  </a:extLst>
                </a:gridCol>
                <a:gridCol w="1325880">
                  <a:extLst>
                    <a:ext uri="{9D8B030D-6E8A-4147-A177-3AD203B41FA5}">
                      <a16:colId xmlns:a16="http://schemas.microsoft.com/office/drawing/2014/main" val="3787712616"/>
                    </a:ext>
                  </a:extLst>
                </a:gridCol>
              </a:tblGrid>
              <a:tr h="304800">
                <a:tc>
                  <a:txBody>
                    <a:bodyPr/>
                    <a:lstStyle/>
                    <a:p>
                      <a:pPr algn="ctr"/>
                      <a:r>
                        <a:rPr lang="en-IN" sz="1000" b="1">
                          <a:solidFill>
                            <a:srgbClr val="FFFFFF"/>
                          </a:solidFill>
                          <a:latin typeface="Segoe UI Semibold"/>
                          <a:cs typeface="Segoe UI Semibold"/>
                        </a:rPr>
                        <a:t>AWS Service</a:t>
                      </a:r>
                    </a:p>
                  </a:txBody>
                  <a:tcPr anchor="ctr">
                    <a:solidFill>
                      <a:srgbClr val="1A3F6F"/>
                    </a:solidFill>
                  </a:tcPr>
                </a:tc>
                <a:tc>
                  <a:txBody>
                    <a:bodyPr/>
                    <a:lstStyle/>
                    <a:p>
                      <a:pPr algn="ctr"/>
                      <a:r>
                        <a:rPr lang="en-IN" sz="1000" b="1">
                          <a:solidFill>
                            <a:srgbClr val="FFFFFF"/>
                          </a:solidFill>
                          <a:latin typeface="Segoe UI Semibold"/>
                          <a:cs typeface="Segoe UI Semibold"/>
                        </a:rPr>
                        <a:t>Open Source</a:t>
                      </a:r>
                    </a:p>
                  </a:txBody>
                  <a:tcPr anchor="ctr">
                    <a:solidFill>
                      <a:srgbClr val="1A3F6F"/>
                    </a:solidFill>
                  </a:tcPr>
                </a:tc>
                <a:tc>
                  <a:txBody>
                    <a:bodyPr/>
                    <a:lstStyle/>
                    <a:p>
                      <a:pPr algn="ctr"/>
                      <a:r>
                        <a:rPr lang="en-IN" sz="1000" b="1">
                          <a:solidFill>
                            <a:srgbClr val="FFFFFF"/>
                          </a:solidFill>
                          <a:latin typeface="Segoe UI Semibold"/>
                          <a:cs typeface="Segoe UI Semibold"/>
                        </a:rPr>
                        <a:t>Purpose</a:t>
                      </a:r>
                    </a:p>
                  </a:txBody>
                  <a:tcPr anchor="ctr">
                    <a:solidFill>
                      <a:srgbClr val="1A3F6F"/>
                    </a:solidFill>
                  </a:tcPr>
                </a:tc>
                <a:extLst>
                  <a:ext uri="{0D108BD9-81ED-4DB2-BD59-A6C34878D82A}">
                    <a16:rowId xmlns:a16="http://schemas.microsoft.com/office/drawing/2014/main" val="4206559112"/>
                  </a:ext>
                </a:extLst>
              </a:tr>
              <a:tr h="330200">
                <a:tc>
                  <a:txBody>
                    <a:bodyPr/>
                    <a:lstStyle/>
                    <a:p>
                      <a:pPr algn="l"/>
                      <a:r>
                        <a:rPr lang="en-IN" sz="900">
                          <a:solidFill>
                            <a:srgbClr val="2D3648"/>
                          </a:solidFill>
                          <a:latin typeface="Segoe UI"/>
                          <a:cs typeface="Segoe UI"/>
                        </a:rPr>
                        <a:t>Aurora + pgvector</a:t>
                      </a:r>
                    </a:p>
                  </a:txBody>
                  <a:tcPr anchor="ctr">
                    <a:solidFill>
                      <a:srgbClr val="EEF2F7"/>
                    </a:solidFill>
                  </a:tcPr>
                </a:tc>
                <a:tc>
                  <a:txBody>
                    <a:bodyPr/>
                    <a:lstStyle/>
                    <a:p>
                      <a:pPr algn="l"/>
                      <a:r>
                        <a:rPr lang="en-IN" sz="900">
                          <a:solidFill>
                            <a:srgbClr val="2D3648"/>
                          </a:solidFill>
                          <a:latin typeface="Segoe UI"/>
                          <a:cs typeface="Segoe UI"/>
                        </a:rPr>
                        <a:t>PostgreSQL + pgvector</a:t>
                      </a:r>
                    </a:p>
                  </a:txBody>
                  <a:tcPr anchor="ctr">
                    <a:solidFill>
                      <a:srgbClr val="EEF2F7"/>
                    </a:solidFill>
                  </a:tcPr>
                </a:tc>
                <a:tc>
                  <a:txBody>
                    <a:bodyPr/>
                    <a:lstStyle/>
                    <a:p>
                      <a:pPr algn="l"/>
                      <a:r>
                        <a:rPr lang="en-IN" sz="900">
                          <a:solidFill>
                            <a:srgbClr val="2D3648"/>
                          </a:solidFill>
                          <a:latin typeface="Segoe UI"/>
                          <a:cs typeface="Segoe UI"/>
                        </a:rPr>
                        <a:t>Vector DB / RDBMS</a:t>
                      </a:r>
                    </a:p>
                  </a:txBody>
                  <a:tcPr anchor="ctr">
                    <a:solidFill>
                      <a:srgbClr val="EEF2F7"/>
                    </a:solidFill>
                  </a:tcPr>
                </a:tc>
                <a:extLst>
                  <a:ext uri="{0D108BD9-81ED-4DB2-BD59-A6C34878D82A}">
                    <a16:rowId xmlns:a16="http://schemas.microsoft.com/office/drawing/2014/main" val="1992472074"/>
                  </a:ext>
                </a:extLst>
              </a:tr>
              <a:tr h="330200">
                <a:tc>
                  <a:txBody>
                    <a:bodyPr/>
                    <a:lstStyle/>
                    <a:p>
                      <a:pPr algn="l"/>
                      <a:r>
                        <a:rPr lang="en-IN" sz="900">
                          <a:solidFill>
                            <a:srgbClr val="2D3648"/>
                          </a:solidFill>
                          <a:latin typeface="Segoe UI"/>
                          <a:cs typeface="Segoe UI"/>
                        </a:rPr>
                        <a:t>DynamoDB</a:t>
                      </a:r>
                    </a:p>
                  </a:txBody>
                  <a:tcPr anchor="ctr">
                    <a:solidFill>
                      <a:srgbClr val="FFFFFF"/>
                    </a:solidFill>
                  </a:tcPr>
                </a:tc>
                <a:tc>
                  <a:txBody>
                    <a:bodyPr/>
                    <a:lstStyle/>
                    <a:p>
                      <a:pPr algn="l"/>
                      <a:r>
                        <a:rPr lang="en-IN" sz="900">
                          <a:solidFill>
                            <a:srgbClr val="2D3648"/>
                          </a:solidFill>
                          <a:latin typeface="Segoe UI"/>
                          <a:cs typeface="Segoe UI"/>
                        </a:rPr>
                        <a:t>MongoDB</a:t>
                      </a:r>
                    </a:p>
                  </a:txBody>
                  <a:tcPr anchor="ctr">
                    <a:solidFill>
                      <a:srgbClr val="FFFFFF"/>
                    </a:solidFill>
                  </a:tcPr>
                </a:tc>
                <a:tc>
                  <a:txBody>
                    <a:bodyPr/>
                    <a:lstStyle/>
                    <a:p>
                      <a:pPr algn="l"/>
                      <a:r>
                        <a:rPr lang="en-IN" sz="900">
                          <a:solidFill>
                            <a:srgbClr val="2D3648"/>
                          </a:solidFill>
                          <a:latin typeface="Segoe UI"/>
                          <a:cs typeface="Segoe UI"/>
                        </a:rPr>
                        <a:t>NoSQL / Document Store</a:t>
                      </a:r>
                    </a:p>
                  </a:txBody>
                  <a:tcPr anchor="ctr">
                    <a:solidFill>
                      <a:srgbClr val="FFFFFF"/>
                    </a:solidFill>
                  </a:tcPr>
                </a:tc>
                <a:extLst>
                  <a:ext uri="{0D108BD9-81ED-4DB2-BD59-A6C34878D82A}">
                    <a16:rowId xmlns:a16="http://schemas.microsoft.com/office/drawing/2014/main" val="3741113055"/>
                  </a:ext>
                </a:extLst>
              </a:tr>
              <a:tr h="330200">
                <a:tc>
                  <a:txBody>
                    <a:bodyPr/>
                    <a:lstStyle/>
                    <a:p>
                      <a:pPr algn="l"/>
                      <a:r>
                        <a:rPr lang="en-IN" sz="900">
                          <a:solidFill>
                            <a:srgbClr val="2D3648"/>
                          </a:solidFill>
                          <a:latin typeface="Segoe UI"/>
                          <a:cs typeface="Segoe UI"/>
                        </a:rPr>
                        <a:t>OpenSearch</a:t>
                      </a:r>
                    </a:p>
                  </a:txBody>
                  <a:tcPr anchor="ctr">
                    <a:solidFill>
                      <a:srgbClr val="EEF2F7"/>
                    </a:solidFill>
                  </a:tcPr>
                </a:tc>
                <a:tc>
                  <a:txBody>
                    <a:bodyPr/>
                    <a:lstStyle/>
                    <a:p>
                      <a:pPr algn="l"/>
                      <a:r>
                        <a:rPr lang="en-IN" sz="900">
                          <a:solidFill>
                            <a:srgbClr val="2D3648"/>
                          </a:solidFill>
                          <a:latin typeface="Segoe UI"/>
                          <a:cs typeface="Segoe UI"/>
                        </a:rPr>
                        <a:t>Elasticsearch</a:t>
                      </a:r>
                    </a:p>
                  </a:txBody>
                  <a:tcPr anchor="ctr">
                    <a:solidFill>
                      <a:srgbClr val="EEF2F7"/>
                    </a:solidFill>
                  </a:tcPr>
                </a:tc>
                <a:tc>
                  <a:txBody>
                    <a:bodyPr/>
                    <a:lstStyle/>
                    <a:p>
                      <a:pPr algn="l"/>
                      <a:r>
                        <a:rPr lang="en-IN" sz="900">
                          <a:solidFill>
                            <a:srgbClr val="2D3648"/>
                          </a:solidFill>
                          <a:latin typeface="Segoe UI"/>
                          <a:cs typeface="Segoe UI"/>
                        </a:rPr>
                        <a:t>Search &amp; Log Analytics</a:t>
                      </a:r>
                    </a:p>
                  </a:txBody>
                  <a:tcPr anchor="ctr">
                    <a:solidFill>
                      <a:srgbClr val="EEF2F7"/>
                    </a:solidFill>
                  </a:tcPr>
                </a:tc>
                <a:extLst>
                  <a:ext uri="{0D108BD9-81ED-4DB2-BD59-A6C34878D82A}">
                    <a16:rowId xmlns:a16="http://schemas.microsoft.com/office/drawing/2014/main" val="3359854585"/>
                  </a:ext>
                </a:extLst>
              </a:tr>
              <a:tr h="330200">
                <a:tc>
                  <a:txBody>
                    <a:bodyPr/>
                    <a:lstStyle/>
                    <a:p>
                      <a:pPr algn="l"/>
                      <a:r>
                        <a:rPr lang="en-IN" sz="900">
                          <a:solidFill>
                            <a:srgbClr val="2D3648"/>
                          </a:solidFill>
                          <a:latin typeface="Segoe UI"/>
                          <a:cs typeface="Segoe UI"/>
                        </a:rPr>
                        <a:t>ElastiCache</a:t>
                      </a:r>
                    </a:p>
                  </a:txBody>
                  <a:tcPr anchor="ctr">
                    <a:solidFill>
                      <a:srgbClr val="FFFFFF"/>
                    </a:solidFill>
                  </a:tcPr>
                </a:tc>
                <a:tc>
                  <a:txBody>
                    <a:bodyPr/>
                    <a:lstStyle/>
                    <a:p>
                      <a:pPr algn="l"/>
                      <a:r>
                        <a:rPr lang="en-IN" sz="900">
                          <a:solidFill>
                            <a:srgbClr val="2D3648"/>
                          </a:solidFill>
                          <a:latin typeface="Segoe UI"/>
                          <a:cs typeface="Segoe UI"/>
                        </a:rPr>
                        <a:t>Valkey / Redis</a:t>
                      </a:r>
                    </a:p>
                  </a:txBody>
                  <a:tcPr anchor="ctr">
                    <a:solidFill>
                      <a:srgbClr val="FFFFFF"/>
                    </a:solidFill>
                  </a:tcPr>
                </a:tc>
                <a:tc>
                  <a:txBody>
                    <a:bodyPr/>
                    <a:lstStyle/>
                    <a:p>
                      <a:pPr algn="l"/>
                      <a:r>
                        <a:rPr lang="en-IN" sz="900">
                          <a:solidFill>
                            <a:srgbClr val="2D3648"/>
                          </a:solidFill>
                          <a:latin typeface="Segoe UI"/>
                          <a:cs typeface="Segoe UI"/>
                        </a:rPr>
                        <a:t>Session Caching</a:t>
                      </a:r>
                    </a:p>
                  </a:txBody>
                  <a:tcPr anchor="ctr">
                    <a:solidFill>
                      <a:srgbClr val="FFFFFF"/>
                    </a:solidFill>
                  </a:tcPr>
                </a:tc>
                <a:extLst>
                  <a:ext uri="{0D108BD9-81ED-4DB2-BD59-A6C34878D82A}">
                    <a16:rowId xmlns:a16="http://schemas.microsoft.com/office/drawing/2014/main" val="617536107"/>
                  </a:ext>
                </a:extLst>
              </a:tr>
              <a:tr h="330200">
                <a:tc>
                  <a:txBody>
                    <a:bodyPr/>
                    <a:lstStyle/>
                    <a:p>
                      <a:pPr algn="l"/>
                      <a:r>
                        <a:rPr lang="en-IN" sz="900">
                          <a:solidFill>
                            <a:srgbClr val="2D3648"/>
                          </a:solidFill>
                          <a:latin typeface="Segoe UI"/>
                          <a:cs typeface="Segoe UI"/>
                        </a:rPr>
                        <a:t>S3</a:t>
                      </a:r>
                    </a:p>
                  </a:txBody>
                  <a:tcPr anchor="ctr">
                    <a:solidFill>
                      <a:srgbClr val="EEF2F7"/>
                    </a:solidFill>
                  </a:tcPr>
                </a:tc>
                <a:tc>
                  <a:txBody>
                    <a:bodyPr/>
                    <a:lstStyle/>
                    <a:p>
                      <a:pPr algn="l"/>
                      <a:r>
                        <a:rPr lang="en-IN" sz="900">
                          <a:solidFill>
                            <a:srgbClr val="2D3648"/>
                          </a:solidFill>
                          <a:latin typeface="Segoe UI"/>
                          <a:cs typeface="Segoe UI"/>
                        </a:rPr>
                        <a:t>MinIO</a:t>
                      </a:r>
                    </a:p>
                  </a:txBody>
                  <a:tcPr anchor="ctr">
                    <a:solidFill>
                      <a:srgbClr val="EEF2F7"/>
                    </a:solidFill>
                  </a:tcPr>
                </a:tc>
                <a:tc>
                  <a:txBody>
                    <a:bodyPr/>
                    <a:lstStyle/>
                    <a:p>
                      <a:pPr algn="l"/>
                      <a:r>
                        <a:rPr lang="en-IN" sz="900">
                          <a:solidFill>
                            <a:srgbClr val="2D3648"/>
                          </a:solidFill>
                          <a:latin typeface="Segoe UI"/>
                          <a:cs typeface="Segoe UI"/>
                        </a:rPr>
                        <a:t>Object / File Storage</a:t>
                      </a:r>
                    </a:p>
                  </a:txBody>
                  <a:tcPr anchor="ctr">
                    <a:solidFill>
                      <a:srgbClr val="EEF2F7"/>
                    </a:solidFill>
                  </a:tcPr>
                </a:tc>
                <a:extLst>
                  <a:ext uri="{0D108BD9-81ED-4DB2-BD59-A6C34878D82A}">
                    <a16:rowId xmlns:a16="http://schemas.microsoft.com/office/drawing/2014/main" val="522467080"/>
                  </a:ext>
                </a:extLst>
              </a:tr>
            </a:tbl>
          </a:graphicData>
        </a:graphic>
      </p:graphicFrame>
    </p:spTree>
    <p:extLst>
      <p:ext uri="{BB962C8B-B14F-4D97-AF65-F5344CB8AC3E}">
        <p14:creationId xmlns:p14="http://schemas.microsoft.com/office/powerpoint/2010/main" val="2129689088"/>
      </p:ext>
    </p:extLst>
  </p:cSld>
  <p:clrMapOvr>
    <a:masterClrMapping/>
  </p:clrMapOvr>
</p:sld>
</file>

<file path=ppt/theme/theme1.xml><?xml version="1.0" encoding="utf-8"?>
<a:theme xmlns:a="http://schemas.openxmlformats.org/drawingml/2006/main" name="Office Theme">
  <a:themeElements>
    <a:clrScheme name="VQMS Clean">
      <a:dk1>
        <a:srgbClr val="1A1A2E"/>
      </a:dk1>
      <a:lt1>
        <a:srgbClr val="FFFFFF"/>
      </a:lt1>
      <a:dk2>
        <a:srgbClr val="333333"/>
      </a:dk2>
      <a:lt2>
        <a:srgbClr val="F5F5F5"/>
      </a:lt2>
      <a:accent1>
        <a:srgbClr val="1565C0"/>
      </a:accent1>
      <a:accent2>
        <a:srgbClr val="1E88E5"/>
      </a:accent2>
      <a:accent3>
        <a:srgbClr val="607D8B"/>
      </a:accent3>
      <a:accent4>
        <a:srgbClr val="00897B"/>
      </a:accent4>
      <a:accent5>
        <a:srgbClr val="F57C00"/>
      </a:accent5>
      <a:accent6>
        <a:srgbClr val="5E35B1"/>
      </a:accent6>
      <a:hlink>
        <a:srgbClr val="467886"/>
      </a:hlink>
      <a:folHlink>
        <a:srgbClr val="96607D"/>
      </a:folHlink>
    </a:clrScheme>
    <a:fontScheme name="VQMS Clean Fonts">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8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02146F5-2FC2-4B0B-BC64-ACA2BC292670}">
  <we:reference id="wa200010001" version="1.0.0.1" store="en-US"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240</TotalTime>
  <Words>1804</Words>
  <Application>Microsoft Office PowerPoint</Application>
  <PresentationFormat>Widescreen</PresentationFormat>
  <Paragraphs>307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Magdum</dc:creator>
  <cp:lastModifiedBy>Rohit Magdum</cp:lastModifiedBy>
  <cp:revision>3</cp:revision>
  <dcterms:created xsi:type="dcterms:W3CDTF">2026-03-19T05:52:05Z</dcterms:created>
  <dcterms:modified xsi:type="dcterms:W3CDTF">2026-03-19T09:52:47Z</dcterms:modified>
</cp:coreProperties>
</file>